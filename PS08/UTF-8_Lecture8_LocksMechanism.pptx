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347" r:id="rId2"/>
    <p:sldId id="374" r:id="rId3"/>
    <p:sldId id="348" r:id="rId4"/>
    <p:sldId id="349" r:id="rId5"/>
    <p:sldId id="378" r:id="rId6"/>
    <p:sldId id="342" r:id="rId7"/>
    <p:sldId id="350" r:id="rId8"/>
    <p:sldId id="351" r:id="rId9"/>
    <p:sldId id="377" r:id="rId10"/>
    <p:sldId id="375" r:id="rId11"/>
    <p:sldId id="352" r:id="rId12"/>
    <p:sldId id="353" r:id="rId13"/>
    <p:sldId id="354" r:id="rId14"/>
    <p:sldId id="355" r:id="rId15"/>
    <p:sldId id="356" r:id="rId16"/>
    <p:sldId id="357" r:id="rId17"/>
    <p:sldId id="358" r:id="rId18"/>
    <p:sldId id="376" r:id="rId19"/>
    <p:sldId id="361" r:id="rId20"/>
    <p:sldId id="363" r:id="rId21"/>
    <p:sldId id="379" r:id="rId22"/>
    <p:sldId id="362" r:id="rId23"/>
    <p:sldId id="364" r:id="rId24"/>
    <p:sldId id="365" r:id="rId25"/>
    <p:sldId id="366" r:id="rId26"/>
    <p:sldId id="367" r:id="rId27"/>
    <p:sldId id="368" r:id="rId28"/>
    <p:sldId id="369" r:id="rId29"/>
    <p:sldId id="370" r:id="rId30"/>
    <p:sldId id="371" r:id="rId31"/>
    <p:sldId id="372" r:id="rId32"/>
    <p:sldId id="373" r:id="rId33"/>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732" autoAdjust="0"/>
  </p:normalViewPr>
  <p:slideViewPr>
    <p:cSldViewPr>
      <p:cViewPr varScale="1">
        <p:scale>
          <a:sx n="105" d="100"/>
          <a:sy n="105" d="100"/>
        </p:scale>
        <p:origin x="178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1440" tIns="45720" rIns="91440" bIns="45720" rtlCol="0"/>
          <a:lstStyle>
            <a:lvl1pPr algn="r">
              <a:defRPr sz="1200"/>
            </a:lvl1pPr>
          </a:lstStyle>
          <a:p>
            <a:fld id="{2F575C6B-A1C3-4F98-9CDE-32B4582DCD63}" type="datetimeFigureOut">
              <a:rPr lang="en-US" smtClean="0"/>
              <a:t>9/29/2026</a:t>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1440" tIns="45720" rIns="91440" bIns="45720" rtlCol="0" anchor="b"/>
          <a:lstStyle>
            <a:lvl1pPr algn="r">
              <a:defRPr sz="1200"/>
            </a:lvl1pPr>
          </a:lstStyle>
          <a:p>
            <a:fld id="{EAABB69E-8F37-4361-B268-F9ED84C63E96}" type="slidenum">
              <a:rPr lang="en-US" smtClean="0"/>
              <a:t>‹#›</a:t>
            </a:fld>
            <a:endParaRPr lang="en-US"/>
          </a:p>
        </p:txBody>
      </p:sp>
    </p:spTree>
    <p:extLst>
      <p:ext uri="{BB962C8B-B14F-4D97-AF65-F5344CB8AC3E}">
        <p14:creationId xmlns:p14="http://schemas.microsoft.com/office/powerpoint/2010/main" val="3376056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850443" y="0"/>
            <a:ext cx="2945659" cy="496411"/>
          </a:xfrm>
          <a:prstGeom prst="rect">
            <a:avLst/>
          </a:prstGeom>
        </p:spPr>
        <p:txBody>
          <a:bodyPr vert="horz" lIns="93177" tIns="46589" rIns="93177" bIns="46589" rtlCol="0"/>
          <a:lstStyle>
            <a:lvl1pPr algn="r">
              <a:defRPr sz="1200"/>
            </a:lvl1pPr>
          </a:lstStyle>
          <a:p>
            <a:fld id="{7159AF08-D6C9-4E4F-8E5C-DA4E0D71493A}" type="datetimeFigureOut">
              <a:rPr lang="en-US" smtClean="0"/>
              <a:t>9/29/2026</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6411"/>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3177" tIns="46589" rIns="93177" bIns="46589" rtlCol="0" anchor="b"/>
          <a:lstStyle>
            <a:lvl1pPr algn="r">
              <a:defRPr sz="1200"/>
            </a:lvl1pPr>
          </a:lstStyle>
          <a:p>
            <a:fld id="{62703604-0DF6-4A6C-9B4E-FF09C636FA62}" type="slidenum">
              <a:rPr lang="en-US" smtClean="0"/>
              <a:t>‹#›</a:t>
            </a:fld>
            <a:endParaRPr lang="en-US"/>
          </a:p>
        </p:txBody>
      </p:sp>
    </p:spTree>
    <p:extLst>
      <p:ext uri="{BB962C8B-B14F-4D97-AF65-F5344CB8AC3E}">
        <p14:creationId xmlns:p14="http://schemas.microsoft.com/office/powerpoint/2010/main" val="3343226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Locks  provide some minimal amount of control over scheduling to programmers.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In general, we view threads as entities created by the programmer but scheduled by the OS, in any fashion that the OS chooses. Locks yield some of that control back to the programmer; by putting a lock around a section of code, the programmer can guarantee that no more than a single thread can ever be active within that code. Thus locks help transform the chaos that is traditional OS scheduling into a more controlled activity. </a:t>
            </a:r>
            <a:endParaRPr lang="th-TH" dirty="0"/>
          </a:p>
        </p:txBody>
      </p:sp>
      <p:sp>
        <p:nvSpPr>
          <p:cNvPr id="4" name="Slide Number Placeholder 3"/>
          <p:cNvSpPr>
            <a:spLocks noGrp="1"/>
          </p:cNvSpPr>
          <p:nvPr>
            <p:ph type="sldNum" sz="quarter" idx="10"/>
          </p:nvPr>
        </p:nvSpPr>
        <p:spPr/>
        <p:txBody>
          <a:bodyPr/>
          <a:lstStyle/>
          <a:p>
            <a:fld id="{8F241E7C-383C-48C1-8D88-D78E0DF4D8B8}" type="slidenum">
              <a:rPr lang="en-US" smtClean="0"/>
              <a:pPr/>
              <a:t>2</a:t>
            </a:fld>
            <a:endParaRPr lang="en-US"/>
          </a:p>
        </p:txBody>
      </p:sp>
    </p:spTree>
    <p:extLst>
      <p:ext uri="{BB962C8B-B14F-4D97-AF65-F5344CB8AC3E}">
        <p14:creationId xmlns:p14="http://schemas.microsoft.com/office/powerpoint/2010/main" val="1473575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A greedy program could call lock() at the beginning of its execution and thus monopolize the processor – worse, an errant or malicious program could call lock() and go into an endless loop</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In this latter case, the OS will never regain control of the system, and the only way to address the problem is to restart the system</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If multiple threads are running on different CPUs, and each try to enter the same critical section, it does not matter whether interrupts are disabled – threads will be able to run on other processors, and thus could enter the critical section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solution is sometimes used within the OS kernel itself to guarantee atomicity when accessing its own data structures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44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4400" dirty="0"/>
              <a:t>It is inefficient when compared to normal instruction execution as code that </a:t>
            </a:r>
            <a:r>
              <a:rPr lang="en-US" sz="4400" dirty="0">
                <a:solidFill>
                  <a:schemeClr val="accent1"/>
                </a:solidFill>
              </a:rPr>
              <a:t>masks/unmasks interrupts </a:t>
            </a:r>
            <a:r>
              <a:rPr lang="en-US" sz="4400" dirty="0"/>
              <a:t>is generally slower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4400" dirty="0"/>
          </a:p>
        </p:txBody>
      </p:sp>
      <p:sp>
        <p:nvSpPr>
          <p:cNvPr id="4" name="Slide Number Placeholder 3"/>
          <p:cNvSpPr>
            <a:spLocks noGrp="1"/>
          </p:cNvSpPr>
          <p:nvPr>
            <p:ph type="sldNum" sz="quarter" idx="10"/>
          </p:nvPr>
        </p:nvSpPr>
        <p:spPr/>
        <p:txBody>
          <a:bodyPr/>
          <a:lstStyle/>
          <a:p>
            <a:fld id="{8F241E7C-383C-48C1-8D88-D78E0DF4D8B8}" type="slidenum">
              <a:rPr lang="en-US" smtClean="0"/>
              <a:pPr/>
              <a:t>7</a:t>
            </a:fld>
            <a:endParaRPr lang="en-US"/>
          </a:p>
        </p:txBody>
      </p:sp>
    </p:spTree>
    <p:extLst>
      <p:ext uri="{BB962C8B-B14F-4D97-AF65-F5344CB8AC3E}">
        <p14:creationId xmlns:p14="http://schemas.microsoft.com/office/powerpoint/2010/main" val="720200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Use a simple flag to indicate whether a thread holds the lock</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A thread that wants to enter its critical section will call lock(), which </a:t>
            </a:r>
            <a:r>
              <a:rPr lang="en-US" sz="1200" b="1" i="0" u="none" strike="noStrike" kern="1200" baseline="0" dirty="0">
                <a:solidFill>
                  <a:schemeClr val="tx1"/>
                </a:solidFill>
                <a:latin typeface="+mn-lt"/>
                <a:ea typeface="+mn-ea"/>
                <a:cs typeface="+mn-cs"/>
              </a:rPr>
              <a:t>tests </a:t>
            </a:r>
            <a:r>
              <a:rPr lang="en-US" sz="1200" b="0" i="0" u="none" strike="noStrike" kern="1200" baseline="0" dirty="0">
                <a:solidFill>
                  <a:schemeClr val="tx1"/>
                </a:solidFill>
                <a:latin typeface="+mn-lt"/>
                <a:ea typeface="+mn-ea"/>
                <a:cs typeface="+mn-cs"/>
              </a:rPr>
              <a:t>whether the flag is equal to 1</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If the flag is 0, it </a:t>
            </a:r>
            <a:r>
              <a:rPr lang="en-US" sz="1200" b="1" i="0" u="none" strike="noStrike" kern="1200" baseline="0" dirty="0">
                <a:solidFill>
                  <a:schemeClr val="tx1"/>
                </a:solidFill>
                <a:latin typeface="+mn-lt"/>
                <a:ea typeface="+mn-ea"/>
                <a:cs typeface="+mn-cs"/>
              </a:rPr>
              <a:t>sets </a:t>
            </a:r>
            <a:r>
              <a:rPr lang="en-US" sz="1200" b="0" i="0" u="none" strike="noStrike" kern="1200" baseline="0" dirty="0">
                <a:solidFill>
                  <a:schemeClr val="tx1"/>
                </a:solidFill>
                <a:latin typeface="+mn-lt"/>
                <a:ea typeface="+mn-ea"/>
                <a:cs typeface="+mn-cs"/>
              </a:rPr>
              <a:t>the flag to 1 to indicate that the thread now </a:t>
            </a:r>
            <a:r>
              <a:rPr lang="en-US" sz="1200" b="1" i="0" u="none" strike="noStrike" kern="1200" baseline="0" dirty="0">
                <a:solidFill>
                  <a:schemeClr val="tx1"/>
                </a:solidFill>
                <a:latin typeface="+mn-lt"/>
                <a:ea typeface="+mn-ea"/>
                <a:cs typeface="+mn-cs"/>
              </a:rPr>
              <a:t>holds </a:t>
            </a:r>
            <a:r>
              <a:rPr lang="en-US" sz="1200" b="0" i="0" u="none" strike="noStrike" kern="1200" baseline="0" dirty="0">
                <a:solidFill>
                  <a:schemeClr val="tx1"/>
                </a:solidFill>
                <a:latin typeface="+mn-lt"/>
                <a:ea typeface="+mn-ea"/>
                <a:cs typeface="+mn-cs"/>
              </a:rPr>
              <a:t>the lock</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On leaving the critical section, the thread calls unlock() and clears the flag, indicating that the lock is no longer held</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If another thread happens to call lock() while that first thread is in the critical section, it will simply </a:t>
            </a:r>
            <a:r>
              <a:rPr lang="en-US" sz="1200" b="1" i="0" u="none" strike="noStrike" kern="1200" baseline="0" dirty="0">
                <a:solidFill>
                  <a:schemeClr val="tx1"/>
                </a:solidFill>
                <a:latin typeface="+mn-lt"/>
                <a:ea typeface="+mn-ea"/>
                <a:cs typeface="+mn-cs"/>
              </a:rPr>
              <a:t>spin-wait </a:t>
            </a:r>
            <a:r>
              <a:rPr lang="en-US" sz="1200" b="0" i="0" u="none" strike="noStrike" kern="1200" baseline="0" dirty="0">
                <a:solidFill>
                  <a:schemeClr val="tx1"/>
                </a:solidFill>
                <a:latin typeface="+mn-lt"/>
                <a:ea typeface="+mn-ea"/>
                <a:cs typeface="+mn-cs"/>
              </a:rPr>
              <a:t>in the while loop for that thread to call unlock() and clear the flag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Once that first thread does so, the waiting thread will fall out of the while loop, set the flag to 1 for itself, and proceed into the critical section</a:t>
            </a:r>
          </a:p>
          <a:p>
            <a:pPr marL="171450" indent="-171450">
              <a:buFont typeface="Arial" panose="020B0604020202020204" pitchFamily="34" charset="0"/>
              <a:buChar char="•"/>
            </a:pPr>
            <a:endParaRPr lang="en-US" sz="1200" b="0" i="0" u="none" strike="noStrike" kern="1200" baseline="0" dirty="0">
              <a:solidFill>
                <a:schemeClr val="tx1"/>
              </a:solidFill>
              <a:latin typeface="+mn-lt"/>
              <a:ea typeface="+mn-ea"/>
              <a:cs typeface="+mn-cs"/>
            </a:endParaRPr>
          </a:p>
          <a:p>
            <a:pPr marL="171450" indent="-171450">
              <a:buFont typeface="Arial" panose="020B0604020202020204" pitchFamily="34" charset="0"/>
              <a:buChar char="•"/>
            </a:pPr>
            <a:endParaRPr lang="th-TH" dirty="0"/>
          </a:p>
        </p:txBody>
      </p:sp>
      <p:sp>
        <p:nvSpPr>
          <p:cNvPr id="4" name="Slide Number Placeholder 3"/>
          <p:cNvSpPr>
            <a:spLocks noGrp="1"/>
          </p:cNvSpPr>
          <p:nvPr>
            <p:ph type="sldNum" sz="quarter" idx="10"/>
          </p:nvPr>
        </p:nvSpPr>
        <p:spPr/>
        <p:txBody>
          <a:bodyPr/>
          <a:lstStyle/>
          <a:p>
            <a:fld id="{8F241E7C-383C-48C1-8D88-D78E0DF4D8B8}" type="slidenum">
              <a:rPr lang="en-US" smtClean="0"/>
              <a:pPr/>
              <a:t>8</a:t>
            </a:fld>
            <a:endParaRPr lang="en-US"/>
          </a:p>
        </p:txBody>
      </p:sp>
    </p:spTree>
    <p:extLst>
      <p:ext uri="{BB962C8B-B14F-4D97-AF65-F5344CB8AC3E}">
        <p14:creationId xmlns:p14="http://schemas.microsoft.com/office/powerpoint/2010/main" val="3816670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F241E7C-383C-48C1-8D88-D78E0DF4D8B8}" type="slidenum">
              <a:rPr lang="en-US" smtClean="0"/>
              <a:pPr/>
              <a:t>11</a:t>
            </a:fld>
            <a:endParaRPr lang="en-US"/>
          </a:p>
        </p:txBody>
      </p:sp>
    </p:spTree>
    <p:extLst>
      <p:ext uri="{BB962C8B-B14F-4D97-AF65-F5344CB8AC3E}">
        <p14:creationId xmlns:p14="http://schemas.microsoft.com/office/powerpoint/2010/main" val="2283136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reason it is called “Test and Set” is that it enables you to “test” the old value (which is what is returned) while simultaneously “setting” the memory location to a new value</a:t>
            </a:r>
            <a:endParaRPr lang="th-TH" dirty="0"/>
          </a:p>
        </p:txBody>
      </p:sp>
      <p:sp>
        <p:nvSpPr>
          <p:cNvPr id="4" name="Slide Number Placeholder 3"/>
          <p:cNvSpPr>
            <a:spLocks noGrp="1"/>
          </p:cNvSpPr>
          <p:nvPr>
            <p:ph type="sldNum" sz="quarter" idx="10"/>
          </p:nvPr>
        </p:nvSpPr>
        <p:spPr/>
        <p:txBody>
          <a:bodyPr/>
          <a:lstStyle/>
          <a:p>
            <a:fld id="{8F241E7C-383C-48C1-8D88-D78E0DF4D8B8}" type="slidenum">
              <a:rPr lang="en-US" smtClean="0"/>
              <a:pPr/>
              <a:t>13</a:t>
            </a:fld>
            <a:endParaRPr lang="en-US"/>
          </a:p>
        </p:txBody>
      </p:sp>
    </p:spTree>
    <p:extLst>
      <p:ext uri="{BB962C8B-B14F-4D97-AF65-F5344CB8AC3E}">
        <p14:creationId xmlns:p14="http://schemas.microsoft.com/office/powerpoint/2010/main" val="4053300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As long as the lock is held by another thread, </a:t>
            </a:r>
            <a:r>
              <a:rPr lang="en-US" sz="1200" b="0" i="0" u="none" strike="noStrike" kern="1200" baseline="0" dirty="0" err="1">
                <a:solidFill>
                  <a:schemeClr val="tx1"/>
                </a:solidFill>
                <a:latin typeface="+mn-lt"/>
                <a:ea typeface="+mn-ea"/>
                <a:cs typeface="+mn-cs"/>
              </a:rPr>
              <a:t>TestAndSet</a:t>
            </a:r>
            <a:r>
              <a:rPr lang="en-US" sz="1200" b="0" i="0" u="none" strike="noStrike" kern="1200" baseline="0" dirty="0">
                <a:solidFill>
                  <a:schemeClr val="tx1"/>
                </a:solidFill>
                <a:latin typeface="+mn-lt"/>
                <a:ea typeface="+mn-ea"/>
                <a:cs typeface="+mn-cs"/>
              </a:rPr>
              <a:t>() will repeatedly return 1, and thus this thread will spin and spin until the lock is finally released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When the flag is finally set to 0 by some other thread, this thread will call </a:t>
            </a:r>
            <a:r>
              <a:rPr lang="en-US" sz="1200" b="0" i="0" u="none" strike="noStrike" kern="1200" baseline="0" dirty="0" err="1">
                <a:solidFill>
                  <a:schemeClr val="tx1"/>
                </a:solidFill>
                <a:latin typeface="+mn-lt"/>
                <a:ea typeface="+mn-ea"/>
                <a:cs typeface="+mn-cs"/>
              </a:rPr>
              <a:t>TestAndSet</a:t>
            </a:r>
            <a:r>
              <a:rPr lang="en-US" sz="1200" b="0" i="0" u="none" strike="noStrike" kern="1200" baseline="0" dirty="0">
                <a:solidFill>
                  <a:schemeClr val="tx1"/>
                </a:solidFill>
                <a:latin typeface="+mn-lt"/>
                <a:ea typeface="+mn-ea"/>
                <a:cs typeface="+mn-cs"/>
              </a:rPr>
              <a:t>() again, which will now return 0 while atomically setting the value to 1 and thus acquire the lock and enter the critical section</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By making both the </a:t>
            </a:r>
            <a:r>
              <a:rPr lang="en-US" sz="1200" b="1" i="0" u="none" strike="noStrike" kern="1200" baseline="0" dirty="0">
                <a:solidFill>
                  <a:schemeClr val="tx1"/>
                </a:solidFill>
                <a:latin typeface="+mn-lt"/>
                <a:ea typeface="+mn-ea"/>
                <a:cs typeface="+mn-cs"/>
              </a:rPr>
              <a:t>test </a:t>
            </a:r>
            <a:r>
              <a:rPr lang="en-US" sz="1200" b="0" i="0" u="none" strike="noStrike" kern="1200" baseline="0" dirty="0">
                <a:solidFill>
                  <a:schemeClr val="tx1"/>
                </a:solidFill>
                <a:latin typeface="+mn-lt"/>
                <a:ea typeface="+mn-ea"/>
                <a:cs typeface="+mn-cs"/>
              </a:rPr>
              <a:t>(of the old value of the lock) and </a:t>
            </a:r>
            <a:r>
              <a:rPr lang="en-US" sz="1200" b="1" i="0" u="none" strike="noStrike" kern="1200" baseline="0" dirty="0">
                <a:solidFill>
                  <a:schemeClr val="tx1"/>
                </a:solidFill>
                <a:latin typeface="+mn-lt"/>
                <a:ea typeface="+mn-ea"/>
                <a:cs typeface="+mn-cs"/>
              </a:rPr>
              <a:t>set </a:t>
            </a:r>
            <a:r>
              <a:rPr lang="en-US" sz="1200" b="0" i="0" u="none" strike="noStrike" kern="1200" baseline="0" dirty="0">
                <a:solidFill>
                  <a:schemeClr val="tx1"/>
                </a:solidFill>
                <a:latin typeface="+mn-lt"/>
                <a:ea typeface="+mn-ea"/>
                <a:cs typeface="+mn-cs"/>
              </a:rPr>
              <a:t>(of the new value) a single atomic operation, we can ensure that only one thread acquires the lock</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Thus we can build a successful mutual exclusion primitive!</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may also now understand why this type of lock is usually referred to as a </a:t>
            </a:r>
            <a:r>
              <a:rPr lang="en-US" sz="1200" b="1" i="0" u="none" strike="noStrike" kern="1200" baseline="0" dirty="0">
                <a:solidFill>
                  <a:schemeClr val="tx1"/>
                </a:solidFill>
                <a:latin typeface="+mn-lt"/>
                <a:ea typeface="+mn-ea"/>
                <a:cs typeface="+mn-cs"/>
              </a:rPr>
              <a:t>spin lock</a:t>
            </a:r>
            <a:endParaRPr lang="en-US" sz="1200" b="0" i="0" u="none" strike="noStrike" kern="1200" baseline="0" dirty="0">
              <a:solidFill>
                <a:schemeClr val="tx1"/>
              </a:solidFill>
              <a:latin typeface="+mn-lt"/>
              <a:ea typeface="+mn-ea"/>
              <a:cs typeface="+mn-cs"/>
            </a:endParaRP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It is the simplest type of lock to build, and simply spins, using CPU cycles, until the lock becomes available</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To work correctly on a single processor, it requires a </a:t>
            </a:r>
            <a:r>
              <a:rPr lang="en-US" sz="1200" b="1" i="0" u="none" strike="noStrike" kern="1200" baseline="0" dirty="0">
                <a:solidFill>
                  <a:schemeClr val="tx1"/>
                </a:solidFill>
                <a:latin typeface="+mn-lt"/>
                <a:ea typeface="+mn-ea"/>
                <a:cs typeface="+mn-cs"/>
              </a:rPr>
              <a:t>preemptive scheduler </a:t>
            </a:r>
            <a:r>
              <a:rPr lang="en-US" sz="1200" b="0" i="0" u="none" strike="noStrike" kern="1200" baseline="0" dirty="0">
                <a:solidFill>
                  <a:schemeClr val="tx1"/>
                </a:solidFill>
                <a:latin typeface="+mn-lt"/>
                <a:ea typeface="+mn-ea"/>
                <a:cs typeface="+mn-cs"/>
              </a:rPr>
              <a:t>(i.e. one that will interrupt a thread via a timer, in order to run a different thread, from time to time)</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Without preemption, spin locks don’t make much sense on a single CPU, as a thread spinning on a CPU will never relinquish it</a:t>
            </a:r>
            <a:endParaRPr lang="th-TH" dirty="0"/>
          </a:p>
        </p:txBody>
      </p:sp>
      <p:sp>
        <p:nvSpPr>
          <p:cNvPr id="4" name="Slide Number Placeholder 3"/>
          <p:cNvSpPr>
            <a:spLocks noGrp="1"/>
          </p:cNvSpPr>
          <p:nvPr>
            <p:ph type="sldNum" sz="quarter" idx="10"/>
          </p:nvPr>
        </p:nvSpPr>
        <p:spPr/>
        <p:txBody>
          <a:bodyPr/>
          <a:lstStyle/>
          <a:p>
            <a:fld id="{8F241E7C-383C-48C1-8D88-D78E0DF4D8B8}" type="slidenum">
              <a:rPr lang="en-US" smtClean="0"/>
              <a:pPr/>
              <a:t>14</a:t>
            </a:fld>
            <a:endParaRPr lang="en-US"/>
          </a:p>
        </p:txBody>
      </p:sp>
    </p:spTree>
    <p:extLst>
      <p:ext uri="{BB962C8B-B14F-4D97-AF65-F5344CB8AC3E}">
        <p14:creationId xmlns:p14="http://schemas.microsoft.com/office/powerpoint/2010/main" val="205130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i="0" u="none" strike="noStrike" kern="1200" baseline="0" dirty="0">
                <a:solidFill>
                  <a:schemeClr val="tx1"/>
                </a:solidFill>
                <a:latin typeface="+mn-lt"/>
                <a:ea typeface="+mn-ea"/>
                <a:cs typeface="+mn-cs"/>
              </a:rPr>
              <a:t>You may also now understand why this type of lock is usually referred to as a </a:t>
            </a:r>
            <a:r>
              <a:rPr lang="en-US" sz="1200" b="1" i="0" u="none" strike="noStrike" kern="1200" baseline="0" dirty="0">
                <a:solidFill>
                  <a:schemeClr val="tx1"/>
                </a:solidFill>
                <a:latin typeface="+mn-lt"/>
                <a:ea typeface="+mn-ea"/>
                <a:cs typeface="+mn-cs"/>
              </a:rPr>
              <a:t>spin lock</a:t>
            </a:r>
            <a:r>
              <a:rPr lang="en-US" sz="1200" b="0" i="0" u="none" strike="noStrike" kern="1200" baseline="0" dirty="0">
                <a:solidFill>
                  <a:schemeClr val="tx1"/>
                </a:solidFill>
                <a:latin typeface="+mn-lt"/>
                <a:ea typeface="+mn-ea"/>
                <a:cs typeface="+mn-cs"/>
              </a:rPr>
              <a:t>. It is the simplest type of lock to build, and simply spins, using CPU cycles, until the lock becomes available. To work correctly on a single processor, it requires a </a:t>
            </a:r>
            <a:r>
              <a:rPr lang="en-US" sz="1200" b="1" i="0" u="none" strike="noStrike" kern="1200" baseline="0" dirty="0">
                <a:solidFill>
                  <a:schemeClr val="tx1"/>
                </a:solidFill>
                <a:latin typeface="+mn-lt"/>
                <a:ea typeface="+mn-ea"/>
                <a:cs typeface="+mn-cs"/>
              </a:rPr>
              <a:t>preemptive scheduler </a:t>
            </a:r>
            <a:r>
              <a:rPr lang="en-US" sz="1200" b="0" i="0" u="none" strike="noStrike" kern="1200" baseline="0" dirty="0">
                <a:solidFill>
                  <a:schemeClr val="tx1"/>
                </a:solidFill>
                <a:latin typeface="+mn-lt"/>
                <a:ea typeface="+mn-ea"/>
                <a:cs typeface="+mn-cs"/>
              </a:rPr>
              <a:t>(i.e., one that will interrupt a thread via a timer, in order to run a different thread, from time to time). Without preemption, spin locks don’t make sense on a single CPU, as a thread spinning on a CPU will never relinquish it.</a:t>
            </a:r>
            <a:endParaRPr lang="th-TH" dirty="0"/>
          </a:p>
          <a:p>
            <a:pPr marL="171450" indent="-171450">
              <a:buFont typeface="Arial" pitchFamily="34" charset="0"/>
              <a:buChar char="•"/>
            </a:pPr>
            <a:endParaRPr lang="en-US" sz="1200" kern="1200" baseline="0" dirty="0">
              <a:solidFill>
                <a:schemeClr val="tx1"/>
              </a:solidFill>
              <a:latin typeface="+mn-lt"/>
              <a:ea typeface="+mn-ea"/>
              <a:cs typeface="+mn-cs"/>
            </a:endParaRPr>
          </a:p>
          <a:p>
            <a:pPr marL="171450" indent="-171450">
              <a:buFont typeface="Arial" pitchFamily="34" charset="0"/>
              <a:buChar char="•"/>
            </a:pPr>
            <a:endParaRPr lang="en-US" sz="1200" kern="1200" baseline="0" dirty="0">
              <a:solidFill>
                <a:schemeClr val="tx1"/>
              </a:solidFill>
              <a:latin typeface="+mn-lt"/>
              <a:ea typeface="+mn-ea"/>
              <a:cs typeface="+mn-cs"/>
            </a:endParaRPr>
          </a:p>
          <a:p>
            <a:pPr marL="171450" indent="-171450">
              <a:buFont typeface="Arial" pitchFamily="34" charset="0"/>
              <a:buChar char="•"/>
            </a:pPr>
            <a:r>
              <a:rPr lang="en-US" sz="1200" kern="1200" baseline="0" dirty="0">
                <a:solidFill>
                  <a:schemeClr val="tx1"/>
                </a:solidFill>
                <a:latin typeface="+mn-lt"/>
                <a:ea typeface="+mn-ea"/>
                <a:cs typeface="+mn-cs"/>
              </a:rPr>
              <a:t>Single CPU – imagine the case where the thread holding the lock is pre-empted within a critical section</a:t>
            </a:r>
          </a:p>
          <a:p>
            <a:pPr marL="171450" indent="-171450">
              <a:buFont typeface="Arial" pitchFamily="34" charset="0"/>
              <a:buChar char="•"/>
            </a:pPr>
            <a:r>
              <a:rPr lang="en-US" sz="1200" kern="1200" baseline="0" dirty="0">
                <a:solidFill>
                  <a:schemeClr val="tx1"/>
                </a:solidFill>
                <a:latin typeface="+mn-lt"/>
                <a:ea typeface="+mn-ea"/>
                <a:cs typeface="+mn-cs"/>
              </a:rPr>
              <a:t>The scheduler might then run every other thread (imagine there are N−1 others), each of which tries to acquire the lock</a:t>
            </a:r>
          </a:p>
          <a:p>
            <a:pPr marL="171450" indent="-171450">
              <a:buFont typeface="Arial" pitchFamily="34" charset="0"/>
              <a:buChar char="•"/>
            </a:pPr>
            <a:r>
              <a:rPr lang="en-US" sz="1200" kern="1200" baseline="0" dirty="0">
                <a:solidFill>
                  <a:schemeClr val="tx1"/>
                </a:solidFill>
                <a:latin typeface="+mn-lt"/>
                <a:ea typeface="+mn-ea"/>
                <a:cs typeface="+mn-cs"/>
              </a:rPr>
              <a:t>In this case, each of those threads will spin for the duration of a time-slice before giving up the CPU, which is quite a waste of CPU cycles</a:t>
            </a:r>
          </a:p>
          <a:p>
            <a:pPr marL="171450" indent="-171450">
              <a:buFont typeface="Arial" pitchFamily="34" charset="0"/>
              <a:buChar char="•"/>
            </a:pPr>
            <a:endParaRPr lang="en-US" sz="1200" kern="1200" baseline="0" dirty="0">
              <a:solidFill>
                <a:schemeClr val="tx1"/>
              </a:solidFill>
              <a:latin typeface="+mn-lt"/>
              <a:ea typeface="+mn-ea"/>
              <a:cs typeface="+mn-cs"/>
            </a:endParaRPr>
          </a:p>
          <a:p>
            <a:pPr marL="171450" indent="-171450">
              <a:buFont typeface="Arial" pitchFamily="34" charset="0"/>
              <a:buChar char="•"/>
            </a:pPr>
            <a:endParaRPr lang="en-US" sz="1200" kern="1200" baseline="0" dirty="0">
              <a:solidFill>
                <a:schemeClr val="tx1"/>
              </a:solidFill>
              <a:latin typeface="+mn-lt"/>
              <a:ea typeface="+mn-ea"/>
              <a:cs typeface="+mn-cs"/>
            </a:endParaRPr>
          </a:p>
          <a:p>
            <a:pPr marL="171450" indent="-171450">
              <a:buFont typeface="Arial" pitchFamily="34" charset="0"/>
              <a:buChar char="•"/>
            </a:pPr>
            <a:r>
              <a:rPr lang="en-US" sz="1200" kern="1200" baseline="0" dirty="0">
                <a:solidFill>
                  <a:schemeClr val="tx1"/>
                </a:solidFill>
                <a:latin typeface="+mn-lt"/>
                <a:ea typeface="+mn-ea"/>
                <a:cs typeface="+mn-cs"/>
              </a:rPr>
              <a:t>Multiple CPU – imagine Thread A on processor 1 and Thread B on processor 2, both contending for a lock</a:t>
            </a:r>
          </a:p>
          <a:p>
            <a:pPr marL="171450" indent="-171450">
              <a:buFont typeface="Arial" pitchFamily="34" charset="0"/>
              <a:buChar char="•"/>
            </a:pPr>
            <a:r>
              <a:rPr lang="en-US" sz="1200" kern="1200" baseline="0" dirty="0">
                <a:solidFill>
                  <a:schemeClr val="tx1"/>
                </a:solidFill>
                <a:latin typeface="+mn-lt"/>
                <a:ea typeface="+mn-ea"/>
                <a:cs typeface="+mn-cs"/>
              </a:rPr>
              <a:t>If Thread A (processor 1) gets the lock, and then Thread B tries to, B will spin (on processor 2) </a:t>
            </a:r>
          </a:p>
          <a:p>
            <a:pPr marL="171450" indent="-171450">
              <a:buFont typeface="Arial" pitchFamily="34" charset="0"/>
              <a:buChar char="•"/>
            </a:pPr>
            <a:r>
              <a:rPr lang="en-US" sz="1200" kern="1200" baseline="0" dirty="0">
                <a:solidFill>
                  <a:schemeClr val="tx1"/>
                </a:solidFill>
                <a:latin typeface="+mn-lt"/>
                <a:ea typeface="+mn-ea"/>
                <a:cs typeface="+mn-cs"/>
              </a:rPr>
              <a:t>However, presumably the critical section is short, and thus soon the lock becomes available, and is acquired by Thread B</a:t>
            </a:r>
          </a:p>
          <a:p>
            <a:pPr marL="171450" indent="-171450">
              <a:buFont typeface="Arial" pitchFamily="34" charset="0"/>
              <a:buChar char="•"/>
            </a:pPr>
            <a:r>
              <a:rPr lang="en-US" sz="1200" kern="1200" baseline="0" dirty="0">
                <a:solidFill>
                  <a:schemeClr val="tx1"/>
                </a:solidFill>
                <a:latin typeface="+mn-lt"/>
                <a:ea typeface="+mn-ea"/>
                <a:cs typeface="+mn-cs"/>
              </a:rPr>
              <a:t>Spinning to wait for a lock held on another processor doesn’t waste many cycles in this case, and thus can be quite effective</a:t>
            </a:r>
            <a:endParaRPr lang="th-TH" dirty="0"/>
          </a:p>
        </p:txBody>
      </p:sp>
      <p:sp>
        <p:nvSpPr>
          <p:cNvPr id="4" name="Slide Number Placeholder 3"/>
          <p:cNvSpPr>
            <a:spLocks noGrp="1"/>
          </p:cNvSpPr>
          <p:nvPr>
            <p:ph type="sldNum" sz="quarter" idx="10"/>
          </p:nvPr>
        </p:nvSpPr>
        <p:spPr/>
        <p:txBody>
          <a:bodyPr/>
          <a:lstStyle/>
          <a:p>
            <a:fld id="{8F241E7C-383C-48C1-8D88-D78E0DF4D8B8}" type="slidenum">
              <a:rPr lang="en-US" smtClean="0"/>
              <a:pPr/>
              <a:t>15</a:t>
            </a:fld>
            <a:endParaRPr lang="en-US"/>
          </a:p>
        </p:txBody>
      </p:sp>
    </p:spTree>
    <p:extLst>
      <p:ext uri="{BB962C8B-B14F-4D97-AF65-F5344CB8AC3E}">
        <p14:creationId xmlns:p14="http://schemas.microsoft.com/office/powerpoint/2010/main" val="383930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indent="-171450">
              <a:buFont typeface="Arial" pitchFamily="34" charset="0"/>
              <a:buChar char="•"/>
            </a:pPr>
            <a:r>
              <a:rPr lang="en-US" sz="1200" kern="1200" baseline="0" dirty="0">
                <a:solidFill>
                  <a:schemeClr val="tx1"/>
                </a:solidFill>
                <a:latin typeface="+mn-lt"/>
                <a:ea typeface="+mn-ea"/>
                <a:cs typeface="+mn-cs"/>
              </a:rPr>
              <a:t>This code works similarly to Test-and-Set – it simply checks if the flag is 0 and if so, atomically swaps in a 1 thus acquiring the lock</a:t>
            </a:r>
          </a:p>
          <a:p>
            <a:pPr marL="171450" indent="-171450">
              <a:buFont typeface="Arial" pitchFamily="34" charset="0"/>
              <a:buChar char="•"/>
            </a:pPr>
            <a:endParaRPr lang="en-US" sz="1200" kern="1200" baseline="0" dirty="0">
              <a:solidFill>
                <a:schemeClr val="tx1"/>
              </a:solidFill>
              <a:latin typeface="+mn-lt"/>
              <a:ea typeface="+mn-ea"/>
              <a:cs typeface="+mn-cs"/>
            </a:endParaRPr>
          </a:p>
          <a:p>
            <a:pPr marL="171450" indent="-171450">
              <a:buFont typeface="Arial" pitchFamily="34" charset="0"/>
              <a:buChar char="•"/>
            </a:pPr>
            <a:r>
              <a:rPr lang="en-US" sz="1200" kern="1200" baseline="0" dirty="0">
                <a:solidFill>
                  <a:schemeClr val="tx1"/>
                </a:solidFill>
                <a:latin typeface="+mn-lt"/>
                <a:ea typeface="+mn-ea"/>
                <a:cs typeface="+mn-cs"/>
              </a:rPr>
              <a:t>Threads that try to acquire the lock while it is held will continue spinning until the lock is finally released</a:t>
            </a:r>
          </a:p>
          <a:p>
            <a:pPr marL="171450" indent="-171450">
              <a:buFont typeface="Arial" pitchFamily="34" charset="0"/>
              <a:buChar char="•"/>
            </a:pPr>
            <a:endParaRPr lang="en-US" sz="1200" kern="1200" baseline="0" dirty="0">
              <a:solidFill>
                <a:schemeClr val="tx1"/>
              </a:solidFill>
              <a:latin typeface="+mn-lt"/>
              <a:ea typeface="+mn-ea"/>
              <a:cs typeface="+mn-cs"/>
            </a:endParaRPr>
          </a:p>
          <a:p>
            <a:pPr marL="171450" indent="-171450">
              <a:buFont typeface="Arial" pitchFamily="34" charset="0"/>
              <a:buChar char="•"/>
            </a:pPr>
            <a:r>
              <a:rPr lang="en-US" dirty="0"/>
              <a:t>Compare-and-swap is a more powerful instruction than Test-and-Set</a:t>
            </a:r>
          </a:p>
          <a:p>
            <a:pPr marL="171450" indent="-171450">
              <a:buFont typeface="Arial" pitchFamily="34" charset="0"/>
              <a:buChar char="•"/>
            </a:pPr>
            <a:r>
              <a:rPr lang="en-US" dirty="0"/>
              <a:t>Test-and-Set will return the old value and set the new value</a:t>
            </a:r>
            <a:r>
              <a:rPr lang="en-US" baseline="0" dirty="0"/>
              <a:t> always</a:t>
            </a:r>
          </a:p>
          <a:p>
            <a:pPr marL="171450" indent="-171450">
              <a:buFont typeface="Arial" pitchFamily="34" charset="0"/>
              <a:buChar char="•"/>
            </a:pPr>
            <a:r>
              <a:rPr lang="en-US" baseline="0" dirty="0"/>
              <a:t>Compare-and-Swap will check if the old value is equal to the expected value and only set the value to the new one if it is</a:t>
            </a:r>
          </a:p>
          <a:p>
            <a:pPr marL="171450" indent="-171450">
              <a:buFont typeface="Arial" pitchFamily="34" charset="0"/>
              <a:buChar char="•"/>
            </a:pPr>
            <a:endParaRPr lang="en-US" baseline="0" dirty="0"/>
          </a:p>
          <a:p>
            <a:pPr marL="171450" indent="-171450">
              <a:buFont typeface="Arial" pitchFamily="34" charset="0"/>
              <a:buChar char="•"/>
            </a:pPr>
            <a:r>
              <a:rPr lang="en-US" baseline="0" dirty="0"/>
              <a:t>For implementing a lock, they are the same, but Compare-and-Swap may be used for some other purposes </a:t>
            </a:r>
            <a:endParaRPr lang="en-US" dirty="0"/>
          </a:p>
          <a:p>
            <a:pPr>
              <a:buFont typeface="Arial" pitchFamily="34" charset="0"/>
              <a:buChar char="•"/>
            </a:pPr>
            <a:endParaRPr lang="th-TH" dirty="0"/>
          </a:p>
        </p:txBody>
      </p:sp>
      <p:sp>
        <p:nvSpPr>
          <p:cNvPr id="4" name="Slide Number Placeholder 3"/>
          <p:cNvSpPr>
            <a:spLocks noGrp="1"/>
          </p:cNvSpPr>
          <p:nvPr>
            <p:ph type="sldNum" sz="quarter" idx="10"/>
          </p:nvPr>
        </p:nvSpPr>
        <p:spPr/>
        <p:txBody>
          <a:bodyPr/>
          <a:lstStyle/>
          <a:p>
            <a:fld id="{8F241E7C-383C-48C1-8D88-D78E0DF4D8B8}" type="slidenum">
              <a:rPr lang="en-US" smtClean="0"/>
              <a:pPr/>
              <a:t>17</a:t>
            </a:fld>
            <a:endParaRPr lang="en-US"/>
          </a:p>
        </p:txBody>
      </p:sp>
    </p:spTree>
    <p:extLst>
      <p:ext uri="{BB962C8B-B14F-4D97-AF65-F5344CB8AC3E}">
        <p14:creationId xmlns:p14="http://schemas.microsoft.com/office/powerpoint/2010/main" val="1599673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703604-0DF6-4A6C-9B4E-FF09C636FA62}" type="slidenum">
              <a:rPr lang="en-US" smtClean="0"/>
              <a:t>18</a:t>
            </a:fld>
            <a:endParaRPr lang="en-US"/>
          </a:p>
        </p:txBody>
      </p:sp>
    </p:spTree>
    <p:extLst>
      <p:ext uri="{BB962C8B-B14F-4D97-AF65-F5344CB8AC3E}">
        <p14:creationId xmlns:p14="http://schemas.microsoft.com/office/powerpoint/2010/main" val="2591159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indent="-171450">
              <a:buFont typeface="Arial" pitchFamily="34" charset="0"/>
              <a:buChar char="•"/>
            </a:pPr>
            <a:r>
              <a:rPr lang="en-US" sz="1200" kern="1200" baseline="0" dirty="0">
                <a:solidFill>
                  <a:schemeClr val="tx1"/>
                </a:solidFill>
                <a:latin typeface="+mn-lt"/>
                <a:ea typeface="+mn-ea"/>
                <a:cs typeface="+mn-cs"/>
              </a:rPr>
              <a:t>Think about the example with two threads on one CPU – in this case, our yield-based approach works quite well</a:t>
            </a:r>
          </a:p>
          <a:p>
            <a:pPr marL="171450" indent="-171450">
              <a:buFont typeface="Arial" pitchFamily="34" charset="0"/>
              <a:buChar char="•"/>
            </a:pPr>
            <a:r>
              <a:rPr lang="en-US" sz="1200" kern="1200" baseline="0" dirty="0">
                <a:solidFill>
                  <a:schemeClr val="tx1"/>
                </a:solidFill>
                <a:latin typeface="+mn-lt"/>
                <a:ea typeface="+mn-ea"/>
                <a:cs typeface="+mn-cs"/>
              </a:rPr>
              <a:t>If a thread happens to call lock() and find the lock held, it will simply yield the CPU,  and thus the other thread will run and finish its critical section</a:t>
            </a:r>
          </a:p>
          <a:p>
            <a:pPr marL="171450" indent="-171450">
              <a:buFont typeface="Arial" pitchFamily="34" charset="0"/>
              <a:buChar char="•"/>
            </a:pPr>
            <a:endParaRPr lang="en-US" sz="1200" kern="1200" baseline="0" dirty="0">
              <a:solidFill>
                <a:schemeClr val="tx1"/>
              </a:solidFill>
              <a:latin typeface="+mn-lt"/>
              <a:ea typeface="+mn-ea"/>
              <a:cs typeface="+mn-cs"/>
            </a:endParaRPr>
          </a:p>
          <a:p>
            <a:pPr marL="171450" indent="-171450">
              <a:buFont typeface="Arial" pitchFamily="34" charset="0"/>
              <a:buChar char="•"/>
            </a:pPr>
            <a:r>
              <a:rPr lang="en-US" sz="1200" kern="1200" baseline="0" dirty="0">
                <a:solidFill>
                  <a:schemeClr val="tx1"/>
                </a:solidFill>
                <a:latin typeface="+mn-lt"/>
                <a:ea typeface="+mn-ea"/>
                <a:cs typeface="+mn-cs"/>
              </a:rPr>
              <a:t>With many threads, the scheduler determines which thread runs next – if the scheduler makes a bad choice, a thread that runs must either spin waiting for the lock (our first approach), or yield the CPU immediately (our second approach)</a:t>
            </a:r>
          </a:p>
          <a:p>
            <a:pPr marL="171450" indent="-171450">
              <a:buFont typeface="Arial" pitchFamily="34" charset="0"/>
              <a:buChar char="•"/>
            </a:pPr>
            <a:r>
              <a:rPr lang="en-US" sz="1200" kern="1200" baseline="0" dirty="0">
                <a:solidFill>
                  <a:schemeClr val="tx1"/>
                </a:solidFill>
                <a:latin typeface="+mn-lt"/>
                <a:ea typeface="+mn-ea"/>
                <a:cs typeface="+mn-cs"/>
              </a:rPr>
              <a:t>Either way, there is potential for waste and no prevention of starvation</a:t>
            </a:r>
          </a:p>
          <a:p>
            <a:pPr>
              <a:buFont typeface="Arial" pitchFamily="34" charset="0"/>
              <a:buChar char="•"/>
            </a:pPr>
            <a:endParaRPr lang="en-US" sz="1200" kern="1200" baseline="0" dirty="0">
              <a:solidFill>
                <a:schemeClr val="tx1"/>
              </a:solidFill>
              <a:latin typeface="+mn-lt"/>
              <a:ea typeface="+mn-ea"/>
              <a:cs typeface="+mn-cs"/>
            </a:endParaRPr>
          </a:p>
          <a:p>
            <a:pPr>
              <a:buFont typeface="Arial" pitchFamily="34" charset="0"/>
              <a:buChar char="•"/>
            </a:pPr>
            <a:endParaRPr lang="th-TH" dirty="0"/>
          </a:p>
        </p:txBody>
      </p:sp>
      <p:sp>
        <p:nvSpPr>
          <p:cNvPr id="4" name="Slide Number Placeholder 3"/>
          <p:cNvSpPr>
            <a:spLocks noGrp="1"/>
          </p:cNvSpPr>
          <p:nvPr>
            <p:ph type="sldNum" sz="quarter" idx="10"/>
          </p:nvPr>
        </p:nvSpPr>
        <p:spPr/>
        <p:txBody>
          <a:bodyPr/>
          <a:lstStyle/>
          <a:p>
            <a:fld id="{8F241E7C-383C-48C1-8D88-D78E0DF4D8B8}" type="slidenum">
              <a:rPr lang="en-US" smtClean="0"/>
              <a:pPr/>
              <a:t>25</a:t>
            </a:fld>
            <a:endParaRPr lang="en-US"/>
          </a:p>
        </p:txBody>
      </p:sp>
    </p:spTree>
    <p:extLst>
      <p:ext uri="{BB962C8B-B14F-4D97-AF65-F5344CB8AC3E}">
        <p14:creationId xmlns:p14="http://schemas.microsoft.com/office/powerpoint/2010/main" val="300645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Char char="•"/>
            </a:pPr>
            <a:r>
              <a:rPr lang="en-US" sz="1200" kern="1200" baseline="0" dirty="0">
                <a:solidFill>
                  <a:schemeClr val="tx1"/>
                </a:solidFill>
                <a:latin typeface="+mn-lt"/>
                <a:ea typeface="+mn-ea"/>
                <a:cs typeface="+mn-cs"/>
              </a:rPr>
              <a:t> Combine the old test-and-set idea with an explicit queue of lock waiters to make a more efficient lock. </a:t>
            </a:r>
          </a:p>
          <a:p>
            <a:pPr>
              <a:buFont typeface="Arial" pitchFamily="34" charset="0"/>
              <a:buChar char="•"/>
            </a:pPr>
            <a:r>
              <a:rPr lang="en-US" sz="1200" kern="1200" baseline="0" dirty="0">
                <a:solidFill>
                  <a:schemeClr val="tx1"/>
                </a:solidFill>
                <a:latin typeface="+mn-lt"/>
                <a:ea typeface="+mn-ea"/>
                <a:cs typeface="+mn-cs"/>
              </a:rPr>
              <a:t> Second, we use a queue to help control who gets the lock next and thus avoid starvation.</a:t>
            </a:r>
          </a:p>
          <a:p>
            <a:pPr>
              <a:buFont typeface="Arial" pitchFamily="34" charset="0"/>
              <a:buChar char="•"/>
            </a:pPr>
            <a:r>
              <a:rPr lang="en-US" sz="1200" kern="1200" baseline="0" dirty="0">
                <a:solidFill>
                  <a:schemeClr val="tx1"/>
                </a:solidFill>
                <a:latin typeface="+mn-lt"/>
                <a:ea typeface="+mn-ea"/>
                <a:cs typeface="+mn-cs"/>
              </a:rPr>
              <a:t> </a:t>
            </a:r>
          </a:p>
          <a:p>
            <a:pPr>
              <a:buFont typeface="Arial" pitchFamily="34" charset="0"/>
              <a:buChar char="•"/>
            </a:pPr>
            <a:endParaRPr lang="en-US" sz="1200" kern="1200" baseline="0" dirty="0">
              <a:solidFill>
                <a:schemeClr val="tx1"/>
              </a:solidFill>
              <a:latin typeface="+mn-lt"/>
              <a:ea typeface="+mn-ea"/>
              <a:cs typeface="+mn-cs"/>
            </a:endParaRPr>
          </a:p>
          <a:p>
            <a:pPr>
              <a:buFont typeface="Arial" pitchFamily="34" charset="0"/>
              <a:buChar char="•"/>
            </a:pPr>
            <a:r>
              <a:rPr lang="en-US" sz="1200" kern="1200" baseline="0" dirty="0">
                <a:solidFill>
                  <a:schemeClr val="tx1"/>
                </a:solidFill>
                <a:latin typeface="+mn-lt"/>
                <a:ea typeface="+mn-ea"/>
                <a:cs typeface="+mn-cs"/>
              </a:rPr>
              <a:t> You might notice how the guard is used, basically as a spin-lock around the flag and queue manipulations the lock is using. </a:t>
            </a:r>
          </a:p>
          <a:p>
            <a:pPr>
              <a:buFont typeface="Arial" pitchFamily="34" charset="0"/>
              <a:buChar char="•"/>
            </a:pPr>
            <a:r>
              <a:rPr lang="en-US" sz="1200" kern="1200" baseline="0" dirty="0">
                <a:solidFill>
                  <a:schemeClr val="tx1"/>
                </a:solidFill>
                <a:latin typeface="+mn-lt"/>
                <a:ea typeface="+mn-ea"/>
                <a:cs typeface="+mn-cs"/>
              </a:rPr>
              <a:t>This approach thus doesn’t avoid spin-waiting entirely; a thread might be interrupted while acquiring or releasing the lock, and thus cause other threads to spin-wait for this one to run again. </a:t>
            </a:r>
          </a:p>
          <a:p>
            <a:pPr>
              <a:buFont typeface="Arial" pitchFamily="34" charset="0"/>
              <a:buChar char="•"/>
            </a:pPr>
            <a:r>
              <a:rPr lang="en-US" sz="1200" kern="1200" baseline="0" dirty="0">
                <a:solidFill>
                  <a:schemeClr val="tx1"/>
                </a:solidFill>
                <a:latin typeface="+mn-lt"/>
                <a:ea typeface="+mn-ea"/>
                <a:cs typeface="+mn-cs"/>
              </a:rPr>
              <a:t>However, the time spent spinning is quite limited (just a few instructions inside the lock and unlock code, instead of the user-defined critical section), and thus this approach may be a reasonable  one.</a:t>
            </a:r>
          </a:p>
          <a:p>
            <a:endParaRPr lang="en-US" sz="1200" kern="1200" baseline="0" dirty="0">
              <a:solidFill>
                <a:schemeClr val="tx1"/>
              </a:solidFill>
              <a:latin typeface="+mn-lt"/>
              <a:ea typeface="+mn-ea"/>
              <a:cs typeface="+mn-cs"/>
            </a:endParaRPr>
          </a:p>
          <a:p>
            <a:pPr>
              <a:buFont typeface="Arial" pitchFamily="34" charset="0"/>
              <a:buChar char="•"/>
            </a:pPr>
            <a:r>
              <a:rPr lang="en-US" sz="1200" kern="1200" baseline="0" dirty="0">
                <a:solidFill>
                  <a:schemeClr val="tx1"/>
                </a:solidFill>
                <a:latin typeface="+mn-lt"/>
                <a:ea typeface="+mn-ea"/>
                <a:cs typeface="+mn-cs"/>
              </a:rPr>
              <a:t>Second, you might notice that in lock(), when a thread can not acquire the lock (it is already held), we are careful to add ourselves to a queue (by calling the </a:t>
            </a:r>
            <a:r>
              <a:rPr lang="en-US" sz="1200" kern="1200" baseline="0" dirty="0" err="1">
                <a:solidFill>
                  <a:schemeClr val="tx1"/>
                </a:solidFill>
                <a:latin typeface="+mn-lt"/>
                <a:ea typeface="+mn-ea"/>
                <a:cs typeface="+mn-cs"/>
              </a:rPr>
              <a:t>gettid</a:t>
            </a:r>
            <a:r>
              <a:rPr lang="en-US" sz="1200" kern="1200" baseline="0" dirty="0">
                <a:solidFill>
                  <a:schemeClr val="tx1"/>
                </a:solidFill>
                <a:latin typeface="+mn-lt"/>
                <a:ea typeface="+mn-ea"/>
                <a:cs typeface="+mn-cs"/>
              </a:rPr>
              <a:t>() call to get the thread ID of  the current thread), set guard to 0, and yield the CPU.</a:t>
            </a:r>
          </a:p>
          <a:p>
            <a:pPr>
              <a:buFont typeface="Arial" pitchFamily="34" charset="0"/>
              <a:buChar char="•"/>
            </a:pPr>
            <a:endParaRPr lang="en-US" sz="1200" kern="1200" baseline="0" dirty="0">
              <a:solidFill>
                <a:schemeClr val="tx1"/>
              </a:solidFill>
              <a:latin typeface="+mn-lt"/>
              <a:ea typeface="+mn-ea"/>
              <a:cs typeface="+mn-cs"/>
            </a:endParaRPr>
          </a:p>
          <a:p>
            <a:pPr>
              <a:buFont typeface="Arial" pitchFamily="34" charset="0"/>
              <a:buChar char="•"/>
            </a:pPr>
            <a:r>
              <a:rPr lang="en-US" sz="1200" kern="1200" baseline="0" dirty="0">
                <a:solidFill>
                  <a:schemeClr val="tx1"/>
                </a:solidFill>
                <a:latin typeface="+mn-lt"/>
                <a:ea typeface="+mn-ea"/>
                <a:cs typeface="+mn-cs"/>
              </a:rPr>
              <a:t>the flag does not get set back to 0 when another thread gets woken up. Why is this? Well, it is not an error, but rather a necessity! When a thread is woken up, it will be as if it is returning from park(); however, it does not hold the guard at that point in the code and thus cannot even try to set the flag to 1. Thus, we just pass the lock directly from the thread releasing the lock to the next thread acquiring it; flag is not set to 0 in-between.</a:t>
            </a:r>
            <a:endParaRPr lang="th-TH" dirty="0"/>
          </a:p>
        </p:txBody>
      </p:sp>
      <p:sp>
        <p:nvSpPr>
          <p:cNvPr id="4" name="Slide Number Placeholder 3"/>
          <p:cNvSpPr>
            <a:spLocks noGrp="1"/>
          </p:cNvSpPr>
          <p:nvPr>
            <p:ph type="sldNum" sz="quarter" idx="10"/>
          </p:nvPr>
        </p:nvSpPr>
        <p:spPr/>
        <p:txBody>
          <a:bodyPr/>
          <a:lstStyle/>
          <a:p>
            <a:fld id="{8F241E7C-383C-48C1-8D88-D78E0DF4D8B8}" type="slidenum">
              <a:rPr lang="en-US" smtClean="0"/>
              <a:pPr/>
              <a:t>28</a:t>
            </a:fld>
            <a:endParaRPr lang="en-US"/>
          </a:p>
        </p:txBody>
      </p:sp>
    </p:spTree>
    <p:extLst>
      <p:ext uri="{BB962C8B-B14F-4D97-AF65-F5344CB8AC3E}">
        <p14:creationId xmlns:p14="http://schemas.microsoft.com/office/powerpoint/2010/main" val="637062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fast </a:t>
            </a:r>
            <a:r>
              <a:rPr lang="en-US" sz="1200" b="0" i="0" kern="1200" dirty="0" err="1">
                <a:solidFill>
                  <a:schemeClr val="tx1"/>
                </a:solidFill>
                <a:effectLst/>
                <a:latin typeface="+mn-lt"/>
                <a:ea typeface="+mn-ea"/>
                <a:cs typeface="+mn-cs"/>
              </a:rPr>
              <a:t>userspace</a:t>
            </a:r>
            <a:r>
              <a:rPr lang="en-US" sz="1200" b="0" i="0" kern="1200" dirty="0">
                <a:solidFill>
                  <a:schemeClr val="tx1"/>
                </a:solidFill>
                <a:effectLst/>
                <a:latin typeface="+mn-lt"/>
                <a:ea typeface="+mn-ea"/>
                <a:cs typeface="+mn-cs"/>
              </a:rPr>
              <a:t> mutex: Linux contributors from IBM in 2002</a:t>
            </a:r>
            <a:endParaRPr lang="en-US" dirty="0"/>
          </a:p>
        </p:txBody>
      </p:sp>
      <p:sp>
        <p:nvSpPr>
          <p:cNvPr id="4" name="Slide Number Placeholder 3"/>
          <p:cNvSpPr>
            <a:spLocks noGrp="1"/>
          </p:cNvSpPr>
          <p:nvPr>
            <p:ph type="sldNum" sz="quarter" idx="5"/>
          </p:nvPr>
        </p:nvSpPr>
        <p:spPr/>
        <p:txBody>
          <a:bodyPr/>
          <a:lstStyle/>
          <a:p>
            <a:fld id="{62703604-0DF6-4A6C-9B4E-FF09C636FA62}" type="slidenum">
              <a:rPr lang="en-US" smtClean="0"/>
              <a:t>31</a:t>
            </a:fld>
            <a:endParaRPr lang="en-US"/>
          </a:p>
        </p:txBody>
      </p:sp>
    </p:spTree>
    <p:extLst>
      <p:ext uri="{BB962C8B-B14F-4D97-AF65-F5344CB8AC3E}">
        <p14:creationId xmlns:p14="http://schemas.microsoft.com/office/powerpoint/2010/main" val="3547839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8B653EC-09A1-4396-B698-2555809FC257}"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txBox="1">
            <a:spLocks noChangeArrowheads="1"/>
          </p:cNvSpPr>
          <p:nvPr userDrawn="1"/>
        </p:nvSpPr>
        <p:spPr>
          <a:xfrm>
            <a:off x="7239000" y="6553200"/>
            <a:ext cx="1905000" cy="304800"/>
          </a:xfrm>
          <a:prstGeom prst="rect">
            <a:avLst/>
          </a:prstGeom>
          <a:ln/>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EC5980-C722-42E4-ADC6-D097CFB9C5D9}" type="slidenum">
              <a:rPr lang="en-US" altLang="en-US" sz="1600" smtClean="0"/>
              <a:pPr>
                <a:defRPr/>
              </a:pPr>
              <a:t>‹#›</a:t>
            </a:fld>
            <a:endParaRPr lang="en-US" altLang="en-US" sz="1600" dirty="0"/>
          </a:p>
        </p:txBody>
      </p:sp>
    </p:spTree>
    <p:extLst>
      <p:ext uri="{BB962C8B-B14F-4D97-AF65-F5344CB8AC3E}">
        <p14:creationId xmlns:p14="http://schemas.microsoft.com/office/powerpoint/2010/main" val="362063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CC3300"/>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B653EC-09A1-4396-B698-2555809FC257}"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txBox="1">
            <a:spLocks noChangeArrowheads="1"/>
          </p:cNvSpPr>
          <p:nvPr userDrawn="1"/>
        </p:nvSpPr>
        <p:spPr>
          <a:xfrm>
            <a:off x="7239000" y="6553200"/>
            <a:ext cx="1905000" cy="304800"/>
          </a:xfrm>
          <a:prstGeom prst="rect">
            <a:avLst/>
          </a:prstGeom>
          <a:ln/>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EC5980-C722-42E4-ADC6-D097CFB9C5D9}" type="slidenum">
              <a:rPr lang="en-US" altLang="en-US" sz="1600" smtClean="0"/>
              <a:pPr>
                <a:defRPr/>
              </a:pPr>
              <a:t>‹#›</a:t>
            </a:fld>
            <a:endParaRPr lang="en-US" altLang="en-US" sz="1600" dirty="0"/>
          </a:p>
        </p:txBody>
      </p:sp>
    </p:spTree>
    <p:extLst>
      <p:ext uri="{BB962C8B-B14F-4D97-AF65-F5344CB8AC3E}">
        <p14:creationId xmlns:p14="http://schemas.microsoft.com/office/powerpoint/2010/main" val="1336286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B653EC-09A1-4396-B698-2555809FC257}"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3BB22C-BDDD-4603-9CA0-96812C0937F7}" type="slidenum">
              <a:rPr lang="en-US" smtClean="0"/>
              <a:t>‹#›</a:t>
            </a:fld>
            <a:endParaRPr lang="en-US"/>
          </a:p>
        </p:txBody>
      </p:sp>
    </p:spTree>
    <p:extLst>
      <p:ext uri="{BB962C8B-B14F-4D97-AF65-F5344CB8AC3E}">
        <p14:creationId xmlns:p14="http://schemas.microsoft.com/office/powerpoint/2010/main" val="3195738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B653EC-09A1-4396-B698-2555809FC257}"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6"/>
          <p:cNvSpPr txBox="1">
            <a:spLocks noChangeArrowheads="1"/>
          </p:cNvSpPr>
          <p:nvPr userDrawn="1"/>
        </p:nvSpPr>
        <p:spPr>
          <a:xfrm>
            <a:off x="7239000" y="6553200"/>
            <a:ext cx="1905000" cy="304800"/>
          </a:xfrm>
          <a:prstGeom prst="rect">
            <a:avLst/>
          </a:prstGeom>
          <a:ln/>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EC5980-C722-42E4-ADC6-D097CFB9C5D9}" type="slidenum">
              <a:rPr lang="en-US" altLang="en-US" sz="1600" smtClean="0"/>
              <a:pPr>
                <a:defRPr/>
              </a:pPr>
              <a:t>‹#›</a:t>
            </a:fld>
            <a:endParaRPr lang="en-US" altLang="en-US" sz="1600" dirty="0"/>
          </a:p>
        </p:txBody>
      </p:sp>
    </p:spTree>
    <p:extLst>
      <p:ext uri="{BB962C8B-B14F-4D97-AF65-F5344CB8AC3E}">
        <p14:creationId xmlns:p14="http://schemas.microsoft.com/office/powerpoint/2010/main" val="2372947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B653EC-09A1-4396-B698-2555809FC257}"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3BB22C-BDDD-4603-9CA0-96812C0937F7}" type="slidenum">
              <a:rPr lang="en-US" smtClean="0"/>
              <a:t>‹#›</a:t>
            </a:fld>
            <a:endParaRPr lang="en-US"/>
          </a:p>
        </p:txBody>
      </p:sp>
    </p:spTree>
    <p:extLst>
      <p:ext uri="{BB962C8B-B14F-4D97-AF65-F5344CB8AC3E}">
        <p14:creationId xmlns:p14="http://schemas.microsoft.com/office/powerpoint/2010/main" val="2843211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B653EC-09A1-4396-B698-2555809FC257}"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3BB22C-BDDD-4603-9CA0-96812C0937F7}" type="slidenum">
              <a:rPr lang="en-US" smtClean="0"/>
              <a:t>‹#›</a:t>
            </a:fld>
            <a:endParaRPr lang="en-US"/>
          </a:p>
        </p:txBody>
      </p:sp>
    </p:spTree>
    <p:extLst>
      <p:ext uri="{BB962C8B-B14F-4D97-AF65-F5344CB8AC3E}">
        <p14:creationId xmlns:p14="http://schemas.microsoft.com/office/powerpoint/2010/main" val="2576314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B653EC-09A1-4396-B698-2555809FC257}"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3BB22C-BDDD-4603-9CA0-96812C0937F7}" type="slidenum">
              <a:rPr lang="en-US" smtClean="0"/>
              <a:t>‹#›</a:t>
            </a:fld>
            <a:endParaRPr lang="en-US"/>
          </a:p>
        </p:txBody>
      </p:sp>
    </p:spTree>
    <p:extLst>
      <p:ext uri="{BB962C8B-B14F-4D97-AF65-F5344CB8AC3E}">
        <p14:creationId xmlns:p14="http://schemas.microsoft.com/office/powerpoint/2010/main" val="276285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B653EC-09A1-4396-B698-2555809FC257}"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3BB22C-BDDD-4603-9CA0-96812C0937F7}" type="slidenum">
              <a:rPr lang="en-US" smtClean="0"/>
              <a:t>‹#›</a:t>
            </a:fld>
            <a:endParaRPr lang="en-US"/>
          </a:p>
        </p:txBody>
      </p:sp>
    </p:spTree>
    <p:extLst>
      <p:ext uri="{BB962C8B-B14F-4D97-AF65-F5344CB8AC3E}">
        <p14:creationId xmlns:p14="http://schemas.microsoft.com/office/powerpoint/2010/main" val="1941168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B653EC-09A1-4396-B698-2555809FC257}"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3BB22C-BDDD-4603-9CA0-96812C0937F7}" type="slidenum">
              <a:rPr lang="en-US" smtClean="0"/>
              <a:t>‹#›</a:t>
            </a:fld>
            <a:endParaRPr lang="en-US"/>
          </a:p>
        </p:txBody>
      </p:sp>
    </p:spTree>
    <p:extLst>
      <p:ext uri="{BB962C8B-B14F-4D97-AF65-F5344CB8AC3E}">
        <p14:creationId xmlns:p14="http://schemas.microsoft.com/office/powerpoint/2010/main" val="3232414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B653EC-09A1-4396-B698-2555809FC257}"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3BB22C-BDDD-4603-9CA0-96812C0937F7}" type="slidenum">
              <a:rPr lang="en-US" smtClean="0"/>
              <a:t>‹#›</a:t>
            </a:fld>
            <a:endParaRPr lang="en-US"/>
          </a:p>
        </p:txBody>
      </p:sp>
    </p:spTree>
    <p:extLst>
      <p:ext uri="{BB962C8B-B14F-4D97-AF65-F5344CB8AC3E}">
        <p14:creationId xmlns:p14="http://schemas.microsoft.com/office/powerpoint/2010/main" val="2111952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B653EC-09A1-4396-B698-2555809FC257}"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3BB22C-BDDD-4603-9CA0-96812C0937F7}" type="slidenum">
              <a:rPr lang="en-US" smtClean="0"/>
              <a:t>‹#›</a:t>
            </a:fld>
            <a:endParaRPr lang="en-US"/>
          </a:p>
        </p:txBody>
      </p:sp>
    </p:spTree>
    <p:extLst>
      <p:ext uri="{BB962C8B-B14F-4D97-AF65-F5344CB8AC3E}">
        <p14:creationId xmlns:p14="http://schemas.microsoft.com/office/powerpoint/2010/main" val="2276349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653EC-09A1-4396-B698-2555809FC257}"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3BB22C-BDDD-4603-9CA0-96812C0937F7}" type="slidenum">
              <a:rPr lang="en-US" smtClean="0"/>
              <a:t>‹#›</a:t>
            </a:fld>
            <a:endParaRPr lang="en-US"/>
          </a:p>
        </p:txBody>
      </p:sp>
    </p:spTree>
    <p:extLst>
      <p:ext uri="{BB962C8B-B14F-4D97-AF65-F5344CB8AC3E}">
        <p14:creationId xmlns:p14="http://schemas.microsoft.com/office/powerpoint/2010/main" val="4050408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CC3300"/>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ctrTitle"/>
          </p:nvPr>
        </p:nvSpPr>
        <p:spPr/>
        <p:txBody>
          <a:bodyPr/>
          <a:lstStyle/>
          <a:p>
            <a:r>
              <a:rPr lang="en-US" dirty="0"/>
              <a:t>Lecture 8</a:t>
            </a:r>
          </a:p>
        </p:txBody>
      </p:sp>
      <p:sp>
        <p:nvSpPr>
          <p:cNvPr id="3" name="ชื่อเรื่องรอง 2"/>
          <p:cNvSpPr>
            <a:spLocks noGrp="1"/>
          </p:cNvSpPr>
          <p:nvPr>
            <p:ph type="subTitle" idx="1"/>
          </p:nvPr>
        </p:nvSpPr>
        <p:spPr/>
        <p:txBody>
          <a:bodyPr/>
          <a:lstStyle/>
          <a:p>
            <a:r>
              <a:rPr lang="en-US" altLang="en-US" b="1" dirty="0">
                <a:solidFill>
                  <a:schemeClr val="accent2"/>
                </a:solidFill>
              </a:rPr>
              <a:t>Locks Mechanism</a:t>
            </a:r>
            <a:endParaRPr lang="en-US" dirty="0"/>
          </a:p>
        </p:txBody>
      </p:sp>
    </p:spTree>
    <p:extLst>
      <p:ext uri="{BB962C8B-B14F-4D97-AF65-F5344CB8AC3E}">
        <p14:creationId xmlns:p14="http://schemas.microsoft.com/office/powerpoint/2010/main" val="3166042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621" t="65753" r="41690" b="20000"/>
          <a:stretch/>
        </p:blipFill>
        <p:spPr bwMode="auto">
          <a:xfrm>
            <a:off x="1751034" y="5488983"/>
            <a:ext cx="5718131" cy="122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ชื่อเรื่อง 1"/>
          <p:cNvSpPr>
            <a:spLocks noGrp="1"/>
          </p:cNvSpPr>
          <p:nvPr>
            <p:ph type="title"/>
          </p:nvPr>
        </p:nvSpPr>
        <p:spPr/>
        <p:txBody>
          <a:bodyPr/>
          <a:lstStyle/>
          <a:p>
            <a:r>
              <a:rPr lang="en-US"/>
              <a:t>Previously</a:t>
            </a:r>
            <a:endParaRPr lang="en-US" dirty="0"/>
          </a:p>
        </p:txBody>
      </p:sp>
      <p:sp>
        <p:nvSpPr>
          <p:cNvPr id="3" name="ตัวแทนเนื้อหา 2"/>
          <p:cNvSpPr>
            <a:spLocks noGrp="1"/>
          </p:cNvSpPr>
          <p:nvPr>
            <p:ph idx="1"/>
          </p:nvPr>
        </p:nvSpPr>
        <p:spPr>
          <a:xfrm>
            <a:off x="304800" y="1600201"/>
            <a:ext cx="8610600" cy="3962400"/>
          </a:xfrm>
        </p:spPr>
        <p:txBody>
          <a:bodyPr>
            <a:normAutofit lnSpcReduction="10000"/>
          </a:bodyPr>
          <a:lstStyle/>
          <a:p>
            <a:r>
              <a:rPr lang="en-US" sz="2800" dirty="0"/>
              <a:t>A</a:t>
            </a:r>
            <a:r>
              <a:rPr lang="en-US" sz="2800" b="1" dirty="0"/>
              <a:t> </a:t>
            </a:r>
            <a:r>
              <a:rPr lang="en-US" sz="2800" b="1" dirty="0">
                <a:solidFill>
                  <a:srgbClr val="C00000"/>
                </a:solidFill>
              </a:rPr>
              <a:t>multi-threaded</a:t>
            </a:r>
            <a:r>
              <a:rPr lang="en-US" sz="2800" b="1" dirty="0"/>
              <a:t> </a:t>
            </a:r>
            <a:r>
              <a:rPr lang="en-US" sz="2800" dirty="0"/>
              <a:t>process has more than one point of execution.</a:t>
            </a:r>
          </a:p>
          <a:p>
            <a:r>
              <a:rPr lang="en-US" sz="2800" dirty="0"/>
              <a:t>More than one threads want to access the share variable at the same time.</a:t>
            </a:r>
          </a:p>
          <a:p>
            <a:r>
              <a:rPr lang="en-US" sz="2800" dirty="0">
                <a:solidFill>
                  <a:srgbClr val="FF0000"/>
                </a:solidFill>
              </a:rPr>
              <a:t>Race condition </a:t>
            </a:r>
            <a:r>
              <a:rPr lang="en-US" sz="2800" dirty="0"/>
              <a:t>occurs. </a:t>
            </a:r>
            <a:r>
              <a:rPr lang="en-US" sz="2800" dirty="0">
                <a:solidFill>
                  <a:srgbClr val="FF0000"/>
                </a:solidFill>
              </a:rPr>
              <a:t>Critical sections </a:t>
            </a:r>
            <a:r>
              <a:rPr lang="en-US" sz="2800" dirty="0"/>
              <a:t>need to define. Off cause, guarantee </a:t>
            </a:r>
            <a:r>
              <a:rPr lang="en-US" sz="2800" dirty="0">
                <a:solidFill>
                  <a:srgbClr val="FF0000"/>
                </a:solidFill>
              </a:rPr>
              <a:t>mutual exclusion </a:t>
            </a:r>
            <a:r>
              <a:rPr lang="en-US" sz="2800" dirty="0"/>
              <a:t>is our goal. </a:t>
            </a:r>
          </a:p>
          <a:p>
            <a:r>
              <a:rPr lang="en-US" sz="2800" dirty="0"/>
              <a:t>Introduce </a:t>
            </a:r>
            <a:r>
              <a:rPr lang="en-US" sz="2800" dirty="0">
                <a:solidFill>
                  <a:srgbClr val="FF0000"/>
                </a:solidFill>
              </a:rPr>
              <a:t>Lock/Unlock</a:t>
            </a:r>
            <a:r>
              <a:rPr lang="en-US" sz="2800" dirty="0"/>
              <a:t> function</a:t>
            </a:r>
            <a:endParaRPr lang="en-US" sz="2800" b="1" dirty="0"/>
          </a:p>
          <a:p>
            <a:pPr lvl="1"/>
            <a:r>
              <a:rPr lang="en-US" sz="2400" dirty="0"/>
              <a:t>Programmers annotate source code with locks</a:t>
            </a:r>
          </a:p>
          <a:p>
            <a:pPr lvl="1"/>
            <a:r>
              <a:rPr lang="en-US" sz="2400" dirty="0"/>
              <a:t>Putting them around critical sections to ensure atomicity</a:t>
            </a:r>
          </a:p>
        </p:txBody>
      </p:sp>
    </p:spTree>
    <p:extLst>
      <p:ext uri="{BB962C8B-B14F-4D97-AF65-F5344CB8AC3E}">
        <p14:creationId xmlns:p14="http://schemas.microsoft.com/office/powerpoint/2010/main" val="460754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Locks</a:t>
            </a:r>
            <a:endParaRPr lang="th-TH" dirty="0"/>
          </a:p>
        </p:txBody>
      </p:sp>
      <p:sp>
        <p:nvSpPr>
          <p:cNvPr id="3" name="Content Placeholder 2"/>
          <p:cNvSpPr>
            <a:spLocks noGrp="1"/>
          </p:cNvSpPr>
          <p:nvPr>
            <p:ph idx="1"/>
          </p:nvPr>
        </p:nvSpPr>
        <p:spPr>
          <a:xfrm>
            <a:off x="457200" y="1447800"/>
            <a:ext cx="8229600" cy="4724400"/>
          </a:xfrm>
        </p:spPr>
        <p:txBody>
          <a:bodyPr>
            <a:normAutofit fontScale="77500" lnSpcReduction="20000"/>
          </a:bodyPr>
          <a:lstStyle/>
          <a:p>
            <a:pPr>
              <a:lnSpc>
                <a:spcPct val="120000"/>
              </a:lnSpc>
            </a:pPr>
            <a:r>
              <a:rPr lang="en-US" dirty="0"/>
              <a:t>Mechanism </a:t>
            </a:r>
          </a:p>
          <a:p>
            <a:pPr lvl="1">
              <a:lnSpc>
                <a:spcPct val="120000"/>
              </a:lnSpc>
            </a:pPr>
            <a:r>
              <a:rPr lang="en-US" dirty="0">
                <a:solidFill>
                  <a:srgbClr val="FF0000"/>
                </a:solidFill>
              </a:rPr>
              <a:t>acquired</a:t>
            </a:r>
            <a:r>
              <a:rPr lang="en-US" dirty="0"/>
              <a:t>, i.e. exactly one thread holds the lock </a:t>
            </a:r>
          </a:p>
          <a:p>
            <a:pPr lvl="1">
              <a:lnSpc>
                <a:spcPct val="120000"/>
              </a:lnSpc>
            </a:pPr>
            <a:r>
              <a:rPr lang="en-US" dirty="0">
                <a:solidFill>
                  <a:srgbClr val="FF0000"/>
                </a:solidFill>
              </a:rPr>
              <a:t>available (free)</a:t>
            </a:r>
            <a:r>
              <a:rPr lang="en-US" dirty="0"/>
              <a:t>, i.e. no thread holds the lock </a:t>
            </a:r>
          </a:p>
          <a:p>
            <a:pPr>
              <a:lnSpc>
                <a:spcPct val="120000"/>
              </a:lnSpc>
            </a:pPr>
            <a:r>
              <a:rPr lang="en-US" dirty="0"/>
              <a:t>A lock variable holds the state of the lock at any instant in time</a:t>
            </a:r>
          </a:p>
          <a:p>
            <a:pPr>
              <a:lnSpc>
                <a:spcPct val="120000"/>
              </a:lnSpc>
            </a:pPr>
            <a:r>
              <a:rPr lang="en-US" dirty="0"/>
              <a:t>The name that the POSIX library uses for a lock is a </a:t>
            </a:r>
            <a:r>
              <a:rPr lang="en-US" dirty="0" err="1">
                <a:solidFill>
                  <a:srgbClr val="CC3300"/>
                </a:solidFill>
              </a:rPr>
              <a:t>mutex</a:t>
            </a:r>
            <a:r>
              <a:rPr lang="en-US" dirty="0"/>
              <a:t>, as it is used to provide mutual exclusion between threads</a:t>
            </a:r>
          </a:p>
          <a:p>
            <a:pPr>
              <a:lnSpc>
                <a:spcPct val="120000"/>
              </a:lnSpc>
            </a:pPr>
            <a:r>
              <a:rPr lang="en-US" dirty="0"/>
              <a:t>Next … how should we build a lock? </a:t>
            </a:r>
          </a:p>
          <a:p>
            <a:pPr lvl="1">
              <a:lnSpc>
                <a:spcPct val="120000"/>
              </a:lnSpc>
            </a:pPr>
            <a:r>
              <a:rPr lang="en-US" dirty="0"/>
              <a:t>Can we build a purely software lock? </a:t>
            </a:r>
          </a:p>
          <a:p>
            <a:pPr lvl="1">
              <a:lnSpc>
                <a:spcPct val="120000"/>
              </a:lnSpc>
            </a:pPr>
            <a:r>
              <a:rPr lang="en-US" dirty="0"/>
              <a:t>What hardware support is needed? </a:t>
            </a:r>
          </a:p>
          <a:p>
            <a:pPr lvl="1">
              <a:lnSpc>
                <a:spcPct val="120000"/>
              </a:lnSpc>
            </a:pPr>
            <a:r>
              <a:rPr lang="en-US" dirty="0"/>
              <a:t>What OS support?</a:t>
            </a:r>
          </a:p>
          <a:p>
            <a:pPr lvl="1"/>
            <a:endParaRPr lang="th-TH" dirty="0"/>
          </a:p>
        </p:txBody>
      </p:sp>
    </p:spTree>
    <p:extLst>
      <p:ext uri="{BB962C8B-B14F-4D97-AF65-F5344CB8AC3E}">
        <p14:creationId xmlns:p14="http://schemas.microsoft.com/office/powerpoint/2010/main" val="3986254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dirty="0"/>
              <a:t>Evaluating Lock Implementation</a:t>
            </a:r>
            <a:endParaRPr lang="th-TH" dirty="0"/>
          </a:p>
        </p:txBody>
      </p:sp>
      <p:sp>
        <p:nvSpPr>
          <p:cNvPr id="3" name="Content Placeholder 2"/>
          <p:cNvSpPr>
            <a:spLocks noGrp="1"/>
          </p:cNvSpPr>
          <p:nvPr>
            <p:ph idx="1"/>
          </p:nvPr>
        </p:nvSpPr>
        <p:spPr>
          <a:xfrm>
            <a:off x="457200" y="1905000"/>
            <a:ext cx="8229600" cy="4495800"/>
          </a:xfrm>
        </p:spPr>
        <p:txBody>
          <a:bodyPr>
            <a:normAutofit fontScale="77500" lnSpcReduction="20000"/>
          </a:bodyPr>
          <a:lstStyle/>
          <a:p>
            <a:pPr>
              <a:lnSpc>
                <a:spcPct val="120000"/>
              </a:lnSpc>
            </a:pPr>
            <a:r>
              <a:rPr lang="en-US" b="1" dirty="0"/>
              <a:t>Mutual Exclusion</a:t>
            </a:r>
            <a:r>
              <a:rPr lang="en-US" dirty="0"/>
              <a:t>: the lock should </a:t>
            </a:r>
            <a:r>
              <a:rPr lang="en-US" dirty="0">
                <a:solidFill>
                  <a:srgbClr val="FF0000"/>
                </a:solidFill>
              </a:rPr>
              <a:t>prevent multiple threads </a:t>
            </a:r>
            <a:r>
              <a:rPr lang="en-US" dirty="0"/>
              <a:t>from executing a critical section at the same time</a:t>
            </a:r>
          </a:p>
          <a:p>
            <a:pPr>
              <a:lnSpc>
                <a:spcPct val="120000"/>
              </a:lnSpc>
            </a:pPr>
            <a:r>
              <a:rPr lang="en-US" b="1" dirty="0"/>
              <a:t>Absence of Deadlock</a:t>
            </a:r>
            <a:r>
              <a:rPr lang="en-US" dirty="0"/>
              <a:t>: if two or more threads are trying to enter their critical sections, </a:t>
            </a:r>
            <a:r>
              <a:rPr lang="en-US" dirty="0">
                <a:solidFill>
                  <a:srgbClr val="FF0000"/>
                </a:solidFill>
              </a:rPr>
              <a:t>at least one will succeed</a:t>
            </a:r>
          </a:p>
          <a:p>
            <a:pPr>
              <a:lnSpc>
                <a:spcPct val="120000"/>
              </a:lnSpc>
            </a:pPr>
            <a:r>
              <a:rPr lang="en-US" b="1" dirty="0"/>
              <a:t>Fairness</a:t>
            </a:r>
            <a:r>
              <a:rPr lang="en-US" dirty="0"/>
              <a:t>: each thread trying to acquire the lock should get </a:t>
            </a:r>
            <a:r>
              <a:rPr lang="en-US" dirty="0">
                <a:solidFill>
                  <a:srgbClr val="FF0000"/>
                </a:solidFill>
              </a:rPr>
              <a:t>a fair chance at acquiring </a:t>
            </a:r>
            <a:r>
              <a:rPr lang="en-US" dirty="0"/>
              <a:t>it</a:t>
            </a:r>
          </a:p>
          <a:p>
            <a:pPr>
              <a:lnSpc>
                <a:spcPct val="120000"/>
              </a:lnSpc>
            </a:pPr>
            <a:r>
              <a:rPr lang="en-US" b="1" dirty="0"/>
              <a:t>Performance</a:t>
            </a:r>
            <a:r>
              <a:rPr lang="en-US" dirty="0"/>
              <a:t>: the time overheads added by using the lock</a:t>
            </a:r>
          </a:p>
          <a:p>
            <a:pPr lvl="1">
              <a:lnSpc>
                <a:spcPct val="120000"/>
              </a:lnSpc>
            </a:pPr>
            <a:r>
              <a:rPr lang="en-US" dirty="0"/>
              <a:t>Overhead of acquiring lock when if no other thread wants to </a:t>
            </a:r>
            <a:r>
              <a:rPr lang="en-US" dirty="0">
                <a:solidFill>
                  <a:schemeClr val="accent1"/>
                </a:solidFill>
              </a:rPr>
              <a:t>free</a:t>
            </a:r>
            <a:r>
              <a:rPr lang="en-US" dirty="0"/>
              <a:t> it</a:t>
            </a:r>
          </a:p>
          <a:p>
            <a:pPr lvl="1">
              <a:lnSpc>
                <a:spcPct val="120000"/>
              </a:lnSpc>
            </a:pPr>
            <a:r>
              <a:rPr lang="en-US" dirty="0"/>
              <a:t>Overhead of acquiring lock when there is </a:t>
            </a:r>
            <a:r>
              <a:rPr lang="en-US" dirty="0">
                <a:solidFill>
                  <a:schemeClr val="accent1"/>
                </a:solidFill>
              </a:rPr>
              <a:t>contention</a:t>
            </a:r>
            <a:r>
              <a:rPr lang="en-US" dirty="0"/>
              <a:t> for the lock</a:t>
            </a:r>
          </a:p>
          <a:p>
            <a:pPr lvl="1"/>
            <a:endParaRPr lang="th-TH" dirty="0"/>
          </a:p>
        </p:txBody>
      </p:sp>
    </p:spTree>
    <p:extLst>
      <p:ext uri="{BB962C8B-B14F-4D97-AF65-F5344CB8AC3E}">
        <p14:creationId xmlns:p14="http://schemas.microsoft.com/office/powerpoint/2010/main" val="1938096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FB0752-749B-4323-8A5F-F572C47B6C9C}"/>
              </a:ext>
            </a:extLst>
          </p:cNvPr>
          <p:cNvSpPr txBox="1"/>
          <p:nvPr/>
        </p:nvSpPr>
        <p:spPr>
          <a:xfrm>
            <a:off x="195943" y="409972"/>
            <a:ext cx="8948057" cy="6432530"/>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static volatile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counter = 0;</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void *</a:t>
            </a:r>
            <a:r>
              <a:rPr lang="en-US" sz="1600" dirty="0" err="1">
                <a:latin typeface="Courier New" panose="02070309020205020404" pitchFamily="49" charset="0"/>
                <a:cs typeface="Courier New" panose="02070309020205020404" pitchFamily="49" charset="0"/>
              </a:rPr>
              <a:t>mythread</a:t>
            </a:r>
            <a:r>
              <a:rPr lang="en-US" sz="1600" dirty="0">
                <a:latin typeface="Courier New" panose="02070309020205020404" pitchFamily="49" charset="0"/>
                <a:cs typeface="Courier New" panose="02070309020205020404" pitchFamily="49" charset="0"/>
              </a:rPr>
              <a:t>(void *</a:t>
            </a:r>
            <a:r>
              <a:rPr lang="en-US" sz="1600" dirty="0" err="1">
                <a:latin typeface="Courier New" panose="02070309020205020404" pitchFamily="49" charset="0"/>
                <a:cs typeface="Courier New" panose="02070309020205020404" pitchFamily="49" charset="0"/>
              </a:rPr>
              <a:t>arg</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printf</a:t>
            </a:r>
            <a:r>
              <a:rPr lang="en-US" sz="1600" dirty="0">
                <a:latin typeface="Courier New" panose="02070309020205020404" pitchFamily="49" charset="0"/>
                <a:cs typeface="Courier New" panose="02070309020205020404" pitchFamily="49" charset="0"/>
              </a:rPr>
              <a:t>("%s: begin\n", (char *) </a:t>
            </a:r>
            <a:r>
              <a:rPr lang="en-US" sz="1600" dirty="0" err="1">
                <a:latin typeface="Courier New" panose="02070309020205020404" pitchFamily="49" charset="0"/>
                <a:cs typeface="Courier New" panose="02070309020205020404" pitchFamily="49" charset="0"/>
              </a:rPr>
              <a:t>arg</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for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0;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&lt; 1e7;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counter = counter + 1;</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printf</a:t>
            </a:r>
            <a:r>
              <a:rPr lang="en-US" sz="1600" dirty="0">
                <a:latin typeface="Courier New" panose="02070309020205020404" pitchFamily="49" charset="0"/>
                <a:cs typeface="Courier New" panose="02070309020205020404" pitchFamily="49" charset="0"/>
              </a:rPr>
              <a:t>("%s: done\n", (char *) </a:t>
            </a:r>
            <a:r>
              <a:rPr lang="en-US" sz="1600" dirty="0" err="1">
                <a:latin typeface="Courier New" panose="02070309020205020404" pitchFamily="49" charset="0"/>
                <a:cs typeface="Courier New" panose="02070309020205020404" pitchFamily="49" charset="0"/>
              </a:rPr>
              <a:t>arg</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return NULL;</a:t>
            </a:r>
          </a:p>
          <a:p>
            <a:r>
              <a:rPr lang="en-US" sz="1600" dirty="0">
                <a:latin typeface="Courier New" panose="02070309020205020404" pitchFamily="49" charset="0"/>
                <a:cs typeface="Courier New" panose="02070309020205020404" pitchFamily="49" charset="0"/>
              </a:rPr>
              <a:t>}</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int main(int </a:t>
            </a:r>
            <a:r>
              <a:rPr lang="en-US" sz="1600" dirty="0" err="1">
                <a:latin typeface="Courier New" panose="02070309020205020404" pitchFamily="49" charset="0"/>
                <a:cs typeface="Courier New" panose="02070309020205020404" pitchFamily="49" charset="0"/>
              </a:rPr>
              <a:t>argc</a:t>
            </a:r>
            <a:r>
              <a:rPr lang="en-US" sz="1600" dirty="0">
                <a:latin typeface="Courier New" panose="02070309020205020404" pitchFamily="49" charset="0"/>
                <a:cs typeface="Courier New" panose="02070309020205020404" pitchFamily="49" charset="0"/>
              </a:rPr>
              <a:t>, char *</a:t>
            </a:r>
            <a:r>
              <a:rPr lang="en-US" sz="1600" dirty="0" err="1">
                <a:latin typeface="Courier New" panose="02070309020205020404" pitchFamily="49" charset="0"/>
                <a:cs typeface="Courier New" panose="02070309020205020404" pitchFamily="49" charset="0"/>
              </a:rPr>
              <a:t>argv</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pthread_t</a:t>
            </a:r>
            <a:r>
              <a:rPr lang="en-US" sz="1600" dirty="0">
                <a:latin typeface="Courier New" panose="02070309020205020404" pitchFamily="49" charset="0"/>
                <a:cs typeface="Courier New" panose="02070309020205020404" pitchFamily="49" charset="0"/>
              </a:rPr>
              <a:t> T0, T1;</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printf</a:t>
            </a:r>
            <a:r>
              <a:rPr lang="en-US" sz="1600" dirty="0">
                <a:latin typeface="Courier New" panose="02070309020205020404" pitchFamily="49" charset="0"/>
                <a:cs typeface="Courier New" panose="02070309020205020404" pitchFamily="49" charset="0"/>
              </a:rPr>
              <a:t>("main: begin (counter = %d)\n", counter);</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pthread_create</a:t>
            </a:r>
            <a:r>
              <a:rPr lang="en-US" sz="1600" dirty="0">
                <a:latin typeface="Courier New" panose="02070309020205020404" pitchFamily="49" charset="0"/>
                <a:cs typeface="Courier New" panose="02070309020205020404" pitchFamily="49" charset="0"/>
              </a:rPr>
              <a:t>(&amp;T0, NULL, </a:t>
            </a:r>
            <a:r>
              <a:rPr lang="en-US" sz="1600" dirty="0" err="1">
                <a:latin typeface="Courier New" panose="02070309020205020404" pitchFamily="49" charset="0"/>
                <a:cs typeface="Courier New" panose="02070309020205020404" pitchFamily="49" charset="0"/>
              </a:rPr>
              <a:t>mythread</a:t>
            </a:r>
            <a:r>
              <a:rPr lang="en-US" sz="1600" dirty="0">
                <a:latin typeface="Courier New" panose="02070309020205020404" pitchFamily="49" charset="0"/>
                <a:cs typeface="Courier New" panose="02070309020205020404" pitchFamily="49" charset="0"/>
              </a:rPr>
              <a:t>, "A");</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pthread_create</a:t>
            </a:r>
            <a:r>
              <a:rPr lang="en-US" sz="1600" dirty="0">
                <a:latin typeface="Courier New" panose="02070309020205020404" pitchFamily="49" charset="0"/>
                <a:cs typeface="Courier New" panose="02070309020205020404" pitchFamily="49" charset="0"/>
              </a:rPr>
              <a:t>(&amp;T1, NULL, </a:t>
            </a:r>
            <a:r>
              <a:rPr lang="en-US" sz="1600" dirty="0" err="1">
                <a:latin typeface="Courier New" panose="02070309020205020404" pitchFamily="49" charset="0"/>
                <a:cs typeface="Courier New" panose="02070309020205020404" pitchFamily="49" charset="0"/>
              </a:rPr>
              <a:t>mythread</a:t>
            </a:r>
            <a:r>
              <a:rPr lang="en-US" sz="1600" dirty="0">
                <a:latin typeface="Courier New" panose="02070309020205020404" pitchFamily="49" charset="0"/>
                <a:cs typeface="Courier New" panose="02070309020205020404" pitchFamily="49" charset="0"/>
              </a:rPr>
              <a:t>, "B");</a:t>
            </a:r>
          </a:p>
          <a:p>
            <a:r>
              <a:rPr lang="en-US" sz="1600" dirty="0">
                <a:latin typeface="Courier New" panose="02070309020205020404" pitchFamily="49" charset="0"/>
                <a:cs typeface="Courier New" panose="02070309020205020404" pitchFamily="49" charset="0"/>
              </a:rPr>
              <a:t>    // join waits for the threads to finish</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pthread_join</a:t>
            </a:r>
            <a:r>
              <a:rPr lang="en-US" sz="1600" dirty="0">
                <a:latin typeface="Courier New" panose="02070309020205020404" pitchFamily="49" charset="0"/>
                <a:cs typeface="Courier New" panose="02070309020205020404" pitchFamily="49" charset="0"/>
              </a:rPr>
              <a:t>(T0, NULL);</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pthread_join</a:t>
            </a:r>
            <a:r>
              <a:rPr lang="en-US" sz="1600" dirty="0">
                <a:latin typeface="Courier New" panose="02070309020205020404" pitchFamily="49" charset="0"/>
                <a:cs typeface="Courier New" panose="02070309020205020404" pitchFamily="49" charset="0"/>
              </a:rPr>
              <a:t>(T1, NULL);</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printf</a:t>
            </a:r>
            <a:r>
              <a:rPr lang="en-US" sz="1600" dirty="0">
                <a:latin typeface="Courier New" panose="02070309020205020404" pitchFamily="49" charset="0"/>
                <a:cs typeface="Courier New" panose="02070309020205020404" pitchFamily="49" charset="0"/>
              </a:rPr>
              <a:t>("main: done with both (counter = %d)\n", counter);</a:t>
            </a:r>
          </a:p>
          <a:p>
            <a:r>
              <a:rPr lang="en-US" sz="1600" dirty="0">
                <a:latin typeface="Courier New" panose="02070309020205020404" pitchFamily="49" charset="0"/>
                <a:cs typeface="Courier New" panose="02070309020205020404" pitchFamily="49" charset="0"/>
              </a:rPr>
              <a:t>    return 0;</a:t>
            </a:r>
          </a:p>
          <a:p>
            <a:r>
              <a:rPr lang="en-US" sz="1600" dirty="0">
                <a:latin typeface="Courier New" panose="02070309020205020404" pitchFamily="49" charset="0"/>
                <a:cs typeface="Courier New" panose="02070309020205020404" pitchFamily="49" charset="0"/>
              </a:rPr>
              <a:t>}</a:t>
            </a:r>
          </a:p>
        </p:txBody>
      </p:sp>
      <p:sp>
        <p:nvSpPr>
          <p:cNvPr id="2" name="Title 1">
            <a:extLst>
              <a:ext uri="{FF2B5EF4-FFF2-40B4-BE49-F238E27FC236}">
                <a16:creationId xmlns:a16="http://schemas.microsoft.com/office/drawing/2014/main" id="{60BAE48C-925C-4835-83FF-4E6873DBEE90}"/>
              </a:ext>
            </a:extLst>
          </p:cNvPr>
          <p:cNvSpPr>
            <a:spLocks noGrp="1"/>
          </p:cNvSpPr>
          <p:nvPr>
            <p:ph type="title"/>
          </p:nvPr>
        </p:nvSpPr>
        <p:spPr>
          <a:xfrm>
            <a:off x="5693413" y="1676400"/>
            <a:ext cx="3276600" cy="1143000"/>
          </a:xfrm>
        </p:spPr>
        <p:txBody>
          <a:bodyPr>
            <a:noAutofit/>
          </a:bodyPr>
          <a:lstStyle/>
          <a:p>
            <a:pPr algn="r"/>
            <a:r>
              <a:rPr lang="en-US" sz="3600" dirty="0"/>
              <a:t>Recall The Code  </a:t>
            </a:r>
            <a:br>
              <a:rPr lang="en-US" sz="3600" dirty="0"/>
            </a:br>
            <a:r>
              <a:rPr lang="en-US" sz="3600" dirty="0"/>
              <a:t>From Last Week</a:t>
            </a:r>
          </a:p>
        </p:txBody>
      </p:sp>
    </p:spTree>
    <p:extLst>
      <p:ext uri="{BB962C8B-B14F-4D97-AF65-F5344CB8AC3E}">
        <p14:creationId xmlns:p14="http://schemas.microsoft.com/office/powerpoint/2010/main" val="3636975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Uncontrolled Scheduling</a:t>
            </a:r>
          </a:p>
        </p:txBody>
      </p:sp>
      <p:sp>
        <p:nvSpPr>
          <p:cNvPr id="3" name="Content Placeholder 2"/>
          <p:cNvSpPr>
            <a:spLocks noGrp="1"/>
          </p:cNvSpPr>
          <p:nvPr>
            <p:ph idx="1"/>
          </p:nvPr>
        </p:nvSpPr>
        <p:spPr>
          <a:xfrm>
            <a:off x="457200" y="1447800"/>
            <a:ext cx="8229600" cy="1412874"/>
          </a:xfrm>
        </p:spPr>
        <p:txBody>
          <a:bodyPr/>
          <a:lstStyle/>
          <a:p>
            <a:r>
              <a:rPr lang="en-US" altLang="en-US" sz="2400" dirty="0"/>
              <a:t>Accessing shared data needs careful control because of  the possible interleaving of threads</a:t>
            </a:r>
          </a:p>
          <a:p>
            <a:pPr lvl="1"/>
            <a:r>
              <a:rPr lang="en-US" altLang="en-US" sz="2200" dirty="0"/>
              <a:t>Two threads each increment a shared variable, </a:t>
            </a:r>
            <a:r>
              <a:rPr lang="en-US" altLang="en-US" sz="2200" b="1" dirty="0">
                <a:solidFill>
                  <a:srgbClr val="0033CC"/>
                </a:solidFill>
              </a:rPr>
              <a:t>counter</a:t>
            </a:r>
          </a:p>
          <a:p>
            <a:endParaRPr lang="en-US" dirty="0"/>
          </a:p>
        </p:txBody>
      </p:sp>
      <p:sp>
        <p:nvSpPr>
          <p:cNvPr id="4" name="Text Box 5"/>
          <p:cNvSpPr txBox="1">
            <a:spLocks noChangeArrowheads="1"/>
          </p:cNvSpPr>
          <p:nvPr/>
        </p:nvSpPr>
        <p:spPr bwMode="auto">
          <a:xfrm>
            <a:off x="2438400" y="2590800"/>
            <a:ext cx="43434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lg" len="lg"/>
                <a:tailEnd/>
              </a14:hiddenLine>
            </a:ext>
          </a:extLst>
        </p:spPr>
        <p:txBody>
          <a:bodyPr wrap="square">
            <a:spAutoFit/>
          </a:bodyPr>
          <a:lstStyle>
            <a:lvl1pPr>
              <a:spcBef>
                <a:spcPct val="20000"/>
              </a:spcBef>
              <a:buClr>
                <a:srgbClr val="4D4D4D"/>
              </a:buClr>
              <a:buSzPct val="80000"/>
              <a:buFont typeface="Marlett" pitchFamily="2" charset="2"/>
              <a:buChar char="n"/>
              <a:defRPr sz="2400" b="1">
                <a:solidFill>
                  <a:schemeClr val="accent2"/>
                </a:solidFill>
                <a:latin typeface="Comic Sans MS" pitchFamily="66" charset="0"/>
              </a:defRPr>
            </a:lvl1pPr>
            <a:lvl2pPr marL="742950" indent="-285750">
              <a:spcBef>
                <a:spcPct val="20000"/>
              </a:spcBef>
              <a:buClr>
                <a:srgbClr val="4D4D4D"/>
              </a:buClr>
              <a:buSzPct val="70000"/>
              <a:buFont typeface="Marlett" pitchFamily="2" charset="2"/>
              <a:buChar char="n"/>
              <a:defRPr sz="2200">
                <a:solidFill>
                  <a:schemeClr val="tx1"/>
                </a:solidFill>
                <a:latin typeface="Comic Sans MS" pitchFamily="66" charset="0"/>
              </a:defRPr>
            </a:lvl2pPr>
            <a:lvl3pPr marL="1143000" indent="-228600">
              <a:spcBef>
                <a:spcPct val="20000"/>
              </a:spcBef>
              <a:buClr>
                <a:srgbClr val="4D4D4D"/>
              </a:buClr>
              <a:buSzPct val="65000"/>
              <a:buFont typeface="Marlett" pitchFamily="2" charset="2"/>
              <a:buChar char="n"/>
              <a:defRPr sz="2000">
                <a:solidFill>
                  <a:schemeClr val="tx1"/>
                </a:solidFill>
                <a:latin typeface="Comic Sans MS" pitchFamily="66" charset="0"/>
              </a:defRPr>
            </a:lvl3pPr>
            <a:lvl4pPr marL="1600200" indent="-228600">
              <a:spcBef>
                <a:spcPct val="20000"/>
              </a:spcBef>
              <a:buChar char="–"/>
              <a:defRPr>
                <a:solidFill>
                  <a:schemeClr val="tx1"/>
                </a:solidFill>
                <a:latin typeface="Comic Sans MS" pitchFamily="66" charset="0"/>
              </a:defRPr>
            </a:lvl4pPr>
            <a:lvl5pPr marL="2057400" indent="-228600">
              <a:spcBef>
                <a:spcPct val="20000"/>
              </a:spcBef>
              <a:buChar char="»"/>
              <a:defRPr>
                <a:solidFill>
                  <a:schemeClr val="tx1"/>
                </a:solidFill>
                <a:latin typeface="Comic Sans MS" pitchFamily="66" charset="0"/>
              </a:defRPr>
            </a:lvl5pPr>
            <a:lvl6pPr marL="2514600" indent="-228600" eaLnBrk="0" fontAlgn="base" hangingPunct="0">
              <a:spcBef>
                <a:spcPct val="20000"/>
              </a:spcBef>
              <a:spcAft>
                <a:spcPct val="0"/>
              </a:spcAft>
              <a:buChar char="»"/>
              <a:defRPr>
                <a:solidFill>
                  <a:schemeClr val="tx1"/>
                </a:solidFill>
                <a:latin typeface="Comic Sans MS" pitchFamily="66" charset="0"/>
              </a:defRPr>
            </a:lvl6pPr>
            <a:lvl7pPr marL="2971800" indent="-228600" eaLnBrk="0" fontAlgn="base" hangingPunct="0">
              <a:spcBef>
                <a:spcPct val="20000"/>
              </a:spcBef>
              <a:spcAft>
                <a:spcPct val="0"/>
              </a:spcAft>
              <a:buChar char="»"/>
              <a:defRPr>
                <a:solidFill>
                  <a:schemeClr val="tx1"/>
                </a:solidFill>
                <a:latin typeface="Comic Sans MS" pitchFamily="66" charset="0"/>
              </a:defRPr>
            </a:lvl7pPr>
            <a:lvl8pPr marL="3429000" indent="-228600" eaLnBrk="0" fontAlgn="base" hangingPunct="0">
              <a:spcBef>
                <a:spcPct val="20000"/>
              </a:spcBef>
              <a:spcAft>
                <a:spcPct val="0"/>
              </a:spcAft>
              <a:buChar char="»"/>
              <a:defRPr>
                <a:solidFill>
                  <a:schemeClr val="tx1"/>
                </a:solidFill>
                <a:latin typeface="Comic Sans MS" pitchFamily="66" charset="0"/>
              </a:defRPr>
            </a:lvl8pPr>
            <a:lvl9pPr marL="3886200" indent="-228600" eaLnBrk="0" fontAlgn="base" hangingPunct="0">
              <a:spcBef>
                <a:spcPct val="20000"/>
              </a:spcBef>
              <a:spcAft>
                <a:spcPct val="0"/>
              </a:spcAft>
              <a:buChar char="»"/>
              <a:defRPr>
                <a:solidFill>
                  <a:schemeClr val="tx1"/>
                </a:solidFill>
                <a:latin typeface="Comic Sans MS" pitchFamily="66" charset="0"/>
              </a:defRPr>
            </a:lvl9pPr>
          </a:lstStyle>
          <a:p>
            <a:pPr eaLnBrk="0" fontAlgn="base" hangingPunct="0">
              <a:spcBef>
                <a:spcPct val="0"/>
              </a:spcBef>
              <a:spcAft>
                <a:spcPct val="0"/>
              </a:spcAft>
              <a:buClrTx/>
              <a:buSzTx/>
              <a:buFontTx/>
              <a:buNone/>
            </a:pPr>
            <a:r>
              <a:rPr lang="en-US" altLang="en-US" sz="2000" dirty="0">
                <a:solidFill>
                  <a:srgbClr val="CC3300"/>
                </a:solidFill>
                <a:latin typeface="+mn-lt"/>
                <a:cs typeface="Arial" panose="020B0604020202020204" pitchFamily="34" charset="0"/>
              </a:rPr>
              <a:t>Thread 1</a:t>
            </a:r>
            <a:r>
              <a:rPr lang="en-US" altLang="en-US" sz="2000" b="0" dirty="0">
                <a:solidFill>
                  <a:srgbClr val="000000"/>
                </a:solidFill>
                <a:latin typeface="+mn-lt"/>
                <a:cs typeface="Arial" panose="020B0604020202020204" pitchFamily="34" charset="0"/>
              </a:rPr>
              <a:t> 		</a:t>
            </a:r>
            <a:r>
              <a:rPr lang="en-US" altLang="en-US" sz="2000" dirty="0">
                <a:solidFill>
                  <a:srgbClr val="CC3300"/>
                </a:solidFill>
                <a:latin typeface="+mn-lt"/>
                <a:cs typeface="Arial" panose="020B0604020202020204" pitchFamily="34" charset="0"/>
              </a:rPr>
              <a:t>Thread 2</a:t>
            </a:r>
          </a:p>
          <a:p>
            <a:pPr eaLnBrk="0" fontAlgn="base" hangingPunct="0">
              <a:spcBef>
                <a:spcPct val="0"/>
              </a:spcBef>
              <a:spcAft>
                <a:spcPct val="0"/>
              </a:spcAft>
              <a:buClrTx/>
              <a:buSzTx/>
              <a:buFontTx/>
              <a:buNone/>
            </a:pPr>
            <a:r>
              <a:rPr lang="en-US" altLang="en-US" sz="2000" b="0" dirty="0">
                <a:solidFill>
                  <a:srgbClr val="000000"/>
                </a:solidFill>
                <a:latin typeface="+mn-lt"/>
                <a:cs typeface="Arial" panose="020B0604020202020204" pitchFamily="34" charset="0"/>
              </a:rPr>
              <a:t>load counter		load counter</a:t>
            </a:r>
          </a:p>
          <a:p>
            <a:pPr eaLnBrk="0" fontAlgn="base" hangingPunct="0">
              <a:spcBef>
                <a:spcPct val="0"/>
              </a:spcBef>
              <a:spcAft>
                <a:spcPct val="0"/>
              </a:spcAft>
              <a:buClrTx/>
              <a:buSzTx/>
              <a:buFontTx/>
              <a:buNone/>
            </a:pPr>
            <a:r>
              <a:rPr lang="en-US" altLang="en-US" sz="2000" b="0" dirty="0">
                <a:solidFill>
                  <a:srgbClr val="000000"/>
                </a:solidFill>
                <a:latin typeface="+mn-lt"/>
                <a:cs typeface="Arial" panose="020B0604020202020204" pitchFamily="34" charset="0"/>
              </a:rPr>
              <a:t>add 1 			add 1</a:t>
            </a:r>
          </a:p>
          <a:p>
            <a:pPr eaLnBrk="0" fontAlgn="base" hangingPunct="0">
              <a:spcBef>
                <a:spcPct val="0"/>
              </a:spcBef>
              <a:spcAft>
                <a:spcPct val="0"/>
              </a:spcAft>
              <a:buClrTx/>
              <a:buSzTx/>
              <a:buFontTx/>
              <a:buNone/>
            </a:pPr>
            <a:r>
              <a:rPr lang="en-US" altLang="en-US" sz="2000" b="0" dirty="0">
                <a:solidFill>
                  <a:srgbClr val="000000"/>
                </a:solidFill>
                <a:latin typeface="+mn-lt"/>
                <a:cs typeface="Arial" panose="020B0604020202020204" pitchFamily="34" charset="0"/>
              </a:rPr>
              <a:t>store counter 		store counter</a:t>
            </a:r>
          </a:p>
          <a:p>
            <a:pPr eaLnBrk="0" fontAlgn="base" hangingPunct="0">
              <a:spcBef>
                <a:spcPct val="0"/>
              </a:spcBef>
              <a:spcAft>
                <a:spcPct val="0"/>
              </a:spcAft>
              <a:buClrTx/>
              <a:buSzTx/>
              <a:buFontTx/>
              <a:buNone/>
            </a:pPr>
            <a:endParaRPr lang="en-US" altLang="en-US" sz="2000" b="0" dirty="0">
              <a:solidFill>
                <a:srgbClr val="000000"/>
              </a:solidFill>
              <a:latin typeface="+mn-lt"/>
              <a:cs typeface="Arial" panose="020B0604020202020204" pitchFamily="34" charset="0"/>
            </a:endParaRPr>
          </a:p>
          <a:p>
            <a:pPr eaLnBrk="0" fontAlgn="base" hangingPunct="0">
              <a:spcBef>
                <a:spcPct val="0"/>
              </a:spcBef>
              <a:spcAft>
                <a:spcPct val="0"/>
              </a:spcAft>
              <a:buClrTx/>
              <a:buSzTx/>
              <a:buFontTx/>
              <a:buNone/>
            </a:pPr>
            <a:r>
              <a:rPr lang="en-US" altLang="en-US" sz="2000" dirty="0">
                <a:solidFill>
                  <a:srgbClr val="3333CC"/>
                </a:solidFill>
                <a:latin typeface="+mn-lt"/>
                <a:cs typeface="Arial" panose="020B0604020202020204" pitchFamily="34" charset="0"/>
              </a:rPr>
              <a:t>Many possible </a:t>
            </a:r>
            <a:r>
              <a:rPr lang="en-US" altLang="en-US" sz="2000" dirty="0" err="1">
                <a:solidFill>
                  <a:srgbClr val="3333CC"/>
                </a:solidFill>
                <a:latin typeface="+mn-lt"/>
                <a:cs typeface="Arial" panose="020B0604020202020204" pitchFamily="34" charset="0"/>
              </a:rPr>
              <a:t>interleavings</a:t>
            </a:r>
            <a:r>
              <a:rPr lang="en-US" altLang="en-US" sz="2000" dirty="0">
                <a:solidFill>
                  <a:srgbClr val="3333CC"/>
                </a:solidFill>
                <a:latin typeface="+mn-lt"/>
                <a:cs typeface="Arial" panose="020B0604020202020204" pitchFamily="34" charset="0"/>
              </a:rPr>
              <a:t>, including:</a:t>
            </a:r>
            <a:r>
              <a:rPr lang="en-US" altLang="en-US" sz="2000" dirty="0">
                <a:solidFill>
                  <a:srgbClr val="CC3300"/>
                </a:solidFill>
                <a:latin typeface="+mn-lt"/>
                <a:cs typeface="Arial" panose="020B0604020202020204" pitchFamily="34" charset="0"/>
              </a:rPr>
              <a:t>   </a:t>
            </a:r>
          </a:p>
          <a:p>
            <a:pPr eaLnBrk="0" fontAlgn="base" hangingPunct="0">
              <a:spcBef>
                <a:spcPct val="0"/>
              </a:spcBef>
              <a:spcAft>
                <a:spcPct val="0"/>
              </a:spcAft>
              <a:buClrTx/>
              <a:buSzTx/>
              <a:buFontTx/>
              <a:buNone/>
            </a:pPr>
            <a:r>
              <a:rPr lang="en-US" altLang="en-US" sz="2000" b="0" dirty="0">
                <a:solidFill>
                  <a:srgbClr val="000000"/>
                </a:solidFill>
                <a:latin typeface="+mn-lt"/>
                <a:cs typeface="Arial" panose="020B0604020202020204" pitchFamily="34" charset="0"/>
              </a:rPr>
              <a:t>load counter</a:t>
            </a:r>
          </a:p>
          <a:p>
            <a:pPr eaLnBrk="0" fontAlgn="base" hangingPunct="0">
              <a:spcBef>
                <a:spcPct val="0"/>
              </a:spcBef>
              <a:spcAft>
                <a:spcPct val="0"/>
              </a:spcAft>
              <a:buClrTx/>
              <a:buSzTx/>
              <a:buFontTx/>
              <a:buNone/>
            </a:pPr>
            <a:r>
              <a:rPr lang="en-US" altLang="en-US" sz="2000" b="0" dirty="0">
                <a:solidFill>
                  <a:srgbClr val="000000"/>
                </a:solidFill>
                <a:latin typeface="+mn-lt"/>
                <a:cs typeface="Arial" panose="020B0604020202020204" pitchFamily="34" charset="0"/>
              </a:rPr>
              <a:t>add 1</a:t>
            </a:r>
          </a:p>
          <a:p>
            <a:pPr eaLnBrk="0" fontAlgn="base" hangingPunct="0">
              <a:spcBef>
                <a:spcPct val="0"/>
              </a:spcBef>
              <a:spcAft>
                <a:spcPct val="0"/>
              </a:spcAft>
              <a:buClrTx/>
              <a:buSzTx/>
              <a:buFontTx/>
              <a:buNone/>
            </a:pPr>
            <a:r>
              <a:rPr lang="en-US" altLang="en-US" sz="2000" b="0" dirty="0">
                <a:solidFill>
                  <a:srgbClr val="000000"/>
                </a:solidFill>
                <a:latin typeface="+mn-lt"/>
                <a:cs typeface="Arial" panose="020B0604020202020204" pitchFamily="34" charset="0"/>
              </a:rPr>
              <a:t>			load counter</a:t>
            </a:r>
          </a:p>
          <a:p>
            <a:pPr eaLnBrk="0" fontAlgn="base" hangingPunct="0">
              <a:spcBef>
                <a:spcPct val="0"/>
              </a:spcBef>
              <a:spcAft>
                <a:spcPct val="0"/>
              </a:spcAft>
              <a:buClrTx/>
              <a:buSzTx/>
              <a:buFontTx/>
              <a:buNone/>
            </a:pPr>
            <a:r>
              <a:rPr lang="en-US" altLang="en-US" sz="2000" b="0" dirty="0">
                <a:solidFill>
                  <a:srgbClr val="000000"/>
                </a:solidFill>
                <a:latin typeface="+mn-lt"/>
                <a:cs typeface="Arial" panose="020B0604020202020204" pitchFamily="34" charset="0"/>
              </a:rPr>
              <a:t>store counter</a:t>
            </a:r>
          </a:p>
          <a:p>
            <a:pPr eaLnBrk="0" fontAlgn="base" hangingPunct="0">
              <a:spcBef>
                <a:spcPct val="0"/>
              </a:spcBef>
              <a:spcAft>
                <a:spcPct val="0"/>
              </a:spcAft>
              <a:buClrTx/>
              <a:buSzTx/>
              <a:buFontTx/>
              <a:buNone/>
            </a:pPr>
            <a:r>
              <a:rPr lang="en-US" altLang="en-US" sz="2000" b="0" dirty="0">
                <a:solidFill>
                  <a:srgbClr val="000000"/>
                </a:solidFill>
                <a:latin typeface="+mn-lt"/>
                <a:cs typeface="Arial" panose="020B0604020202020204" pitchFamily="34" charset="0"/>
              </a:rPr>
              <a:t>			add 1</a:t>
            </a:r>
          </a:p>
          <a:p>
            <a:pPr eaLnBrk="0" fontAlgn="base" hangingPunct="0">
              <a:spcBef>
                <a:spcPct val="0"/>
              </a:spcBef>
              <a:spcAft>
                <a:spcPct val="0"/>
              </a:spcAft>
              <a:buClrTx/>
              <a:buSzTx/>
              <a:buFontTx/>
              <a:buNone/>
            </a:pPr>
            <a:r>
              <a:rPr lang="en-US" altLang="en-US" sz="2000" b="0" dirty="0">
                <a:solidFill>
                  <a:srgbClr val="000000"/>
                </a:solidFill>
                <a:latin typeface="+mn-lt"/>
                <a:cs typeface="Arial" panose="020B0604020202020204" pitchFamily="34" charset="0"/>
              </a:rPr>
              <a:t>			store counter</a:t>
            </a:r>
          </a:p>
        </p:txBody>
      </p:sp>
      <p:sp>
        <p:nvSpPr>
          <p:cNvPr id="5" name="Text Box 6"/>
          <p:cNvSpPr txBox="1">
            <a:spLocks noChangeArrowheads="1"/>
          </p:cNvSpPr>
          <p:nvPr/>
        </p:nvSpPr>
        <p:spPr bwMode="auto">
          <a:xfrm>
            <a:off x="7010400" y="5775325"/>
            <a:ext cx="152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lg" len="lg"/>
                <a:tailEnd/>
              </a14:hiddenLine>
            </a:ext>
          </a:extLst>
        </p:spPr>
        <p:txBody>
          <a:bodyPr wrap="square">
            <a:spAutoFit/>
          </a:bodyPr>
          <a:lstStyle>
            <a:lvl1pPr>
              <a:spcBef>
                <a:spcPct val="20000"/>
              </a:spcBef>
              <a:buClr>
                <a:srgbClr val="4D4D4D"/>
              </a:buClr>
              <a:buSzPct val="80000"/>
              <a:buFont typeface="Marlett" pitchFamily="2" charset="2"/>
              <a:buChar char="n"/>
              <a:defRPr sz="2400" b="1">
                <a:solidFill>
                  <a:schemeClr val="accent2"/>
                </a:solidFill>
                <a:latin typeface="Comic Sans MS" pitchFamily="66" charset="0"/>
              </a:defRPr>
            </a:lvl1pPr>
            <a:lvl2pPr marL="742950" indent="-285750">
              <a:spcBef>
                <a:spcPct val="20000"/>
              </a:spcBef>
              <a:buClr>
                <a:srgbClr val="4D4D4D"/>
              </a:buClr>
              <a:buSzPct val="70000"/>
              <a:buFont typeface="Marlett" pitchFamily="2" charset="2"/>
              <a:buChar char="n"/>
              <a:defRPr sz="2200">
                <a:solidFill>
                  <a:schemeClr val="tx1"/>
                </a:solidFill>
                <a:latin typeface="Comic Sans MS" pitchFamily="66" charset="0"/>
              </a:defRPr>
            </a:lvl2pPr>
            <a:lvl3pPr marL="1143000" indent="-228600">
              <a:spcBef>
                <a:spcPct val="20000"/>
              </a:spcBef>
              <a:buClr>
                <a:srgbClr val="4D4D4D"/>
              </a:buClr>
              <a:buSzPct val="65000"/>
              <a:buFont typeface="Marlett" pitchFamily="2" charset="2"/>
              <a:buChar char="n"/>
              <a:defRPr sz="2000">
                <a:solidFill>
                  <a:schemeClr val="tx1"/>
                </a:solidFill>
                <a:latin typeface="Comic Sans MS" pitchFamily="66" charset="0"/>
              </a:defRPr>
            </a:lvl3pPr>
            <a:lvl4pPr marL="1600200" indent="-228600">
              <a:spcBef>
                <a:spcPct val="20000"/>
              </a:spcBef>
              <a:buChar char="–"/>
              <a:defRPr>
                <a:solidFill>
                  <a:schemeClr val="tx1"/>
                </a:solidFill>
                <a:latin typeface="Comic Sans MS" pitchFamily="66" charset="0"/>
              </a:defRPr>
            </a:lvl4pPr>
            <a:lvl5pPr marL="2057400" indent="-228600">
              <a:spcBef>
                <a:spcPct val="20000"/>
              </a:spcBef>
              <a:buChar char="»"/>
              <a:defRPr>
                <a:solidFill>
                  <a:schemeClr val="tx1"/>
                </a:solidFill>
                <a:latin typeface="Comic Sans MS" pitchFamily="66" charset="0"/>
              </a:defRPr>
            </a:lvl5pPr>
            <a:lvl6pPr marL="2514600" indent="-228600" eaLnBrk="0" fontAlgn="base" hangingPunct="0">
              <a:spcBef>
                <a:spcPct val="20000"/>
              </a:spcBef>
              <a:spcAft>
                <a:spcPct val="0"/>
              </a:spcAft>
              <a:buChar char="»"/>
              <a:defRPr>
                <a:solidFill>
                  <a:schemeClr val="tx1"/>
                </a:solidFill>
                <a:latin typeface="Comic Sans MS" pitchFamily="66" charset="0"/>
              </a:defRPr>
            </a:lvl6pPr>
            <a:lvl7pPr marL="2971800" indent="-228600" eaLnBrk="0" fontAlgn="base" hangingPunct="0">
              <a:spcBef>
                <a:spcPct val="20000"/>
              </a:spcBef>
              <a:spcAft>
                <a:spcPct val="0"/>
              </a:spcAft>
              <a:buChar char="»"/>
              <a:defRPr>
                <a:solidFill>
                  <a:schemeClr val="tx1"/>
                </a:solidFill>
                <a:latin typeface="Comic Sans MS" pitchFamily="66" charset="0"/>
              </a:defRPr>
            </a:lvl7pPr>
            <a:lvl8pPr marL="3429000" indent="-228600" eaLnBrk="0" fontAlgn="base" hangingPunct="0">
              <a:spcBef>
                <a:spcPct val="20000"/>
              </a:spcBef>
              <a:spcAft>
                <a:spcPct val="0"/>
              </a:spcAft>
              <a:buChar char="»"/>
              <a:defRPr>
                <a:solidFill>
                  <a:schemeClr val="tx1"/>
                </a:solidFill>
                <a:latin typeface="Comic Sans MS" pitchFamily="66" charset="0"/>
              </a:defRPr>
            </a:lvl8pPr>
            <a:lvl9pPr marL="3886200" indent="-228600" eaLnBrk="0" fontAlgn="base" hangingPunct="0">
              <a:spcBef>
                <a:spcPct val="20000"/>
              </a:spcBef>
              <a:spcAft>
                <a:spcPct val="0"/>
              </a:spcAft>
              <a:buChar char="»"/>
              <a:defRPr>
                <a:solidFill>
                  <a:schemeClr val="tx1"/>
                </a:solidFill>
                <a:latin typeface="Comic Sans MS" pitchFamily="66" charset="0"/>
              </a:defRPr>
            </a:lvl9pPr>
          </a:lstStyle>
          <a:p>
            <a:pPr eaLnBrk="0" fontAlgn="base" hangingPunct="0">
              <a:spcBef>
                <a:spcPct val="50000"/>
              </a:spcBef>
              <a:spcAft>
                <a:spcPct val="0"/>
              </a:spcAft>
              <a:buClrTx/>
              <a:buSzTx/>
              <a:buFontTx/>
              <a:buNone/>
            </a:pPr>
            <a:r>
              <a:rPr lang="en-US" altLang="en-US" sz="2200" dirty="0">
                <a:solidFill>
                  <a:srgbClr val="CC3300"/>
                </a:solidFill>
                <a:latin typeface="+mn-lt"/>
              </a:rPr>
              <a:t>Incorrect answer !!</a:t>
            </a:r>
          </a:p>
        </p:txBody>
      </p:sp>
    </p:spTree>
    <p:extLst>
      <p:ext uri="{BB962C8B-B14F-4D97-AF65-F5344CB8AC3E}">
        <p14:creationId xmlns:p14="http://schemas.microsoft.com/office/powerpoint/2010/main" val="35868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Interrupts</a:t>
            </a:r>
            <a:endParaRPr lang="th-TH" dirty="0"/>
          </a:p>
        </p:txBody>
      </p:sp>
      <p:sp>
        <p:nvSpPr>
          <p:cNvPr id="3" name="Content Placeholder 2"/>
          <p:cNvSpPr>
            <a:spLocks noGrp="1"/>
          </p:cNvSpPr>
          <p:nvPr>
            <p:ph idx="1"/>
          </p:nvPr>
        </p:nvSpPr>
        <p:spPr>
          <a:xfrm>
            <a:off x="457200" y="1371600"/>
            <a:ext cx="8458200" cy="4876800"/>
          </a:xfrm>
        </p:spPr>
        <p:txBody>
          <a:bodyPr>
            <a:normAutofit lnSpcReduction="10000"/>
          </a:bodyPr>
          <a:lstStyle/>
          <a:p>
            <a:pPr>
              <a:lnSpc>
                <a:spcPct val="110000"/>
              </a:lnSpc>
            </a:pPr>
            <a:r>
              <a:rPr lang="en-US" sz="2700" dirty="0"/>
              <a:t>This was an early approach to implementing locks  </a:t>
            </a:r>
          </a:p>
          <a:p>
            <a:pPr lvl="1">
              <a:lnSpc>
                <a:spcPct val="110000"/>
              </a:lnSpc>
            </a:pPr>
            <a:r>
              <a:rPr lang="en-US" sz="2400" dirty="0"/>
              <a:t>The OS ensures code inside the critical section </a:t>
            </a:r>
            <a:r>
              <a:rPr lang="en-US" sz="2400" dirty="0">
                <a:solidFill>
                  <a:srgbClr val="FF0000"/>
                </a:solidFill>
              </a:rPr>
              <a:t>is not interrupted</a:t>
            </a:r>
            <a:r>
              <a:rPr lang="en-US" sz="2400" dirty="0"/>
              <a:t>, and thus executes as if it were atomic</a:t>
            </a:r>
          </a:p>
          <a:p>
            <a:pPr lvl="1">
              <a:lnSpc>
                <a:spcPct val="110000"/>
              </a:lnSpc>
            </a:pPr>
            <a:r>
              <a:rPr lang="en-US" sz="2200" dirty="0">
                <a:latin typeface="Courier New" panose="02070309020205020404" pitchFamily="49" charset="0"/>
                <a:cs typeface="Courier New" panose="02070309020205020404" pitchFamily="49" charset="0"/>
              </a:rPr>
              <a:t>void lock() { </a:t>
            </a:r>
            <a:r>
              <a:rPr lang="en-US" sz="2200" dirty="0" err="1">
                <a:latin typeface="Courier New" panose="02070309020205020404" pitchFamily="49" charset="0"/>
                <a:cs typeface="Courier New" panose="02070309020205020404" pitchFamily="49" charset="0"/>
              </a:rPr>
              <a:t>disableInterrupts</a:t>
            </a:r>
            <a:r>
              <a:rPr lang="en-US" sz="2200" dirty="0">
                <a:latin typeface="Courier New" panose="02070309020205020404" pitchFamily="49" charset="0"/>
                <a:cs typeface="Courier New" panose="02070309020205020404" pitchFamily="49" charset="0"/>
              </a:rPr>
              <a:t>(); }</a:t>
            </a:r>
          </a:p>
          <a:p>
            <a:pPr lvl="1">
              <a:lnSpc>
                <a:spcPct val="110000"/>
              </a:lnSpc>
            </a:pPr>
            <a:r>
              <a:rPr lang="en-US" sz="2200" dirty="0">
                <a:latin typeface="Courier New" panose="02070309020205020404" pitchFamily="49" charset="0"/>
                <a:cs typeface="Courier New" panose="02070309020205020404" pitchFamily="49" charset="0"/>
              </a:rPr>
              <a:t>void unlock() { </a:t>
            </a:r>
            <a:r>
              <a:rPr lang="en-US" sz="2200" dirty="0" err="1">
                <a:latin typeface="Courier New" panose="02070309020205020404" pitchFamily="49" charset="0"/>
                <a:cs typeface="Courier New" panose="02070309020205020404" pitchFamily="49" charset="0"/>
              </a:rPr>
              <a:t>enableInterrupts</a:t>
            </a:r>
            <a:r>
              <a:rPr lang="en-US" sz="2200" dirty="0">
                <a:latin typeface="Courier New" panose="02070309020205020404" pitchFamily="49" charset="0"/>
                <a:cs typeface="Courier New" panose="02070309020205020404" pitchFamily="49" charset="0"/>
              </a:rPr>
              <a:t>(); }</a:t>
            </a:r>
          </a:p>
          <a:p>
            <a:pPr>
              <a:lnSpc>
                <a:spcPct val="110000"/>
              </a:lnSpc>
            </a:pPr>
            <a:r>
              <a:rPr lang="en-US" sz="2700" dirty="0"/>
              <a:t>This is a simple approach but has many disadvantages</a:t>
            </a:r>
          </a:p>
          <a:p>
            <a:pPr lvl="1">
              <a:lnSpc>
                <a:spcPct val="110000"/>
              </a:lnSpc>
            </a:pPr>
            <a:r>
              <a:rPr lang="en-US" sz="2400" dirty="0"/>
              <a:t>It allows any thread to perform a privileged operation (turning interrupts on and off) which is very risky – the thread </a:t>
            </a:r>
            <a:r>
              <a:rPr lang="en-US" sz="2400" dirty="0">
                <a:solidFill>
                  <a:srgbClr val="FF0000"/>
                </a:solidFill>
              </a:rPr>
              <a:t>may not enable interrupts again</a:t>
            </a:r>
          </a:p>
          <a:p>
            <a:pPr lvl="1">
              <a:lnSpc>
                <a:spcPct val="110000"/>
              </a:lnSpc>
            </a:pPr>
            <a:r>
              <a:rPr lang="en-US" sz="2400" dirty="0"/>
              <a:t>The approach does </a:t>
            </a:r>
            <a:r>
              <a:rPr lang="en-US" sz="2400" dirty="0">
                <a:solidFill>
                  <a:srgbClr val="FF0000"/>
                </a:solidFill>
              </a:rPr>
              <a:t>not work on multi-core </a:t>
            </a:r>
            <a:r>
              <a:rPr lang="en-US" sz="2400" dirty="0"/>
              <a:t>or multiprocessors</a:t>
            </a:r>
          </a:p>
          <a:p>
            <a:pPr lvl="1">
              <a:lnSpc>
                <a:spcPct val="110000"/>
              </a:lnSpc>
            </a:pPr>
            <a:endParaRPr lang="en-US" dirty="0"/>
          </a:p>
          <a:p>
            <a:pPr lvl="1"/>
            <a:endParaRPr lang="th-TH" dirty="0"/>
          </a:p>
        </p:txBody>
      </p:sp>
    </p:spTree>
    <p:extLst>
      <p:ext uri="{BB962C8B-B14F-4D97-AF65-F5344CB8AC3E}">
        <p14:creationId xmlns:p14="http://schemas.microsoft.com/office/powerpoint/2010/main" val="560549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Test and Set</a:t>
            </a:r>
            <a:endParaRPr lang="th-TH" dirty="0"/>
          </a:p>
        </p:txBody>
      </p:sp>
      <p:sp>
        <p:nvSpPr>
          <p:cNvPr id="6" name="Content Placeholder 5"/>
          <p:cNvSpPr>
            <a:spLocks noGrp="1"/>
          </p:cNvSpPr>
          <p:nvPr>
            <p:ph idx="1"/>
          </p:nvPr>
        </p:nvSpPr>
        <p:spPr>
          <a:xfrm>
            <a:off x="457200" y="1219200"/>
            <a:ext cx="8458200" cy="4525963"/>
          </a:xfrm>
        </p:spPr>
        <p:txBody>
          <a:bodyPr>
            <a:normAutofit/>
          </a:bodyPr>
          <a:lstStyle/>
          <a:p>
            <a:r>
              <a:rPr lang="en-US" sz="2800" dirty="0"/>
              <a:t>A </a:t>
            </a:r>
            <a:r>
              <a:rPr lang="en-US" sz="2800" dirty="0">
                <a:solidFill>
                  <a:srgbClr val="C00000"/>
                </a:solidFill>
              </a:rPr>
              <a:t>purely software </a:t>
            </a:r>
            <a:r>
              <a:rPr lang="en-US" sz="2800" dirty="0"/>
              <a:t>attempt at implementing a lock</a:t>
            </a:r>
          </a:p>
        </p:txBody>
      </p:sp>
      <p:sp>
        <p:nvSpPr>
          <p:cNvPr id="4" name="TextBox 3"/>
          <p:cNvSpPr txBox="1"/>
          <p:nvPr/>
        </p:nvSpPr>
        <p:spPr>
          <a:xfrm>
            <a:off x="838200" y="5953780"/>
            <a:ext cx="6899261" cy="523220"/>
          </a:xfrm>
          <a:prstGeom prst="rect">
            <a:avLst/>
          </a:prstGeom>
          <a:noFill/>
        </p:spPr>
        <p:txBody>
          <a:bodyPr wrap="none" rtlCol="0">
            <a:spAutoFit/>
          </a:bodyPr>
          <a:lstStyle/>
          <a:p>
            <a:r>
              <a:rPr lang="en-US" sz="2800" dirty="0">
                <a:solidFill>
                  <a:srgbClr val="CC3300"/>
                </a:solidFill>
              </a:rPr>
              <a:t>What about Correctness and Performance ???</a:t>
            </a:r>
            <a:endParaRPr lang="th-TH" sz="2800" dirty="0">
              <a:solidFill>
                <a:srgbClr val="CC3300"/>
              </a:solidFill>
            </a:endParaRPr>
          </a:p>
        </p:txBody>
      </p:sp>
      <p:sp>
        <p:nvSpPr>
          <p:cNvPr id="5" name="TextBox 4"/>
          <p:cNvSpPr txBox="1"/>
          <p:nvPr/>
        </p:nvSpPr>
        <p:spPr>
          <a:xfrm>
            <a:off x="840179" y="1772483"/>
            <a:ext cx="8151421" cy="4247317"/>
          </a:xfrm>
          <a:prstGeom prst="rect">
            <a:avLst/>
          </a:prstGeom>
          <a:noFill/>
        </p:spPr>
        <p:txBody>
          <a:bodyPr wrap="square" rtlCol="0">
            <a:spAutoFit/>
          </a:bodyPr>
          <a:lstStyle/>
          <a:p>
            <a:r>
              <a:rPr lang="en-US" dirty="0" err="1">
                <a:latin typeface="Courier New" panose="02070309020205020404" pitchFamily="49" charset="0"/>
                <a:cs typeface="Courier New" panose="02070309020205020404" pitchFamily="49" charset="0"/>
              </a:rPr>
              <a:t>typedef</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struct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flag; } </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void </a:t>
            </a:r>
            <a:r>
              <a:rPr lang="en-US" dirty="0" err="1">
                <a:latin typeface="Courier New" panose="02070309020205020404" pitchFamily="49" charset="0"/>
                <a:cs typeface="Courier New" panose="02070309020205020404" pitchFamily="49" charset="0"/>
              </a:rPr>
              <a:t>init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mutex</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 0 -&gt; lock is available, 1 -&gt; held</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mutex</a:t>
            </a:r>
            <a:r>
              <a:rPr lang="en-US" dirty="0">
                <a:latin typeface="Courier New" panose="02070309020205020404" pitchFamily="49" charset="0"/>
                <a:cs typeface="Courier New" panose="02070309020205020404" pitchFamily="49" charset="0"/>
              </a:rPr>
              <a:t>-&gt;flag = 0;</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void lock(</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mutex</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while (</a:t>
            </a:r>
            <a:r>
              <a:rPr lang="en-US" dirty="0" err="1">
                <a:latin typeface="Courier New" panose="02070309020205020404" pitchFamily="49" charset="0"/>
                <a:cs typeface="Courier New" panose="02070309020205020404" pitchFamily="49" charset="0"/>
              </a:rPr>
              <a:t>mutex</a:t>
            </a:r>
            <a:r>
              <a:rPr lang="en-US" dirty="0">
                <a:latin typeface="Courier New" panose="02070309020205020404" pitchFamily="49" charset="0"/>
                <a:cs typeface="Courier New" panose="02070309020205020404" pitchFamily="49" charset="0"/>
              </a:rPr>
              <a:t>-&gt;flag == 1); // </a:t>
            </a:r>
            <a:r>
              <a:rPr lang="en-US" dirty="0">
                <a:solidFill>
                  <a:srgbClr val="FF0000"/>
                </a:solidFill>
                <a:latin typeface="Courier New" panose="02070309020205020404" pitchFamily="49" charset="0"/>
                <a:cs typeface="Courier New" panose="02070309020205020404" pitchFamily="49" charset="0"/>
              </a:rPr>
              <a:t>TEST</a:t>
            </a:r>
            <a:r>
              <a:rPr lang="en-US" dirty="0">
                <a:latin typeface="Courier New" panose="02070309020205020404" pitchFamily="49" charset="0"/>
                <a:cs typeface="Courier New" panose="02070309020205020404" pitchFamily="49" charset="0"/>
              </a:rPr>
              <a:t> flag and spin-wait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mutex</a:t>
            </a:r>
            <a:r>
              <a:rPr lang="en-US" dirty="0">
                <a:latin typeface="Courier New" panose="02070309020205020404" pitchFamily="49" charset="0"/>
                <a:cs typeface="Courier New" panose="02070309020205020404" pitchFamily="49" charset="0"/>
              </a:rPr>
              <a:t>-&gt;flag = 1;	// now </a:t>
            </a:r>
            <a:r>
              <a:rPr lang="en-US" dirty="0">
                <a:solidFill>
                  <a:srgbClr val="FF0000"/>
                </a:solidFill>
                <a:latin typeface="Courier New" panose="02070309020205020404" pitchFamily="49" charset="0"/>
                <a:cs typeface="Courier New" panose="02070309020205020404" pitchFamily="49" charset="0"/>
              </a:rPr>
              <a:t>SET</a:t>
            </a:r>
            <a:r>
              <a:rPr lang="en-US" dirty="0">
                <a:latin typeface="Courier New" panose="02070309020205020404" pitchFamily="49" charset="0"/>
                <a:cs typeface="Courier New" panose="02070309020205020404" pitchFamily="49" charset="0"/>
              </a:rPr>
              <a:t> it!</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void unlock(</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mutex</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mutex</a:t>
            </a:r>
            <a:r>
              <a:rPr lang="en-US" dirty="0">
                <a:latin typeface="Courier New" panose="02070309020205020404" pitchFamily="49" charset="0"/>
                <a:cs typeface="Courier New" panose="02070309020205020404" pitchFamily="49" charset="0"/>
              </a:rPr>
              <a:t>-&gt;flag = 0;</a:t>
            </a:r>
          </a:p>
          <a:p>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13695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EFBB-787D-457B-9DBD-482C4E98C86B}"/>
              </a:ext>
            </a:extLst>
          </p:cNvPr>
          <p:cNvSpPr>
            <a:spLocks noGrp="1"/>
          </p:cNvSpPr>
          <p:nvPr>
            <p:ph type="title"/>
          </p:nvPr>
        </p:nvSpPr>
        <p:spPr>
          <a:xfrm>
            <a:off x="457200" y="178607"/>
            <a:ext cx="8229600" cy="715962"/>
          </a:xfrm>
        </p:spPr>
        <p:txBody>
          <a:bodyPr>
            <a:normAutofit fontScale="90000"/>
          </a:bodyPr>
          <a:lstStyle/>
          <a:p>
            <a:r>
              <a:rPr lang="en-US" dirty="0"/>
              <a:t>Note Area for Online Teaching</a:t>
            </a:r>
          </a:p>
        </p:txBody>
      </p:sp>
      <p:sp>
        <p:nvSpPr>
          <p:cNvPr id="5" name="Rectangle 4">
            <a:extLst>
              <a:ext uri="{FF2B5EF4-FFF2-40B4-BE49-F238E27FC236}">
                <a16:creationId xmlns:a16="http://schemas.microsoft.com/office/drawing/2014/main" id="{ACDD0619-2C25-45C4-A24D-0E29EC09315B}"/>
              </a:ext>
            </a:extLst>
          </p:cNvPr>
          <p:cNvSpPr/>
          <p:nvPr/>
        </p:nvSpPr>
        <p:spPr>
          <a:xfrm>
            <a:off x="468824" y="1850015"/>
            <a:ext cx="4572000" cy="1077218"/>
          </a:xfrm>
          <a:prstGeom prst="rect">
            <a:avLst/>
          </a:prstGeom>
        </p:spPr>
        <p:txBody>
          <a:bodyPr>
            <a:spAutoFit/>
          </a:bodyPr>
          <a:lstStyle/>
          <a:p>
            <a:r>
              <a:rPr lang="en-US" sz="1600" dirty="0">
                <a:latin typeface="Courier New" panose="02070309020205020404" pitchFamily="49" charset="0"/>
                <a:cs typeface="Courier New" panose="02070309020205020404" pitchFamily="49" charset="0"/>
              </a:rPr>
              <a:t>void lock(</a:t>
            </a:r>
            <a:r>
              <a:rPr lang="en-US" sz="1600" dirty="0" err="1">
                <a:latin typeface="Courier New" panose="02070309020205020404" pitchFamily="49" charset="0"/>
                <a:cs typeface="Courier New" panose="02070309020205020404" pitchFamily="49" charset="0"/>
              </a:rPr>
              <a:t>lock_t</a:t>
            </a:r>
            <a:r>
              <a:rPr lang="en-US" sz="1600" dirty="0">
                <a:latin typeface="Courier New" panose="02070309020205020404" pitchFamily="49" charset="0"/>
                <a:cs typeface="Courier New" panose="02070309020205020404" pitchFamily="49" charset="0"/>
              </a:rPr>
              <a:t> *mutex) {</a:t>
            </a:r>
          </a:p>
          <a:p>
            <a:r>
              <a:rPr lang="en-US" sz="1600" dirty="0">
                <a:latin typeface="Courier New" panose="02070309020205020404" pitchFamily="49" charset="0"/>
                <a:cs typeface="Courier New" panose="02070309020205020404" pitchFamily="49" charset="0"/>
              </a:rPr>
              <a:t>    while (mutex-&gt;flag == 1); </a:t>
            </a:r>
          </a:p>
          <a:p>
            <a:r>
              <a:rPr lang="en-US" sz="1600" dirty="0">
                <a:latin typeface="Courier New" panose="02070309020205020404" pitchFamily="49" charset="0"/>
                <a:cs typeface="Courier New" panose="02070309020205020404" pitchFamily="49" charset="0"/>
              </a:rPr>
              <a:t>    mutex-&gt;flag = 1;	</a:t>
            </a:r>
          </a:p>
          <a:p>
            <a:r>
              <a:rPr lang="en-US" sz="1600" dirty="0">
                <a:latin typeface="Courier New" panose="02070309020205020404" pitchFamily="49" charset="0"/>
                <a:cs typeface="Courier New" panose="02070309020205020404" pitchFamily="49" charset="0"/>
              </a:rPr>
              <a:t>}</a:t>
            </a:r>
          </a:p>
        </p:txBody>
      </p:sp>
      <p:sp>
        <p:nvSpPr>
          <p:cNvPr id="6" name="Rectangle 5">
            <a:extLst>
              <a:ext uri="{FF2B5EF4-FFF2-40B4-BE49-F238E27FC236}">
                <a16:creationId xmlns:a16="http://schemas.microsoft.com/office/drawing/2014/main" id="{8568E43A-4483-46F8-A4FE-E870246BEFE8}"/>
              </a:ext>
            </a:extLst>
          </p:cNvPr>
          <p:cNvSpPr/>
          <p:nvPr/>
        </p:nvSpPr>
        <p:spPr>
          <a:xfrm>
            <a:off x="4809641" y="1850015"/>
            <a:ext cx="4572000" cy="830997"/>
          </a:xfrm>
          <a:prstGeom prst="rect">
            <a:avLst/>
          </a:prstGeom>
        </p:spPr>
        <p:txBody>
          <a:bodyPr>
            <a:spAutoFit/>
          </a:bodyPr>
          <a:lstStyle/>
          <a:p>
            <a:r>
              <a:rPr lang="en-US" sz="1600" dirty="0">
                <a:latin typeface="Courier New" panose="02070309020205020404" pitchFamily="49" charset="0"/>
                <a:cs typeface="Courier New" panose="02070309020205020404" pitchFamily="49" charset="0"/>
              </a:rPr>
              <a:t>void unlock(</a:t>
            </a:r>
            <a:r>
              <a:rPr lang="en-US" sz="1600" dirty="0" err="1">
                <a:latin typeface="Courier New" panose="02070309020205020404" pitchFamily="49" charset="0"/>
                <a:cs typeface="Courier New" panose="02070309020205020404" pitchFamily="49" charset="0"/>
              </a:rPr>
              <a:t>lock_t</a:t>
            </a:r>
            <a:r>
              <a:rPr lang="en-US" sz="1600" dirty="0">
                <a:latin typeface="Courier New" panose="02070309020205020404" pitchFamily="49" charset="0"/>
                <a:cs typeface="Courier New" panose="02070309020205020404" pitchFamily="49" charset="0"/>
              </a:rPr>
              <a:t> *mutex) {</a:t>
            </a:r>
          </a:p>
          <a:p>
            <a:r>
              <a:rPr lang="en-US" sz="1600" dirty="0">
                <a:latin typeface="Courier New" panose="02070309020205020404" pitchFamily="49" charset="0"/>
                <a:cs typeface="Courier New" panose="02070309020205020404" pitchFamily="49" charset="0"/>
              </a:rPr>
              <a:t>    mutex-&gt;flag = 0;</a:t>
            </a:r>
          </a:p>
          <a:p>
            <a:r>
              <a:rPr lang="en-US" sz="1600" dirty="0">
                <a:latin typeface="Courier New" panose="02070309020205020404" pitchFamily="49" charset="0"/>
                <a:cs typeface="Courier New" panose="02070309020205020404" pitchFamily="49" charset="0"/>
              </a:rPr>
              <a:t>}</a:t>
            </a:r>
          </a:p>
        </p:txBody>
      </p:sp>
      <p:sp>
        <p:nvSpPr>
          <p:cNvPr id="7" name="Rectangle 6">
            <a:extLst>
              <a:ext uri="{FF2B5EF4-FFF2-40B4-BE49-F238E27FC236}">
                <a16:creationId xmlns:a16="http://schemas.microsoft.com/office/drawing/2014/main" id="{782DF5C1-A005-463B-B5F2-0C32C898CA7C}"/>
              </a:ext>
            </a:extLst>
          </p:cNvPr>
          <p:cNvSpPr/>
          <p:nvPr/>
        </p:nvSpPr>
        <p:spPr>
          <a:xfrm>
            <a:off x="3200400" y="1002960"/>
            <a:ext cx="4572000" cy="830997"/>
          </a:xfrm>
          <a:prstGeom prst="rect">
            <a:avLst/>
          </a:prstGeom>
        </p:spPr>
        <p:txBody>
          <a:bodyPr>
            <a:spAutoFit/>
          </a:bodyPr>
          <a:lstStyle/>
          <a:p>
            <a:r>
              <a:rPr lang="en-US" sz="1600" dirty="0">
                <a:latin typeface="Courier New" panose="02070309020205020404" pitchFamily="49" charset="0"/>
                <a:cs typeface="Courier New" panose="02070309020205020404" pitchFamily="49" charset="0"/>
              </a:rPr>
              <a:t>void </a:t>
            </a:r>
            <a:r>
              <a:rPr lang="en-US" sz="1600" dirty="0" err="1">
                <a:latin typeface="Courier New" panose="02070309020205020404" pitchFamily="49" charset="0"/>
                <a:cs typeface="Courier New" panose="02070309020205020404" pitchFamily="49" charset="0"/>
              </a:rPr>
              <a:t>init</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lock_t</a:t>
            </a:r>
            <a:r>
              <a:rPr lang="en-US" sz="1600" dirty="0">
                <a:latin typeface="Courier New" panose="02070309020205020404" pitchFamily="49" charset="0"/>
                <a:cs typeface="Courier New" panose="02070309020205020404" pitchFamily="49" charset="0"/>
              </a:rPr>
              <a:t> *mutex) {</a:t>
            </a:r>
          </a:p>
          <a:p>
            <a:r>
              <a:rPr lang="en-US" sz="1600" dirty="0">
                <a:latin typeface="Courier New" panose="02070309020205020404" pitchFamily="49" charset="0"/>
                <a:cs typeface="Courier New" panose="02070309020205020404" pitchFamily="49" charset="0"/>
              </a:rPr>
              <a:t>    mutex-&gt;flag = 0;</a:t>
            </a:r>
          </a:p>
          <a:p>
            <a:r>
              <a:rPr lang="en-US" sz="1600" dirty="0">
                <a:latin typeface="Courier New" panose="02070309020205020404" pitchFamily="49" charset="0"/>
                <a:cs typeface="Courier New" panose="02070309020205020404" pitchFamily="49" charset="0"/>
              </a:rPr>
              <a:t>}</a:t>
            </a:r>
          </a:p>
        </p:txBody>
      </p:sp>
      <p:sp>
        <p:nvSpPr>
          <p:cNvPr id="9" name="Rectangle 8">
            <a:extLst>
              <a:ext uri="{FF2B5EF4-FFF2-40B4-BE49-F238E27FC236}">
                <a16:creationId xmlns:a16="http://schemas.microsoft.com/office/drawing/2014/main" id="{D4A3911C-AAB3-4AE7-B178-BFB4A7EA6B36}"/>
              </a:ext>
            </a:extLst>
          </p:cNvPr>
          <p:cNvSpPr/>
          <p:nvPr/>
        </p:nvSpPr>
        <p:spPr>
          <a:xfrm>
            <a:off x="3380890" y="3059381"/>
            <a:ext cx="2943709" cy="2554545"/>
          </a:xfrm>
          <a:prstGeom prst="rect">
            <a:avLst/>
          </a:prstGeom>
        </p:spPr>
        <p:txBody>
          <a:bodyPr wrap="square">
            <a:spAutoFit/>
          </a:bodyPr>
          <a:lstStyle/>
          <a:p>
            <a:r>
              <a:rPr lang="en-US" sz="2000" dirty="0" err="1">
                <a:latin typeface="Courier New" panose="02070309020205020404" pitchFamily="49" charset="0"/>
                <a:cs typeface="Courier New" panose="02070309020205020404" pitchFamily="49" charset="0"/>
              </a:rPr>
              <a:t>lock_t</a:t>
            </a:r>
            <a:r>
              <a:rPr lang="en-US" sz="2000" dirty="0">
                <a:latin typeface="Courier New" panose="02070309020205020404" pitchFamily="49" charset="0"/>
                <a:cs typeface="Courier New" panose="02070309020205020404" pitchFamily="49" charset="0"/>
              </a:rPr>
              <a:t> mu;</a:t>
            </a:r>
          </a:p>
          <a:p>
            <a:r>
              <a:rPr lang="en-US" sz="2000" dirty="0">
                <a:latin typeface="Courier New" panose="02070309020205020404" pitchFamily="49" charset="0"/>
                <a:cs typeface="Courier New" panose="02070309020205020404" pitchFamily="49" charset="0"/>
              </a:rPr>
              <a:t>…</a:t>
            </a:r>
          </a:p>
          <a:p>
            <a:r>
              <a:rPr lang="en-US" sz="2000" dirty="0" err="1">
                <a:latin typeface="Courier New" panose="02070309020205020404" pitchFamily="49" charset="0"/>
                <a:cs typeface="Courier New" panose="02070309020205020404" pitchFamily="49" charset="0"/>
              </a:rPr>
              <a:t>init</a:t>
            </a:r>
            <a:r>
              <a:rPr lang="en-US" sz="2000" dirty="0">
                <a:latin typeface="Courier New" panose="02070309020205020404" pitchFamily="49" charset="0"/>
                <a:cs typeface="Courier New" panose="02070309020205020404" pitchFamily="49" charset="0"/>
              </a:rPr>
              <a:t>(&amp;mu);</a:t>
            </a:r>
          </a:p>
          <a:p>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lock(&amp;mu);</a:t>
            </a:r>
          </a:p>
          <a:p>
            <a:r>
              <a:rPr lang="en-US" sz="2000" dirty="0">
                <a:latin typeface="Courier New" panose="02070309020205020404" pitchFamily="49" charset="0"/>
                <a:cs typeface="Courier New" panose="02070309020205020404" pitchFamily="49" charset="0"/>
              </a:rPr>
              <a:t>counter=counter+1;</a:t>
            </a:r>
          </a:p>
          <a:p>
            <a:r>
              <a:rPr lang="en-US" sz="2000" dirty="0">
                <a:latin typeface="Courier New" panose="02070309020205020404" pitchFamily="49" charset="0"/>
                <a:cs typeface="Courier New" panose="02070309020205020404" pitchFamily="49" charset="0"/>
              </a:rPr>
              <a:t>unlock(&amp;mu);</a:t>
            </a:r>
          </a:p>
          <a:p>
            <a:r>
              <a:rPr lang="en-US" sz="20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64075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about Performance</a:t>
            </a:r>
          </a:p>
        </p:txBody>
      </p:sp>
      <p:sp>
        <p:nvSpPr>
          <p:cNvPr id="3" name="Content Placeholder 2"/>
          <p:cNvSpPr>
            <a:spLocks noGrp="1"/>
          </p:cNvSpPr>
          <p:nvPr>
            <p:ph idx="1"/>
          </p:nvPr>
        </p:nvSpPr>
        <p:spPr/>
        <p:txBody>
          <a:bodyPr>
            <a:normAutofit fontScale="92500" lnSpcReduction="10000"/>
          </a:bodyPr>
          <a:lstStyle/>
          <a:p>
            <a:pPr>
              <a:lnSpc>
                <a:spcPct val="120000"/>
              </a:lnSpc>
            </a:pPr>
            <a:r>
              <a:rPr lang="en-US" dirty="0"/>
              <a:t>Spin-waiting </a:t>
            </a:r>
            <a:r>
              <a:rPr lang="en-US" dirty="0">
                <a:solidFill>
                  <a:srgbClr val="FF0000"/>
                </a:solidFill>
              </a:rPr>
              <a:t>wastes time </a:t>
            </a:r>
            <a:r>
              <a:rPr lang="en-US" dirty="0"/>
              <a:t>waiting for another thread to release the lock</a:t>
            </a:r>
          </a:p>
          <a:p>
            <a:pPr>
              <a:lnSpc>
                <a:spcPct val="120000"/>
              </a:lnSpc>
            </a:pPr>
            <a:r>
              <a:rPr lang="en-US" dirty="0"/>
              <a:t>On a single processor, the thread that holds the lock </a:t>
            </a:r>
            <a:r>
              <a:rPr lang="en-US" dirty="0">
                <a:solidFill>
                  <a:srgbClr val="FF0000"/>
                </a:solidFill>
              </a:rPr>
              <a:t>cannot even run </a:t>
            </a:r>
            <a:r>
              <a:rPr lang="en-US" dirty="0"/>
              <a:t>(at least, not until a context switch occurs)!</a:t>
            </a:r>
          </a:p>
          <a:p>
            <a:pPr>
              <a:lnSpc>
                <a:spcPct val="120000"/>
              </a:lnSpc>
            </a:pPr>
            <a:r>
              <a:rPr lang="en-US" dirty="0"/>
              <a:t>Thus, as we move forward and develop more sophisticated solutions, we should also consider ways to avoid this kind of waste</a:t>
            </a:r>
            <a:endParaRPr lang="th-TH" dirty="0"/>
          </a:p>
          <a:p>
            <a:pPr>
              <a:lnSpc>
                <a:spcPct val="120000"/>
              </a:lnSpc>
            </a:pPr>
            <a:endParaRPr lang="en-US" dirty="0"/>
          </a:p>
        </p:txBody>
      </p:sp>
    </p:spTree>
    <p:extLst>
      <p:ext uri="{BB962C8B-B14F-4D97-AF65-F5344CB8AC3E}">
        <p14:creationId xmlns:p14="http://schemas.microsoft.com/office/powerpoint/2010/main" val="346241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about Correctness</a:t>
            </a:r>
            <a:endParaRPr lang="th-TH" dirty="0"/>
          </a:p>
        </p:txBody>
      </p:sp>
      <p:sp>
        <p:nvSpPr>
          <p:cNvPr id="3" name="Content Placeholder 2"/>
          <p:cNvSpPr>
            <a:spLocks noGrp="1"/>
          </p:cNvSpPr>
          <p:nvPr>
            <p:ph idx="1"/>
          </p:nvPr>
        </p:nvSpPr>
        <p:spPr>
          <a:xfrm>
            <a:off x="457200" y="4262390"/>
            <a:ext cx="8229600" cy="2062209"/>
          </a:xfrm>
        </p:spPr>
        <p:txBody>
          <a:bodyPr>
            <a:normAutofit/>
          </a:bodyPr>
          <a:lstStyle/>
          <a:p>
            <a:pPr>
              <a:lnSpc>
                <a:spcPct val="120000"/>
              </a:lnSpc>
            </a:pPr>
            <a:r>
              <a:rPr lang="en-US" dirty="0"/>
              <a:t>Both threads can enter the critical section at the same time – no mutual exclusion</a:t>
            </a:r>
          </a:p>
          <a:p>
            <a:pPr>
              <a:lnSpc>
                <a:spcPct val="120000"/>
              </a:lnSpc>
            </a:pPr>
            <a:endParaRPr lang="en-US" dirty="0"/>
          </a:p>
        </p:txBody>
      </p:sp>
      <p:pic>
        <p:nvPicPr>
          <p:cNvPr id="307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635" t="39452" r="25936" b="35708"/>
          <a:stretch/>
        </p:blipFill>
        <p:spPr bwMode="auto">
          <a:xfrm>
            <a:off x="839244" y="1909174"/>
            <a:ext cx="7465512" cy="2129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H="1">
            <a:off x="3962400" y="1935163"/>
            <a:ext cx="1371600" cy="579437"/>
          </a:xfrm>
          <a:prstGeom prst="straightConnector1">
            <a:avLst/>
          </a:prstGeom>
          <a:ln>
            <a:solidFill>
              <a:srgbClr val="CC33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267200" y="1600200"/>
            <a:ext cx="2121671" cy="369332"/>
          </a:xfrm>
          <a:prstGeom prst="rect">
            <a:avLst/>
          </a:prstGeom>
          <a:noFill/>
        </p:spPr>
        <p:txBody>
          <a:bodyPr wrap="none" rtlCol="0">
            <a:spAutoFit/>
          </a:bodyPr>
          <a:lstStyle/>
          <a:p>
            <a:r>
              <a:rPr lang="en-US" dirty="0">
                <a:solidFill>
                  <a:srgbClr val="CC3300"/>
                </a:solidFill>
              </a:rPr>
              <a:t>Unlikely but possible</a:t>
            </a:r>
            <a:endParaRPr lang="th-TH" dirty="0">
              <a:solidFill>
                <a:srgbClr val="CC3300"/>
              </a:solidFill>
            </a:endParaRPr>
          </a:p>
        </p:txBody>
      </p:sp>
    </p:spTree>
    <p:extLst>
      <p:ext uri="{BB962C8B-B14F-4D97-AF65-F5344CB8AC3E}">
        <p14:creationId xmlns:p14="http://schemas.microsoft.com/office/powerpoint/2010/main" val="32925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Support for Locking</a:t>
            </a:r>
          </a:p>
        </p:txBody>
      </p:sp>
      <p:sp>
        <p:nvSpPr>
          <p:cNvPr id="3" name="Content Placeholder 2"/>
          <p:cNvSpPr>
            <a:spLocks noGrp="1"/>
          </p:cNvSpPr>
          <p:nvPr>
            <p:ph idx="1"/>
          </p:nvPr>
        </p:nvSpPr>
        <p:spPr/>
        <p:txBody>
          <a:bodyPr>
            <a:normAutofit fontScale="77500" lnSpcReduction="20000"/>
          </a:bodyPr>
          <a:lstStyle/>
          <a:p>
            <a:pPr>
              <a:lnSpc>
                <a:spcPct val="120000"/>
              </a:lnSpc>
            </a:pPr>
            <a:r>
              <a:rPr lang="en-US" sz="2900" dirty="0"/>
              <a:t>Although there are purely software solutions to locking (e.g. </a:t>
            </a:r>
            <a:r>
              <a:rPr lang="en-US" sz="2900" u="sng" dirty="0"/>
              <a:t>Peterson’s algorithm</a:t>
            </a:r>
            <a:r>
              <a:rPr lang="en-US" sz="2900" dirty="0"/>
              <a:t>), some hardware support can provide a simpler and better solution</a:t>
            </a:r>
          </a:p>
          <a:p>
            <a:pPr>
              <a:lnSpc>
                <a:spcPct val="120000"/>
              </a:lnSpc>
            </a:pPr>
            <a:r>
              <a:rPr lang="en-US" sz="2900" dirty="0"/>
              <a:t>The hardware support  generally takes the form of a primitive instruction that is guaranteed by the hardware to execute atomically</a:t>
            </a:r>
          </a:p>
          <a:p>
            <a:pPr>
              <a:lnSpc>
                <a:spcPct val="120000"/>
              </a:lnSpc>
            </a:pPr>
            <a:r>
              <a:rPr lang="en-US" sz="2900" dirty="0"/>
              <a:t>Examples provided on different architectures include:</a:t>
            </a:r>
          </a:p>
          <a:p>
            <a:pPr lvl="1">
              <a:lnSpc>
                <a:spcPct val="110000"/>
              </a:lnSpc>
            </a:pPr>
            <a:r>
              <a:rPr lang="en-US" sz="2600" dirty="0"/>
              <a:t>Test-and-Set</a:t>
            </a:r>
          </a:p>
          <a:p>
            <a:pPr lvl="1">
              <a:lnSpc>
                <a:spcPct val="110000"/>
              </a:lnSpc>
            </a:pPr>
            <a:r>
              <a:rPr lang="en-US" sz="2600" dirty="0"/>
              <a:t>Compare-and-Swap</a:t>
            </a:r>
          </a:p>
          <a:p>
            <a:pPr lvl="1">
              <a:lnSpc>
                <a:spcPct val="110000"/>
              </a:lnSpc>
            </a:pPr>
            <a:r>
              <a:rPr lang="en-US" sz="2600" dirty="0"/>
              <a:t>Fetch-and-Add</a:t>
            </a:r>
          </a:p>
          <a:p>
            <a:pPr lvl="1">
              <a:lnSpc>
                <a:spcPct val="110000"/>
              </a:lnSpc>
            </a:pPr>
            <a:r>
              <a:rPr lang="en-US" sz="2600" u="sng" dirty="0"/>
              <a:t>Load-Linked and Store-Conditional</a:t>
            </a:r>
          </a:p>
          <a:p>
            <a:pPr lvl="1">
              <a:lnSpc>
                <a:spcPct val="110000"/>
              </a:lnSpc>
            </a:pPr>
            <a:r>
              <a:rPr lang="en-US" sz="2600" dirty="0"/>
              <a:t>etc.</a:t>
            </a:r>
            <a:endParaRPr lang="th-TH" sz="2600" dirty="0"/>
          </a:p>
        </p:txBody>
      </p:sp>
    </p:spTree>
    <p:extLst>
      <p:ext uri="{BB962C8B-B14F-4D97-AF65-F5344CB8AC3E}">
        <p14:creationId xmlns:p14="http://schemas.microsoft.com/office/powerpoint/2010/main" val="3908360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a:t>Test-and-Set</a:t>
            </a:r>
            <a:br>
              <a:rPr lang="en-US" dirty="0"/>
            </a:br>
            <a:r>
              <a:rPr lang="en-US" dirty="0"/>
              <a:t>(Hardware Support for Locking)</a:t>
            </a:r>
            <a:endParaRPr lang="th-TH" dirty="0"/>
          </a:p>
        </p:txBody>
      </p:sp>
      <p:sp>
        <p:nvSpPr>
          <p:cNvPr id="3" name="Content Placeholder 2"/>
          <p:cNvSpPr>
            <a:spLocks noGrp="1"/>
          </p:cNvSpPr>
          <p:nvPr>
            <p:ph idx="1"/>
          </p:nvPr>
        </p:nvSpPr>
        <p:spPr>
          <a:xfrm>
            <a:off x="457200" y="1600200"/>
            <a:ext cx="8229600" cy="3047999"/>
          </a:xfrm>
        </p:spPr>
        <p:txBody>
          <a:bodyPr>
            <a:normAutofit fontScale="92500"/>
          </a:bodyPr>
          <a:lstStyle/>
          <a:p>
            <a:pPr>
              <a:lnSpc>
                <a:spcPct val="110000"/>
              </a:lnSpc>
            </a:pPr>
            <a:r>
              <a:rPr lang="en-US" sz="2700" dirty="0"/>
              <a:t>A Test-and-Set </a:t>
            </a:r>
            <a:r>
              <a:rPr lang="en-US" sz="2700" dirty="0">
                <a:solidFill>
                  <a:srgbClr val="C00000"/>
                </a:solidFill>
              </a:rPr>
              <a:t>instruction</a:t>
            </a:r>
            <a:r>
              <a:rPr lang="en-US" sz="2700" dirty="0"/>
              <a:t> is added to support the creation of locks based on spin-wait</a:t>
            </a:r>
          </a:p>
          <a:p>
            <a:pPr>
              <a:lnSpc>
                <a:spcPct val="110000"/>
              </a:lnSpc>
            </a:pPr>
            <a:r>
              <a:rPr lang="en-US" sz="2700" dirty="0"/>
              <a:t>It returns the old value in the location pointed to by </a:t>
            </a:r>
            <a:r>
              <a:rPr lang="en-US" sz="2700" dirty="0" err="1"/>
              <a:t>ptr</a:t>
            </a:r>
            <a:r>
              <a:rPr lang="en-US" sz="2700" dirty="0"/>
              <a:t>, and simultaneously updates the location to the new value</a:t>
            </a:r>
          </a:p>
          <a:p>
            <a:pPr>
              <a:lnSpc>
                <a:spcPct val="110000"/>
              </a:lnSpc>
            </a:pPr>
            <a:r>
              <a:rPr lang="en-US" sz="2700" dirty="0"/>
              <a:t>The key is that this sequence of operations is performed </a:t>
            </a:r>
            <a:r>
              <a:rPr lang="en-US" sz="2700" dirty="0">
                <a:solidFill>
                  <a:srgbClr val="C00000"/>
                </a:solidFill>
              </a:rPr>
              <a:t>atomically</a:t>
            </a:r>
          </a:p>
          <a:p>
            <a:endParaRPr lang="en-US" dirty="0"/>
          </a:p>
          <a:p>
            <a:endParaRPr lang="th-TH" dirty="0"/>
          </a:p>
        </p:txBody>
      </p:sp>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8813" t="36190" r="45936" b="51926"/>
          <a:stretch/>
        </p:blipFill>
        <p:spPr bwMode="auto">
          <a:xfrm>
            <a:off x="1676400" y="4416293"/>
            <a:ext cx="5802032" cy="12225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09600" y="5791200"/>
            <a:ext cx="7816050" cy="461665"/>
          </a:xfrm>
          <a:prstGeom prst="rect">
            <a:avLst/>
          </a:prstGeom>
          <a:noFill/>
        </p:spPr>
        <p:txBody>
          <a:bodyPr wrap="none" rtlCol="0">
            <a:spAutoFit/>
          </a:bodyPr>
          <a:lstStyle/>
          <a:p>
            <a:r>
              <a:rPr lang="en-US" sz="2400" dirty="0">
                <a:solidFill>
                  <a:srgbClr val="C00000"/>
                </a:solidFill>
              </a:rPr>
              <a:t>Next … how to use the Test-and-Set instruction to build a lock</a:t>
            </a:r>
            <a:endParaRPr lang="th-TH" sz="2400" dirty="0">
              <a:solidFill>
                <a:srgbClr val="C00000"/>
              </a:solidFill>
            </a:endParaRPr>
          </a:p>
        </p:txBody>
      </p:sp>
    </p:spTree>
    <p:extLst>
      <p:ext uri="{BB962C8B-B14F-4D97-AF65-F5344CB8AC3E}">
        <p14:creationId xmlns:p14="http://schemas.microsoft.com/office/powerpoint/2010/main" val="2230337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04800"/>
            <a:ext cx="8229600" cy="4524315"/>
          </a:xfrm>
          <a:prstGeom prst="rect">
            <a:avLst/>
          </a:prstGeom>
          <a:noFill/>
        </p:spPr>
        <p:txBody>
          <a:bodyPr wrap="square" rtlCol="0">
            <a:spAutoFit/>
          </a:bodyPr>
          <a:lstStyle/>
          <a:p>
            <a:r>
              <a:rPr lang="en-US" dirty="0" err="1">
                <a:latin typeface="Courier New" panose="02070309020205020404" pitchFamily="49" charset="0"/>
                <a:cs typeface="Courier New" panose="02070309020205020404" pitchFamily="49" charset="0"/>
              </a:rPr>
              <a:t>typedef</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struct</a:t>
            </a:r>
            <a:r>
              <a:rPr lang="en-US" dirty="0">
                <a:latin typeface="Courier New" panose="02070309020205020404" pitchFamily="49" charset="0"/>
                <a:cs typeface="Courier New" panose="02070309020205020404" pitchFamily="49" charset="0"/>
              </a:rPr>
              <a:t> __</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flag;</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void </a:t>
            </a:r>
            <a:r>
              <a:rPr lang="en-US" dirty="0" err="1">
                <a:latin typeface="Courier New" panose="02070309020205020404" pitchFamily="49" charset="0"/>
                <a:cs typeface="Courier New" panose="02070309020205020404" pitchFamily="49" charset="0"/>
              </a:rPr>
              <a:t>init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 *lock) {</a:t>
            </a:r>
          </a:p>
          <a:p>
            <a:r>
              <a:rPr lang="en-US" dirty="0">
                <a:latin typeface="Courier New" panose="02070309020205020404" pitchFamily="49" charset="0"/>
                <a:cs typeface="Courier New" panose="02070309020205020404" pitchFamily="49" charset="0"/>
              </a:rPr>
              <a:t>    // 0 indicates lock is available, 1 that it is held</a:t>
            </a:r>
          </a:p>
          <a:p>
            <a:r>
              <a:rPr lang="en-US" dirty="0">
                <a:latin typeface="Courier New" panose="02070309020205020404" pitchFamily="49" charset="0"/>
                <a:cs typeface="Courier New" panose="02070309020205020404" pitchFamily="49" charset="0"/>
              </a:rPr>
              <a:t>    lock-&gt;flag = 0;</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void lock(</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 *lock) {</a:t>
            </a:r>
          </a:p>
          <a:p>
            <a:r>
              <a:rPr lang="en-US" dirty="0">
                <a:latin typeface="Courier New" panose="02070309020205020404" pitchFamily="49" charset="0"/>
                <a:cs typeface="Courier New" panose="02070309020205020404" pitchFamily="49" charset="0"/>
              </a:rPr>
              <a:t>    while (</a:t>
            </a:r>
            <a:r>
              <a:rPr lang="en-US" dirty="0" err="1">
                <a:latin typeface="Courier New" panose="02070309020205020404" pitchFamily="49" charset="0"/>
                <a:cs typeface="Courier New" panose="02070309020205020404" pitchFamily="49" charset="0"/>
              </a:rPr>
              <a:t>TestAndSet</a:t>
            </a:r>
            <a:r>
              <a:rPr lang="en-US" dirty="0">
                <a:latin typeface="Courier New" panose="02070309020205020404" pitchFamily="49" charset="0"/>
                <a:cs typeface="Courier New" panose="02070309020205020404" pitchFamily="49" charset="0"/>
              </a:rPr>
              <a:t>(&amp;lock-&gt;flag, 1) == 1); // spin-lock</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void unlock(</a:t>
            </a:r>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 *lock) {</a:t>
            </a:r>
          </a:p>
          <a:p>
            <a:r>
              <a:rPr lang="en-US" dirty="0">
                <a:latin typeface="Courier New" panose="02070309020205020404" pitchFamily="49" charset="0"/>
                <a:cs typeface="Courier New" panose="02070309020205020404" pitchFamily="49" charset="0"/>
              </a:rPr>
              <a:t>    lock-&gt;flag = 0;</a:t>
            </a:r>
          </a:p>
          <a:p>
            <a:r>
              <a:rPr lang="en-US" dirty="0">
                <a:latin typeface="Courier New" panose="02070309020205020404" pitchFamily="49" charset="0"/>
                <a:cs typeface="Courier New" panose="02070309020205020404" pitchFamily="49" charset="0"/>
              </a:rPr>
              <a:t>}</a:t>
            </a:r>
          </a:p>
        </p:txBody>
      </p:sp>
      <p:sp>
        <p:nvSpPr>
          <p:cNvPr id="3" name="Content Placeholder 2"/>
          <p:cNvSpPr>
            <a:spLocks noGrp="1"/>
          </p:cNvSpPr>
          <p:nvPr>
            <p:ph idx="1"/>
          </p:nvPr>
        </p:nvSpPr>
        <p:spPr>
          <a:xfrm>
            <a:off x="457200" y="4648200"/>
            <a:ext cx="8229600" cy="1905000"/>
          </a:xfrm>
        </p:spPr>
        <p:txBody>
          <a:bodyPr>
            <a:noAutofit/>
          </a:bodyPr>
          <a:lstStyle/>
          <a:p>
            <a:pPr>
              <a:spcBef>
                <a:spcPts val="400"/>
              </a:spcBef>
            </a:pPr>
            <a:r>
              <a:rPr lang="en-US" sz="2200" dirty="0"/>
              <a:t>As long as the lock is held by another thread, </a:t>
            </a:r>
            <a:r>
              <a:rPr lang="en-US" sz="2200" dirty="0" err="1"/>
              <a:t>TestAndSet</a:t>
            </a:r>
            <a:r>
              <a:rPr lang="en-US" sz="2200" dirty="0"/>
              <a:t>() will repeatedly return 1</a:t>
            </a:r>
          </a:p>
          <a:p>
            <a:pPr>
              <a:spcBef>
                <a:spcPts val="400"/>
              </a:spcBef>
            </a:pPr>
            <a:r>
              <a:rPr lang="en-US" sz="2200" dirty="0"/>
              <a:t>By making both the </a:t>
            </a:r>
            <a:r>
              <a:rPr lang="en-US" sz="2200" b="1" i="1" dirty="0">
                <a:solidFill>
                  <a:srgbClr val="CC3300"/>
                </a:solidFill>
              </a:rPr>
              <a:t>test</a:t>
            </a:r>
            <a:r>
              <a:rPr lang="en-US" sz="2200" b="1" dirty="0"/>
              <a:t> </a:t>
            </a:r>
            <a:r>
              <a:rPr lang="en-US" sz="2200" dirty="0"/>
              <a:t>(of the old value of the lock) and</a:t>
            </a:r>
            <a:r>
              <a:rPr lang="en-US" sz="2200" dirty="0">
                <a:solidFill>
                  <a:srgbClr val="CC3300"/>
                </a:solidFill>
              </a:rPr>
              <a:t> </a:t>
            </a:r>
            <a:r>
              <a:rPr lang="en-US" sz="2200" b="1" i="1" dirty="0">
                <a:solidFill>
                  <a:srgbClr val="CC3300"/>
                </a:solidFill>
              </a:rPr>
              <a:t>set</a:t>
            </a:r>
            <a:r>
              <a:rPr lang="en-US" sz="2200" b="1" dirty="0">
                <a:solidFill>
                  <a:srgbClr val="CC3300"/>
                </a:solidFill>
              </a:rPr>
              <a:t> </a:t>
            </a:r>
            <a:r>
              <a:rPr lang="en-US" sz="2200" dirty="0"/>
              <a:t>(of the new value) a single atomic operation, we can ensure that only one thread acquires the lock</a:t>
            </a:r>
          </a:p>
        </p:txBody>
      </p:sp>
      <p:cxnSp>
        <p:nvCxnSpPr>
          <p:cNvPr id="5" name="Straight Arrow Connector 4"/>
          <p:cNvCxnSpPr>
            <a:cxnSpLocks/>
          </p:cNvCxnSpPr>
          <p:nvPr/>
        </p:nvCxnSpPr>
        <p:spPr>
          <a:xfrm flipH="1">
            <a:off x="3429000" y="2514600"/>
            <a:ext cx="1981200" cy="609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410200" y="2329934"/>
            <a:ext cx="3733800" cy="369332"/>
          </a:xfrm>
          <a:prstGeom prst="rect">
            <a:avLst/>
          </a:prstGeom>
          <a:noFill/>
        </p:spPr>
        <p:txBody>
          <a:bodyPr wrap="square" rtlCol="0">
            <a:spAutoFit/>
          </a:bodyPr>
          <a:lstStyle/>
          <a:p>
            <a:r>
              <a:rPr lang="en-US" dirty="0">
                <a:solidFill>
                  <a:srgbClr val="FF0000"/>
                </a:solidFill>
              </a:rPr>
              <a:t>Test-and-set is an atomic  instruction</a:t>
            </a:r>
            <a:endParaRPr lang="th-TH" dirty="0">
              <a:solidFill>
                <a:srgbClr val="FF0000"/>
              </a:solidFill>
            </a:endParaRPr>
          </a:p>
        </p:txBody>
      </p:sp>
      <p:sp>
        <p:nvSpPr>
          <p:cNvPr id="7" name="TextBox 6"/>
          <p:cNvSpPr txBox="1"/>
          <p:nvPr/>
        </p:nvSpPr>
        <p:spPr>
          <a:xfrm>
            <a:off x="5905500" y="3447871"/>
            <a:ext cx="2743200" cy="1200329"/>
          </a:xfrm>
          <a:prstGeom prst="rect">
            <a:avLst/>
          </a:prstGeom>
          <a:noFill/>
        </p:spPr>
        <p:txBody>
          <a:bodyPr wrap="square" rtlCol="0">
            <a:spAutoFit/>
          </a:bodyPr>
          <a:lstStyle/>
          <a:p>
            <a:r>
              <a:rPr lang="en-US" b="1" dirty="0">
                <a:solidFill>
                  <a:srgbClr val="FF0000"/>
                </a:solidFill>
              </a:rPr>
              <a:t>This is called “spin lock”  </a:t>
            </a:r>
            <a:r>
              <a:rPr lang="en-US" dirty="0">
                <a:solidFill>
                  <a:srgbClr val="FF0000"/>
                </a:solidFill>
              </a:rPr>
              <a:t>spins using CPU cycles, until the lock becomes available. </a:t>
            </a:r>
          </a:p>
        </p:txBody>
      </p:sp>
      <p:pic>
        <p:nvPicPr>
          <p:cNvPr id="8" name="Picture 2">
            <a:extLst>
              <a:ext uri="{FF2B5EF4-FFF2-40B4-BE49-F238E27FC236}">
                <a16:creationId xmlns:a16="http://schemas.microsoft.com/office/drawing/2014/main" id="{F4DB041D-3A52-4A82-891C-BB8CA30B620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8286" t="36190" r="55995" b="51926"/>
          <a:stretch/>
        </p:blipFill>
        <p:spPr bwMode="auto">
          <a:xfrm>
            <a:off x="4682359" y="74574"/>
            <a:ext cx="4233041" cy="122250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5080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Test-and-Set</a:t>
            </a:r>
            <a:endParaRPr lang="th-TH" dirty="0"/>
          </a:p>
        </p:txBody>
      </p:sp>
      <p:sp>
        <p:nvSpPr>
          <p:cNvPr id="3" name="Content Placeholder 2"/>
          <p:cNvSpPr>
            <a:spLocks noGrp="1"/>
          </p:cNvSpPr>
          <p:nvPr>
            <p:ph idx="1"/>
          </p:nvPr>
        </p:nvSpPr>
        <p:spPr>
          <a:xfrm>
            <a:off x="457200" y="1600201"/>
            <a:ext cx="8229600" cy="4114800"/>
          </a:xfrm>
        </p:spPr>
        <p:txBody>
          <a:bodyPr>
            <a:normAutofit fontScale="77500" lnSpcReduction="20000"/>
          </a:bodyPr>
          <a:lstStyle/>
          <a:p>
            <a:pPr>
              <a:lnSpc>
                <a:spcPct val="120000"/>
              </a:lnSpc>
            </a:pPr>
            <a:r>
              <a:rPr lang="en-US" dirty="0"/>
              <a:t>Correctness?  </a:t>
            </a:r>
          </a:p>
          <a:p>
            <a:pPr lvl="1">
              <a:lnSpc>
                <a:spcPct val="120000"/>
              </a:lnSpc>
            </a:pPr>
            <a:r>
              <a:rPr lang="en-US" dirty="0"/>
              <a:t>Mutual Exclusion is guaranteed and Deadlock cannot occur</a:t>
            </a:r>
          </a:p>
          <a:p>
            <a:pPr>
              <a:lnSpc>
                <a:spcPct val="120000"/>
              </a:lnSpc>
            </a:pPr>
            <a:r>
              <a:rPr lang="en-US" dirty="0"/>
              <a:t>Performance?</a:t>
            </a:r>
          </a:p>
          <a:p>
            <a:pPr lvl="1">
              <a:lnSpc>
                <a:spcPct val="120000"/>
              </a:lnSpc>
            </a:pPr>
            <a:r>
              <a:rPr lang="en-US" dirty="0"/>
              <a:t>On a single processor, performance overheads can be quite painful</a:t>
            </a:r>
          </a:p>
          <a:p>
            <a:pPr lvl="1">
              <a:lnSpc>
                <a:spcPct val="120000"/>
              </a:lnSpc>
            </a:pPr>
            <a:r>
              <a:rPr lang="en-US" dirty="0"/>
              <a:t>On multi-core or multiprocessor, spin locks work reasonably well</a:t>
            </a:r>
            <a:endParaRPr lang="th-TH" dirty="0"/>
          </a:p>
          <a:p>
            <a:pPr>
              <a:lnSpc>
                <a:spcPct val="120000"/>
              </a:lnSpc>
            </a:pPr>
            <a:r>
              <a:rPr lang="en-US" dirty="0"/>
              <a:t>Fairness?</a:t>
            </a:r>
          </a:p>
          <a:p>
            <a:pPr lvl="1">
              <a:lnSpc>
                <a:spcPct val="120000"/>
              </a:lnSpc>
            </a:pPr>
            <a:r>
              <a:rPr lang="en-US" dirty="0"/>
              <a:t>Cannot guarantee that a waiting thread will ever enter the critical section</a:t>
            </a:r>
          </a:p>
          <a:p>
            <a:pPr lvl="1">
              <a:lnSpc>
                <a:spcPct val="120000"/>
              </a:lnSpc>
            </a:pPr>
            <a:r>
              <a:rPr lang="en-US" dirty="0"/>
              <a:t>A thread spinning may spin forever….starvation</a:t>
            </a:r>
          </a:p>
        </p:txBody>
      </p:sp>
      <p:sp>
        <p:nvSpPr>
          <p:cNvPr id="9" name="TextBox 8"/>
          <p:cNvSpPr txBox="1"/>
          <p:nvPr/>
        </p:nvSpPr>
        <p:spPr>
          <a:xfrm>
            <a:off x="1295400" y="5638800"/>
            <a:ext cx="6841681" cy="830997"/>
          </a:xfrm>
          <a:prstGeom prst="rect">
            <a:avLst/>
          </a:prstGeom>
          <a:noFill/>
        </p:spPr>
        <p:txBody>
          <a:bodyPr wrap="none" rtlCol="0">
            <a:spAutoFit/>
          </a:bodyPr>
          <a:lstStyle/>
          <a:p>
            <a:r>
              <a:rPr lang="en-US" sz="2400" dirty="0">
                <a:solidFill>
                  <a:srgbClr val="CC3300"/>
                </a:solidFill>
              </a:rPr>
              <a:t>Spinning to wait for a lock held on another processor </a:t>
            </a:r>
          </a:p>
          <a:p>
            <a:pPr algn="ctr"/>
            <a:r>
              <a:rPr lang="en-US" sz="2400" dirty="0">
                <a:solidFill>
                  <a:srgbClr val="CC3300"/>
                </a:solidFill>
              </a:rPr>
              <a:t>doesn’t waste many cycles</a:t>
            </a:r>
            <a:endParaRPr lang="th-TH" sz="2400" dirty="0">
              <a:solidFill>
                <a:srgbClr val="CC3300"/>
              </a:solidFill>
            </a:endParaRPr>
          </a:p>
        </p:txBody>
      </p:sp>
    </p:spTree>
    <p:extLst>
      <p:ext uri="{BB962C8B-B14F-4D97-AF65-F5344CB8AC3E}">
        <p14:creationId xmlns:p14="http://schemas.microsoft.com/office/powerpoint/2010/main" val="330850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Compare-and-Swap (1)</a:t>
            </a:r>
            <a:endParaRPr lang="th-TH" dirty="0"/>
          </a:p>
        </p:txBody>
      </p:sp>
      <p:sp>
        <p:nvSpPr>
          <p:cNvPr id="3" name="Content Placeholder 2"/>
          <p:cNvSpPr>
            <a:spLocks noGrp="1"/>
          </p:cNvSpPr>
          <p:nvPr>
            <p:ph idx="1"/>
          </p:nvPr>
        </p:nvSpPr>
        <p:spPr>
          <a:xfrm>
            <a:off x="457200" y="1371600"/>
            <a:ext cx="8229600" cy="3657600"/>
          </a:xfrm>
        </p:spPr>
        <p:txBody>
          <a:bodyPr>
            <a:normAutofit fontScale="77500" lnSpcReduction="20000"/>
          </a:bodyPr>
          <a:lstStyle/>
          <a:p>
            <a:pPr>
              <a:lnSpc>
                <a:spcPct val="120000"/>
              </a:lnSpc>
            </a:pPr>
            <a:r>
              <a:rPr lang="en-US" dirty="0"/>
              <a:t>Another </a:t>
            </a:r>
            <a:r>
              <a:rPr lang="en-US" dirty="0">
                <a:solidFill>
                  <a:srgbClr val="C00000"/>
                </a:solidFill>
              </a:rPr>
              <a:t>hardware primitive </a:t>
            </a:r>
            <a:r>
              <a:rPr lang="en-US" dirty="0"/>
              <a:t>is the Compare-and-Swap instruction</a:t>
            </a:r>
          </a:p>
          <a:p>
            <a:pPr>
              <a:lnSpc>
                <a:spcPct val="120000"/>
              </a:lnSpc>
            </a:pPr>
            <a:r>
              <a:rPr lang="en-US" dirty="0"/>
              <a:t>It tests whether the value at the location pointed to by </a:t>
            </a:r>
            <a:r>
              <a:rPr lang="en-US" i="1" dirty="0" err="1"/>
              <a:t>ptr</a:t>
            </a:r>
            <a:r>
              <a:rPr lang="en-US" dirty="0"/>
              <a:t> is equal to an expected value </a:t>
            </a:r>
          </a:p>
          <a:p>
            <a:pPr lvl="1">
              <a:lnSpc>
                <a:spcPct val="120000"/>
              </a:lnSpc>
            </a:pPr>
            <a:r>
              <a:rPr lang="en-US" dirty="0"/>
              <a:t>If so, it updates the memory location pointed to by </a:t>
            </a:r>
            <a:r>
              <a:rPr lang="en-US" i="1" dirty="0" err="1"/>
              <a:t>ptr</a:t>
            </a:r>
            <a:r>
              <a:rPr lang="en-US" dirty="0"/>
              <a:t> with the new value </a:t>
            </a:r>
          </a:p>
          <a:p>
            <a:pPr lvl="1">
              <a:lnSpc>
                <a:spcPct val="120000"/>
              </a:lnSpc>
            </a:pPr>
            <a:r>
              <a:rPr lang="en-US" dirty="0"/>
              <a:t>If not, it does nothing</a:t>
            </a:r>
          </a:p>
          <a:p>
            <a:pPr>
              <a:lnSpc>
                <a:spcPct val="120000"/>
              </a:lnSpc>
            </a:pPr>
            <a:r>
              <a:rPr lang="en-US" dirty="0"/>
              <a:t>Again this sequence of operations is performed </a:t>
            </a:r>
            <a:r>
              <a:rPr lang="en-US" dirty="0">
                <a:solidFill>
                  <a:srgbClr val="C00000"/>
                </a:solidFill>
              </a:rPr>
              <a:t>atomically</a:t>
            </a:r>
            <a:endParaRPr lang="th-TH" dirty="0">
              <a:solidFill>
                <a:srgbClr val="C00000"/>
              </a:solidFill>
            </a:endParaRPr>
          </a:p>
        </p:txBody>
      </p:sp>
      <p:grpSp>
        <p:nvGrpSpPr>
          <p:cNvPr id="8" name="Group 7"/>
          <p:cNvGrpSpPr/>
          <p:nvPr/>
        </p:nvGrpSpPr>
        <p:grpSpPr>
          <a:xfrm>
            <a:off x="1447800" y="4800600"/>
            <a:ext cx="6172200" cy="1371600"/>
            <a:chOff x="1447800" y="4800600"/>
            <a:chExt cx="6172200" cy="1371600"/>
          </a:xfrm>
        </p:grpSpPr>
        <p:pic>
          <p:nvPicPr>
            <p:cNvPr id="5" name="Picture 2"/>
            <p:cNvPicPr>
              <a:picLocks noChangeAspect="1" noChangeArrowheads="1"/>
            </p:cNvPicPr>
            <p:nvPr/>
          </p:nvPicPr>
          <p:blipFill>
            <a:blip r:embed="rId2" cstate="print"/>
            <a:srcRect l="17083" t="60741" r="49167" b="25926"/>
            <a:stretch>
              <a:fillRect/>
            </a:stretch>
          </p:blipFill>
          <p:spPr bwMode="auto">
            <a:xfrm>
              <a:off x="1447800" y="4800600"/>
              <a:ext cx="6172200" cy="1371600"/>
            </a:xfrm>
            <a:prstGeom prst="rect">
              <a:avLst/>
            </a:prstGeom>
            <a:noFill/>
            <a:ln w="9525">
              <a:noFill/>
              <a:miter lim="800000"/>
              <a:headEnd/>
              <a:tailEnd/>
            </a:ln>
          </p:spPr>
        </p:pic>
        <p:sp>
          <p:nvSpPr>
            <p:cNvPr id="4" name="TextBox 3"/>
            <p:cNvSpPr txBox="1"/>
            <p:nvPr/>
          </p:nvSpPr>
          <p:spPr>
            <a:xfrm>
              <a:off x="2406032" y="5078147"/>
              <a:ext cx="838200" cy="276999"/>
            </a:xfrm>
            <a:prstGeom prst="rect">
              <a:avLst/>
            </a:prstGeom>
            <a:solidFill>
              <a:schemeClr val="bg1"/>
            </a:solidFill>
          </p:spPr>
          <p:txBody>
            <a:bodyPr wrap="square" rtlCol="0">
              <a:spAutoFit/>
            </a:bodyPr>
            <a:lstStyle/>
            <a:p>
              <a:pPr algn="ctr"/>
              <a:r>
                <a:rPr lang="en-US" sz="1200" dirty="0">
                  <a:latin typeface="Tahoma" panose="020B0604030504040204" pitchFamily="34" charset="0"/>
                  <a:ea typeface="Tahoma" panose="020B0604030504040204" pitchFamily="34" charset="0"/>
                  <a:cs typeface="Tahoma" panose="020B0604030504040204" pitchFamily="34" charset="0"/>
                </a:rPr>
                <a:t>old</a:t>
              </a:r>
            </a:p>
          </p:txBody>
        </p:sp>
        <p:sp>
          <p:nvSpPr>
            <p:cNvPr id="6" name="TextBox 5"/>
            <p:cNvSpPr txBox="1"/>
            <p:nvPr/>
          </p:nvSpPr>
          <p:spPr>
            <a:xfrm>
              <a:off x="2506508" y="5299227"/>
              <a:ext cx="628818" cy="276999"/>
            </a:xfrm>
            <a:prstGeom prst="rect">
              <a:avLst/>
            </a:prstGeom>
            <a:solidFill>
              <a:schemeClr val="bg1"/>
            </a:solidFill>
          </p:spPr>
          <p:txBody>
            <a:bodyPr wrap="square" rtlCol="0">
              <a:spAutoFit/>
            </a:bodyPr>
            <a:lstStyle/>
            <a:p>
              <a:pPr algn="ctr"/>
              <a:r>
                <a:rPr lang="en-US" sz="1200" dirty="0">
                  <a:latin typeface="Tahoma" panose="020B0604030504040204" pitchFamily="34" charset="0"/>
                  <a:ea typeface="Tahoma" panose="020B0604030504040204" pitchFamily="34" charset="0"/>
                  <a:cs typeface="Tahoma" panose="020B0604030504040204" pitchFamily="34" charset="0"/>
                </a:rPr>
                <a:t>old</a:t>
              </a:r>
            </a:p>
          </p:txBody>
        </p:sp>
        <p:sp>
          <p:nvSpPr>
            <p:cNvPr id="7" name="TextBox 6"/>
            <p:cNvSpPr txBox="1"/>
            <p:nvPr/>
          </p:nvSpPr>
          <p:spPr>
            <a:xfrm>
              <a:off x="2795124" y="5742801"/>
              <a:ext cx="685800" cy="276999"/>
            </a:xfrm>
            <a:prstGeom prst="rect">
              <a:avLst/>
            </a:prstGeom>
            <a:solidFill>
              <a:schemeClr val="bg1"/>
            </a:solidFill>
          </p:spPr>
          <p:txBody>
            <a:bodyPr wrap="square" rtlCol="0">
              <a:spAutoFit/>
            </a:bodyPr>
            <a:lstStyle/>
            <a:p>
              <a:pPr algn="ctr"/>
              <a:r>
                <a:rPr lang="en-US" sz="1200" dirty="0">
                  <a:latin typeface="Tahoma" panose="020B0604030504040204" pitchFamily="34" charset="0"/>
                  <a:ea typeface="Tahoma" panose="020B0604030504040204" pitchFamily="34" charset="0"/>
                  <a:cs typeface="Tahoma" panose="020B0604030504040204" pitchFamily="34" charset="0"/>
                </a:rPr>
                <a:t>old</a:t>
              </a:r>
            </a:p>
          </p:txBody>
        </p:sp>
      </p:grpSp>
    </p:spTree>
    <p:extLst>
      <p:ext uri="{BB962C8B-B14F-4D97-AF65-F5344CB8AC3E}">
        <p14:creationId xmlns:p14="http://schemas.microsoft.com/office/powerpoint/2010/main" val="2370859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Compare-and-Swap (2)</a:t>
            </a:r>
            <a:endParaRPr lang="th-TH" dirty="0"/>
          </a:p>
        </p:txBody>
      </p:sp>
      <p:sp>
        <p:nvSpPr>
          <p:cNvPr id="3" name="Content Placeholder 2"/>
          <p:cNvSpPr>
            <a:spLocks noGrp="1" noChangeAspect="1"/>
          </p:cNvSpPr>
          <p:nvPr>
            <p:ph idx="1"/>
          </p:nvPr>
        </p:nvSpPr>
        <p:spPr>
          <a:xfrm>
            <a:off x="457200" y="1600200"/>
            <a:ext cx="8229600" cy="4572000"/>
          </a:xfrm>
        </p:spPr>
        <p:txBody>
          <a:bodyPr>
            <a:normAutofit/>
          </a:bodyPr>
          <a:lstStyle/>
          <a:p>
            <a:r>
              <a:rPr lang="en-US" sz="2600" dirty="0"/>
              <a:t>In both cases the actual value at the memory location is returned allowing the code calling Compare-and-Swap to know whether it succeeded or not</a:t>
            </a:r>
          </a:p>
          <a:p>
            <a:r>
              <a:rPr lang="en-US" sz="2600" dirty="0"/>
              <a:t>A lock can be built in a similar way to that with Test-and-Set</a:t>
            </a:r>
          </a:p>
          <a:p>
            <a:endParaRPr lang="en-US" sz="2600" dirty="0"/>
          </a:p>
          <a:p>
            <a:endParaRPr lang="en-US" sz="2600" dirty="0"/>
          </a:p>
          <a:p>
            <a:endParaRPr lang="en-US" sz="2600" dirty="0"/>
          </a:p>
          <a:p>
            <a:r>
              <a:rPr lang="en-US" sz="2600" dirty="0"/>
              <a:t>The rest of the code is the same as the Test-and-Set example</a:t>
            </a:r>
            <a:endParaRPr lang="th-TH" sz="2600" dirty="0"/>
          </a:p>
        </p:txBody>
      </p:sp>
      <p:pic>
        <p:nvPicPr>
          <p:cNvPr id="5" name="Picture 2"/>
          <p:cNvPicPr>
            <a:picLocks noChangeAspect="1" noChangeArrowheads="1"/>
          </p:cNvPicPr>
          <p:nvPr/>
        </p:nvPicPr>
        <p:blipFill>
          <a:blip r:embed="rId3" cstate="print"/>
          <a:srcRect l="16250" t="59259" r="50833" b="28889"/>
          <a:stretch>
            <a:fillRect/>
          </a:stretch>
        </p:blipFill>
        <p:spPr bwMode="auto">
          <a:xfrm>
            <a:off x="914400" y="3657600"/>
            <a:ext cx="7223833" cy="1463058"/>
          </a:xfrm>
          <a:prstGeom prst="rect">
            <a:avLst/>
          </a:prstGeom>
          <a:noFill/>
          <a:ln w="9525">
            <a:noFill/>
            <a:miter lim="800000"/>
            <a:headEnd/>
            <a:tailEnd/>
          </a:ln>
        </p:spPr>
      </p:pic>
    </p:spTree>
    <p:extLst>
      <p:ext uri="{BB962C8B-B14F-4D97-AF65-F5344CB8AC3E}">
        <p14:creationId xmlns:p14="http://schemas.microsoft.com/office/powerpoint/2010/main" val="2574466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a:t>Compare-and-Swap (3)</a:t>
            </a:r>
          </a:p>
        </p:txBody>
      </p:sp>
      <p:sp>
        <p:nvSpPr>
          <p:cNvPr id="3" name="Content Placeholder 2"/>
          <p:cNvSpPr>
            <a:spLocks noGrp="1"/>
          </p:cNvSpPr>
          <p:nvPr>
            <p:ph idx="1"/>
          </p:nvPr>
        </p:nvSpPr>
        <p:spPr/>
        <p:txBody>
          <a:bodyPr>
            <a:normAutofit fontScale="92500" lnSpcReduction="10000"/>
          </a:bodyPr>
          <a:lstStyle/>
          <a:p>
            <a:pPr marL="171450" indent="-171450"/>
            <a:r>
              <a:rPr lang="en-US" dirty="0"/>
              <a:t>Compare-and-swap is a more powerful instruction than Test-and-Set</a:t>
            </a:r>
          </a:p>
          <a:p>
            <a:pPr marL="171450" indent="-171450"/>
            <a:r>
              <a:rPr lang="en-US" dirty="0"/>
              <a:t>Test-and-Set will return the old value and set the new value always</a:t>
            </a:r>
          </a:p>
          <a:p>
            <a:pPr marL="171450" indent="-171450"/>
            <a:r>
              <a:rPr lang="en-US" dirty="0"/>
              <a:t>Compare-and-Swap will </a:t>
            </a:r>
            <a:r>
              <a:rPr lang="en-US" dirty="0">
                <a:solidFill>
                  <a:srgbClr val="FF0000"/>
                </a:solidFill>
              </a:rPr>
              <a:t>check if the old value </a:t>
            </a:r>
            <a:r>
              <a:rPr lang="en-US" dirty="0"/>
              <a:t>is equal to the expected value and only set the value to the new one if it is.</a:t>
            </a:r>
          </a:p>
          <a:p>
            <a:pPr marL="171450" indent="-171450"/>
            <a:r>
              <a:rPr lang="en-US" dirty="0"/>
              <a:t>For implementing a lock, they are the same, but Compare-and-Swap may be used </a:t>
            </a:r>
            <a:r>
              <a:rPr lang="en-US" dirty="0">
                <a:solidFill>
                  <a:srgbClr val="FF0000"/>
                </a:solidFill>
              </a:rPr>
              <a:t>for some other purposes</a:t>
            </a:r>
            <a:r>
              <a:rPr lang="en-US" dirty="0"/>
              <a:t>.</a:t>
            </a:r>
          </a:p>
        </p:txBody>
      </p:sp>
    </p:spTree>
    <p:extLst>
      <p:ext uri="{BB962C8B-B14F-4D97-AF65-F5344CB8AC3E}">
        <p14:creationId xmlns:p14="http://schemas.microsoft.com/office/powerpoint/2010/main" val="977538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dirty="0"/>
              <a:t>Fetch-and-Add (1)</a:t>
            </a:r>
            <a:endParaRPr lang="th-TH" dirty="0"/>
          </a:p>
        </p:txBody>
      </p:sp>
      <p:sp>
        <p:nvSpPr>
          <p:cNvPr id="3" name="Content Placeholder 2"/>
          <p:cNvSpPr>
            <a:spLocks noGrp="1"/>
          </p:cNvSpPr>
          <p:nvPr>
            <p:ph idx="1"/>
          </p:nvPr>
        </p:nvSpPr>
        <p:spPr>
          <a:xfrm>
            <a:off x="457200" y="1295400"/>
            <a:ext cx="8229600" cy="5029200"/>
          </a:xfrm>
        </p:spPr>
        <p:txBody>
          <a:bodyPr>
            <a:noAutofit/>
          </a:bodyPr>
          <a:lstStyle/>
          <a:p>
            <a:r>
              <a:rPr lang="en-US" sz="2400" dirty="0"/>
              <a:t>Fetch-and-Add </a:t>
            </a:r>
            <a:r>
              <a:rPr lang="en-US" sz="2400" dirty="0">
                <a:solidFill>
                  <a:srgbClr val="CC3300"/>
                </a:solidFill>
              </a:rPr>
              <a:t>atomically</a:t>
            </a:r>
            <a:r>
              <a:rPr lang="en-US" sz="2400" dirty="0"/>
              <a:t>  increments a value at the location pointed to by </a:t>
            </a:r>
            <a:r>
              <a:rPr lang="en-US" sz="2400" dirty="0" err="1"/>
              <a:t>ptr</a:t>
            </a:r>
            <a:r>
              <a:rPr lang="en-US" sz="2400" dirty="0"/>
              <a:t>, while returning the old value at that location</a:t>
            </a:r>
          </a:p>
          <a:p>
            <a:endParaRPr lang="en-US" sz="2400" dirty="0"/>
          </a:p>
          <a:p>
            <a:endParaRPr lang="en-US" sz="2400" dirty="0"/>
          </a:p>
          <a:p>
            <a:pPr>
              <a:spcBef>
                <a:spcPts val="1200"/>
              </a:spcBef>
            </a:pPr>
            <a:r>
              <a:rPr lang="en-US" sz="2400" dirty="0"/>
              <a:t>Fetch-and-Add can be used to build a more interesting </a:t>
            </a:r>
            <a:r>
              <a:rPr lang="en-US" sz="2400" dirty="0">
                <a:solidFill>
                  <a:srgbClr val="CC3300"/>
                </a:solidFill>
              </a:rPr>
              <a:t>ticket lock</a:t>
            </a:r>
          </a:p>
          <a:p>
            <a:r>
              <a:rPr lang="en-US" sz="2400" dirty="0"/>
              <a:t>When a thread wishes to acquire a lock, it first does an atomic Fetch-and-Add on the </a:t>
            </a:r>
            <a:r>
              <a:rPr lang="en-US" sz="2400" dirty="0">
                <a:solidFill>
                  <a:srgbClr val="C00000"/>
                </a:solidFill>
              </a:rPr>
              <a:t>ticket</a:t>
            </a:r>
            <a:r>
              <a:rPr lang="en-US" sz="2400" dirty="0"/>
              <a:t> value; that value is now considered this thread’s “</a:t>
            </a:r>
            <a:r>
              <a:rPr lang="en-US" sz="2400" dirty="0">
                <a:solidFill>
                  <a:srgbClr val="C00000"/>
                </a:solidFill>
              </a:rPr>
              <a:t>turn</a:t>
            </a:r>
            <a:r>
              <a:rPr lang="en-US" sz="2400" dirty="0"/>
              <a:t>” (</a:t>
            </a:r>
            <a:r>
              <a:rPr lang="en-US" sz="2400" dirty="0" err="1"/>
              <a:t>myturn</a:t>
            </a:r>
            <a:r>
              <a:rPr lang="en-US" sz="2400" dirty="0"/>
              <a:t>)</a:t>
            </a:r>
          </a:p>
          <a:p>
            <a:r>
              <a:rPr lang="en-US" sz="2400" dirty="0"/>
              <a:t>The globally shared lock-&gt;turn is then used to  determine which thread’s turn it is</a:t>
            </a:r>
          </a:p>
        </p:txBody>
      </p:sp>
      <p:pic>
        <p:nvPicPr>
          <p:cNvPr id="5122" name="Picture 2"/>
          <p:cNvPicPr>
            <a:picLocks noChangeAspect="1" noChangeArrowheads="1"/>
          </p:cNvPicPr>
          <p:nvPr/>
        </p:nvPicPr>
        <p:blipFill>
          <a:blip r:embed="rId2" cstate="print"/>
          <a:srcRect l="12500" t="60000" r="68750" b="25926"/>
          <a:stretch>
            <a:fillRect/>
          </a:stretch>
        </p:blipFill>
        <p:spPr bwMode="auto">
          <a:xfrm>
            <a:off x="2362200" y="2057400"/>
            <a:ext cx="3429000" cy="1447800"/>
          </a:xfrm>
          <a:prstGeom prst="rect">
            <a:avLst/>
          </a:prstGeom>
          <a:noFill/>
          <a:ln w="9525">
            <a:noFill/>
            <a:miter lim="800000"/>
            <a:headEnd/>
            <a:tailEnd/>
          </a:ln>
        </p:spPr>
      </p:pic>
    </p:spTree>
    <p:extLst>
      <p:ext uri="{BB962C8B-B14F-4D97-AF65-F5344CB8AC3E}">
        <p14:creationId xmlns:p14="http://schemas.microsoft.com/office/powerpoint/2010/main" val="1082670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pPr algn="l"/>
            <a:r>
              <a:rPr lang="en-US" dirty="0"/>
              <a:t>Fetch-and-Add (2)</a:t>
            </a:r>
            <a:endParaRPr lang="th-TH" dirty="0"/>
          </a:p>
        </p:txBody>
      </p:sp>
      <p:pic>
        <p:nvPicPr>
          <p:cNvPr id="6146" name="Picture 2"/>
          <p:cNvPicPr>
            <a:picLocks noChangeAspect="1" noChangeArrowheads="1"/>
          </p:cNvPicPr>
          <p:nvPr/>
        </p:nvPicPr>
        <p:blipFill>
          <a:blip r:embed="rId2" cstate="print"/>
          <a:srcRect l="16667" t="33333" r="54583" b="24445"/>
          <a:stretch>
            <a:fillRect/>
          </a:stretch>
        </p:blipFill>
        <p:spPr bwMode="auto">
          <a:xfrm>
            <a:off x="2057400" y="1611868"/>
            <a:ext cx="5257800" cy="4343400"/>
          </a:xfrm>
          <a:prstGeom prst="rect">
            <a:avLst/>
          </a:prstGeom>
          <a:noFill/>
          <a:ln w="9525">
            <a:noFill/>
            <a:miter lim="800000"/>
            <a:headEnd/>
            <a:tailEnd/>
          </a:ln>
        </p:spPr>
      </p:pic>
      <p:sp>
        <p:nvSpPr>
          <p:cNvPr id="5" name="Rectangle 4"/>
          <p:cNvSpPr/>
          <p:nvPr/>
        </p:nvSpPr>
        <p:spPr>
          <a:xfrm>
            <a:off x="2590800" y="4050268"/>
            <a:ext cx="4724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cxnSp>
        <p:nvCxnSpPr>
          <p:cNvPr id="7" name="Straight Arrow Connector 6"/>
          <p:cNvCxnSpPr/>
          <p:nvPr/>
        </p:nvCxnSpPr>
        <p:spPr>
          <a:xfrm rot="5400000">
            <a:off x="5981700" y="3250168"/>
            <a:ext cx="762000" cy="5334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629400" y="2754868"/>
            <a:ext cx="1902829" cy="369332"/>
          </a:xfrm>
          <a:prstGeom prst="rect">
            <a:avLst/>
          </a:prstGeom>
          <a:noFill/>
          <a:ln>
            <a:solidFill>
              <a:srgbClr val="FF0000"/>
            </a:solidFill>
          </a:ln>
        </p:spPr>
        <p:txBody>
          <a:bodyPr wrap="none" rtlCol="0">
            <a:spAutoFit/>
          </a:bodyPr>
          <a:lstStyle/>
          <a:p>
            <a:r>
              <a:rPr lang="en-US" dirty="0">
                <a:solidFill>
                  <a:srgbClr val="FF0000"/>
                </a:solidFill>
              </a:rPr>
              <a:t>Get a queue ticket</a:t>
            </a:r>
            <a:endParaRPr lang="th-TH" dirty="0">
              <a:solidFill>
                <a:srgbClr val="FF0000"/>
              </a:solidFill>
            </a:endParaRPr>
          </a:p>
        </p:txBody>
      </p:sp>
      <p:sp>
        <p:nvSpPr>
          <p:cNvPr id="9" name="Rectangle 8"/>
          <p:cNvSpPr/>
          <p:nvPr/>
        </p:nvSpPr>
        <p:spPr>
          <a:xfrm>
            <a:off x="2667000" y="4278868"/>
            <a:ext cx="4724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cxnSp>
        <p:nvCxnSpPr>
          <p:cNvPr id="11" name="Straight Arrow Connector 10"/>
          <p:cNvCxnSpPr/>
          <p:nvPr/>
        </p:nvCxnSpPr>
        <p:spPr>
          <a:xfrm rot="16200000" flipV="1">
            <a:off x="6591300" y="4774168"/>
            <a:ext cx="685800" cy="4572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162800" y="5193268"/>
            <a:ext cx="1559979" cy="369332"/>
          </a:xfrm>
          <a:prstGeom prst="rect">
            <a:avLst/>
          </a:prstGeom>
          <a:noFill/>
        </p:spPr>
        <p:txBody>
          <a:bodyPr wrap="none" rtlCol="0">
            <a:spAutoFit/>
          </a:bodyPr>
          <a:lstStyle/>
          <a:p>
            <a:r>
              <a:rPr lang="en-US" dirty="0">
                <a:solidFill>
                  <a:srgbClr val="FF0000"/>
                </a:solidFill>
              </a:rPr>
              <a:t>Wait for a turn</a:t>
            </a:r>
            <a:endParaRPr lang="th-TH" dirty="0">
              <a:solidFill>
                <a:srgbClr val="FF0000"/>
              </a:solidFill>
            </a:endParaRPr>
          </a:p>
        </p:txBody>
      </p:sp>
      <p:sp>
        <p:nvSpPr>
          <p:cNvPr id="13" name="Rectangle 12"/>
          <p:cNvSpPr/>
          <p:nvPr/>
        </p:nvSpPr>
        <p:spPr>
          <a:xfrm>
            <a:off x="2590800" y="5345668"/>
            <a:ext cx="29718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cxnSp>
        <p:nvCxnSpPr>
          <p:cNvPr id="14" name="Straight Arrow Connector 13"/>
          <p:cNvCxnSpPr/>
          <p:nvPr/>
        </p:nvCxnSpPr>
        <p:spPr>
          <a:xfrm rot="10800000">
            <a:off x="3733800" y="5650468"/>
            <a:ext cx="838200" cy="5334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572000" y="6031468"/>
            <a:ext cx="3505200" cy="369332"/>
          </a:xfrm>
          <a:prstGeom prst="rect">
            <a:avLst/>
          </a:prstGeom>
          <a:noFill/>
        </p:spPr>
        <p:txBody>
          <a:bodyPr wrap="square" rtlCol="0">
            <a:spAutoFit/>
          </a:bodyPr>
          <a:lstStyle/>
          <a:p>
            <a:r>
              <a:rPr lang="en-US" dirty="0">
                <a:solidFill>
                  <a:srgbClr val="FF0000"/>
                </a:solidFill>
              </a:rPr>
              <a:t>Now, it’s somebody else turn</a:t>
            </a:r>
            <a:endParaRPr lang="th-TH" dirty="0">
              <a:solidFill>
                <a:srgbClr val="FF0000"/>
              </a:solidFill>
            </a:endParaRPr>
          </a:p>
        </p:txBody>
      </p:sp>
      <p:pic>
        <p:nvPicPr>
          <p:cNvPr id="16" name="Picture 2">
            <a:extLst>
              <a:ext uri="{FF2B5EF4-FFF2-40B4-BE49-F238E27FC236}">
                <a16:creationId xmlns:a16="http://schemas.microsoft.com/office/drawing/2014/main" id="{0011175B-2398-476A-B48C-706A7D7DCE57}"/>
              </a:ext>
            </a:extLst>
          </p:cNvPr>
          <p:cNvPicPr>
            <a:picLocks noChangeAspect="1" noChangeArrowheads="1"/>
          </p:cNvPicPr>
          <p:nvPr/>
        </p:nvPicPr>
        <p:blipFill>
          <a:blip r:embed="rId3" cstate="print"/>
          <a:srcRect l="12500" t="60000" r="68750" b="25926"/>
          <a:stretch>
            <a:fillRect/>
          </a:stretch>
        </p:blipFill>
        <p:spPr bwMode="auto">
          <a:xfrm>
            <a:off x="5562600" y="158383"/>
            <a:ext cx="3429000" cy="1447800"/>
          </a:xfrm>
          <a:prstGeom prst="rect">
            <a:avLst/>
          </a:prstGeom>
          <a:noFill/>
          <a:ln w="9525">
            <a:noFill/>
            <a:miter lim="800000"/>
            <a:headEnd/>
            <a:tailEnd/>
          </a:ln>
        </p:spPr>
      </p:pic>
    </p:spTree>
    <p:extLst>
      <p:ext uri="{BB962C8B-B14F-4D97-AF65-F5344CB8AC3E}">
        <p14:creationId xmlns:p14="http://schemas.microsoft.com/office/powerpoint/2010/main" val="146397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2" grpId="0"/>
      <p:bldP spid="13"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EFBB-787D-457B-9DBD-482C4E98C86B}"/>
              </a:ext>
            </a:extLst>
          </p:cNvPr>
          <p:cNvSpPr>
            <a:spLocks noGrp="1"/>
          </p:cNvSpPr>
          <p:nvPr>
            <p:ph type="title"/>
          </p:nvPr>
        </p:nvSpPr>
        <p:spPr>
          <a:xfrm>
            <a:off x="457200" y="178607"/>
            <a:ext cx="8229600" cy="715962"/>
          </a:xfrm>
        </p:spPr>
        <p:txBody>
          <a:bodyPr>
            <a:normAutofit fontScale="90000"/>
          </a:bodyPr>
          <a:lstStyle/>
          <a:p>
            <a:r>
              <a:rPr lang="en-US" dirty="0"/>
              <a:t>Note Area for Online Teaching</a:t>
            </a:r>
          </a:p>
        </p:txBody>
      </p:sp>
      <p:sp>
        <p:nvSpPr>
          <p:cNvPr id="5" name="Rectangle 4">
            <a:extLst>
              <a:ext uri="{FF2B5EF4-FFF2-40B4-BE49-F238E27FC236}">
                <a16:creationId xmlns:a16="http://schemas.microsoft.com/office/drawing/2014/main" id="{ACDD0619-2C25-45C4-A24D-0E29EC09315B}"/>
              </a:ext>
            </a:extLst>
          </p:cNvPr>
          <p:cNvSpPr/>
          <p:nvPr/>
        </p:nvSpPr>
        <p:spPr>
          <a:xfrm>
            <a:off x="295759" y="1850015"/>
            <a:ext cx="4745065" cy="954107"/>
          </a:xfrm>
          <a:prstGeom prst="rect">
            <a:avLst/>
          </a:prstGeom>
        </p:spPr>
        <p:txBody>
          <a:bodyPr wrap="square">
            <a:spAutoFit/>
          </a:bodyPr>
          <a:lstStyle/>
          <a:p>
            <a:r>
              <a:rPr lang="en-US" sz="1400" dirty="0">
                <a:latin typeface="Courier New" panose="02070309020205020404" pitchFamily="49" charset="0"/>
                <a:cs typeface="Courier New" panose="02070309020205020404" pitchFamily="49" charset="0"/>
              </a:rPr>
              <a:t>void lock(</a:t>
            </a:r>
            <a:r>
              <a:rPr lang="en-US" sz="1400" dirty="0" err="1">
                <a:latin typeface="Courier New" panose="02070309020205020404" pitchFamily="49" charset="0"/>
                <a:cs typeface="Courier New" panose="02070309020205020404" pitchFamily="49" charset="0"/>
              </a:rPr>
              <a:t>lock_t</a:t>
            </a:r>
            <a:r>
              <a:rPr lang="en-US" sz="1400" dirty="0">
                <a:latin typeface="Courier New" panose="02070309020205020404" pitchFamily="49" charset="0"/>
                <a:cs typeface="Courier New" panose="02070309020205020404" pitchFamily="49" charset="0"/>
              </a:rPr>
              <a:t> *mu) {</a:t>
            </a:r>
          </a:p>
          <a:p>
            <a:r>
              <a:rPr lang="en-US" sz="1400" dirty="0">
                <a:latin typeface="Courier New" panose="02070309020205020404" pitchFamily="49" charset="0"/>
                <a:cs typeface="Courier New" panose="02070309020205020404" pitchFamily="49" charset="0"/>
              </a:rPr>
              <a:t>    int </a:t>
            </a:r>
            <a:r>
              <a:rPr lang="en-US" sz="1400" dirty="0" err="1">
                <a:latin typeface="Courier New" panose="02070309020205020404" pitchFamily="49" charset="0"/>
                <a:cs typeface="Courier New" panose="02070309020205020404" pitchFamily="49" charset="0"/>
              </a:rPr>
              <a:t>myturn</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FetchAndAdd</a:t>
            </a:r>
            <a:r>
              <a:rPr lang="en-US" sz="1400" dirty="0">
                <a:latin typeface="Courier New" panose="02070309020205020404" pitchFamily="49" charset="0"/>
                <a:cs typeface="Courier New" panose="02070309020205020404" pitchFamily="49" charset="0"/>
              </a:rPr>
              <a:t>(&amp;mu-&gt;ticket);</a:t>
            </a:r>
          </a:p>
          <a:p>
            <a:r>
              <a:rPr lang="en-US" sz="1400" dirty="0">
                <a:latin typeface="Courier New" panose="02070309020205020404" pitchFamily="49" charset="0"/>
                <a:cs typeface="Courier New" panose="02070309020205020404" pitchFamily="49" charset="0"/>
              </a:rPr>
              <a:t>    while (mu-&gt;turn != </a:t>
            </a:r>
            <a:r>
              <a:rPr lang="en-US" sz="1400" dirty="0" err="1">
                <a:latin typeface="Courier New" panose="02070309020205020404" pitchFamily="49" charset="0"/>
                <a:cs typeface="Courier New" panose="02070309020205020404" pitchFamily="49" charset="0"/>
              </a:rPr>
              <a:t>myturn</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a:t>
            </a:r>
          </a:p>
        </p:txBody>
      </p:sp>
      <p:sp>
        <p:nvSpPr>
          <p:cNvPr id="6" name="Rectangle 5">
            <a:extLst>
              <a:ext uri="{FF2B5EF4-FFF2-40B4-BE49-F238E27FC236}">
                <a16:creationId xmlns:a16="http://schemas.microsoft.com/office/drawing/2014/main" id="{8568E43A-4483-46F8-A4FE-E870246BEFE8}"/>
              </a:ext>
            </a:extLst>
          </p:cNvPr>
          <p:cNvSpPr/>
          <p:nvPr/>
        </p:nvSpPr>
        <p:spPr>
          <a:xfrm>
            <a:off x="5791200" y="1912672"/>
            <a:ext cx="3724759" cy="738664"/>
          </a:xfrm>
          <a:prstGeom prst="rect">
            <a:avLst/>
          </a:prstGeom>
        </p:spPr>
        <p:txBody>
          <a:bodyPr wrap="square">
            <a:spAutoFit/>
          </a:bodyPr>
          <a:lstStyle/>
          <a:p>
            <a:r>
              <a:rPr lang="en-US" sz="1400" dirty="0">
                <a:latin typeface="Courier New" panose="02070309020205020404" pitchFamily="49" charset="0"/>
                <a:cs typeface="Courier New" panose="02070309020205020404" pitchFamily="49" charset="0"/>
              </a:rPr>
              <a:t>void unlock(</a:t>
            </a:r>
            <a:r>
              <a:rPr lang="en-US" sz="1400" dirty="0" err="1">
                <a:latin typeface="Courier New" panose="02070309020205020404" pitchFamily="49" charset="0"/>
                <a:cs typeface="Courier New" panose="02070309020205020404" pitchFamily="49" charset="0"/>
              </a:rPr>
              <a:t>lock_t</a:t>
            </a:r>
            <a:r>
              <a:rPr lang="en-US" sz="1400" dirty="0">
                <a:latin typeface="Courier New" panose="02070309020205020404" pitchFamily="49" charset="0"/>
                <a:cs typeface="Courier New" panose="02070309020205020404" pitchFamily="49" charset="0"/>
              </a:rPr>
              <a:t> *mutex) {</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FetchAndAdd</a:t>
            </a:r>
            <a:r>
              <a:rPr lang="en-US" sz="1400" dirty="0">
                <a:latin typeface="Courier New" panose="02070309020205020404" pitchFamily="49" charset="0"/>
                <a:cs typeface="Courier New" panose="02070309020205020404" pitchFamily="49" charset="0"/>
              </a:rPr>
              <a:t>(&amp;mu-&gt;turn);</a:t>
            </a:r>
          </a:p>
          <a:p>
            <a:r>
              <a:rPr lang="en-US" sz="1400" dirty="0">
                <a:latin typeface="Courier New" panose="02070309020205020404" pitchFamily="49" charset="0"/>
                <a:cs typeface="Courier New" panose="02070309020205020404" pitchFamily="49" charset="0"/>
              </a:rPr>
              <a:t>}</a:t>
            </a:r>
          </a:p>
        </p:txBody>
      </p:sp>
      <p:sp>
        <p:nvSpPr>
          <p:cNvPr id="7" name="Rectangle 6">
            <a:extLst>
              <a:ext uri="{FF2B5EF4-FFF2-40B4-BE49-F238E27FC236}">
                <a16:creationId xmlns:a16="http://schemas.microsoft.com/office/drawing/2014/main" id="{782DF5C1-A005-463B-B5F2-0C32C898CA7C}"/>
              </a:ext>
            </a:extLst>
          </p:cNvPr>
          <p:cNvSpPr/>
          <p:nvPr/>
        </p:nvSpPr>
        <p:spPr>
          <a:xfrm>
            <a:off x="3200400" y="789493"/>
            <a:ext cx="4572000" cy="954107"/>
          </a:xfrm>
          <a:prstGeom prst="rect">
            <a:avLst/>
          </a:prstGeom>
        </p:spPr>
        <p:txBody>
          <a:bodyPr>
            <a:spAutoFit/>
          </a:bodyPr>
          <a:lstStyle/>
          <a:p>
            <a:r>
              <a:rPr lang="en-US" sz="1400" dirty="0">
                <a:latin typeface="Courier New" panose="02070309020205020404" pitchFamily="49" charset="0"/>
                <a:cs typeface="Courier New" panose="02070309020205020404" pitchFamily="49" charset="0"/>
              </a:rPr>
              <a:t>void </a:t>
            </a:r>
            <a:r>
              <a:rPr lang="en-US" sz="1400" dirty="0" err="1">
                <a:latin typeface="Courier New" panose="02070309020205020404" pitchFamily="49" charset="0"/>
                <a:cs typeface="Courier New" panose="02070309020205020404" pitchFamily="49" charset="0"/>
              </a:rPr>
              <a:t>init</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lock_t</a:t>
            </a:r>
            <a:r>
              <a:rPr lang="en-US" sz="1400" dirty="0">
                <a:latin typeface="Courier New" panose="02070309020205020404" pitchFamily="49" charset="0"/>
                <a:cs typeface="Courier New" panose="02070309020205020404" pitchFamily="49" charset="0"/>
              </a:rPr>
              <a:t> *mu) {</a:t>
            </a:r>
          </a:p>
          <a:p>
            <a:r>
              <a:rPr lang="en-US" sz="1400" dirty="0">
                <a:latin typeface="Courier New" panose="02070309020205020404" pitchFamily="49" charset="0"/>
                <a:cs typeface="Courier New" panose="02070309020205020404" pitchFamily="49" charset="0"/>
              </a:rPr>
              <a:t>    mu-&gt;ticket = 0;</a:t>
            </a:r>
          </a:p>
          <a:p>
            <a:r>
              <a:rPr lang="en-US" sz="1400" dirty="0">
                <a:latin typeface="Courier New" panose="02070309020205020404" pitchFamily="49" charset="0"/>
                <a:cs typeface="Courier New" panose="02070309020205020404" pitchFamily="49" charset="0"/>
              </a:rPr>
              <a:t>    mu-&gt;turn = 0;</a:t>
            </a:r>
          </a:p>
          <a:p>
            <a:r>
              <a:rPr lang="en-US" sz="1400" dirty="0">
                <a:latin typeface="Courier New" panose="02070309020205020404" pitchFamily="49" charset="0"/>
                <a:cs typeface="Courier New" panose="02070309020205020404" pitchFamily="49" charset="0"/>
              </a:rPr>
              <a:t>}</a:t>
            </a:r>
          </a:p>
        </p:txBody>
      </p:sp>
      <p:sp>
        <p:nvSpPr>
          <p:cNvPr id="9" name="Rectangle 8">
            <a:extLst>
              <a:ext uri="{FF2B5EF4-FFF2-40B4-BE49-F238E27FC236}">
                <a16:creationId xmlns:a16="http://schemas.microsoft.com/office/drawing/2014/main" id="{D4A3911C-AAB3-4AE7-B178-BFB4A7EA6B36}"/>
              </a:ext>
            </a:extLst>
          </p:cNvPr>
          <p:cNvSpPr/>
          <p:nvPr/>
        </p:nvSpPr>
        <p:spPr>
          <a:xfrm>
            <a:off x="3380891" y="3059381"/>
            <a:ext cx="2857500" cy="2308324"/>
          </a:xfrm>
          <a:prstGeom prst="rect">
            <a:avLst/>
          </a:prstGeom>
        </p:spPr>
        <p:txBody>
          <a:bodyPr wrap="square">
            <a:spAutoFit/>
          </a:bodyPr>
          <a:lstStyle/>
          <a:p>
            <a:r>
              <a:rPr lang="en-US" dirty="0" err="1">
                <a:latin typeface="Courier New" panose="02070309020205020404" pitchFamily="49" charset="0"/>
                <a:cs typeface="Courier New" panose="02070309020205020404" pitchFamily="49" charset="0"/>
              </a:rPr>
              <a:t>lock_t</a:t>
            </a:r>
            <a:r>
              <a:rPr lang="en-US" dirty="0">
                <a:latin typeface="Courier New" panose="02070309020205020404" pitchFamily="49" charset="0"/>
                <a:cs typeface="Courier New" panose="02070309020205020404" pitchFamily="49" charset="0"/>
              </a:rPr>
              <a:t> mu;</a:t>
            </a:r>
          </a:p>
          <a:p>
            <a:r>
              <a:rPr lang="en-US" dirty="0">
                <a:latin typeface="Courier New" panose="02070309020205020404" pitchFamily="49" charset="0"/>
                <a:cs typeface="Courier New" panose="02070309020205020404" pitchFamily="49" charset="0"/>
              </a:rPr>
              <a:t>…</a:t>
            </a:r>
          </a:p>
          <a:p>
            <a:r>
              <a:rPr lang="en-US" dirty="0" err="1">
                <a:latin typeface="Courier New" panose="02070309020205020404" pitchFamily="49" charset="0"/>
                <a:cs typeface="Courier New" panose="02070309020205020404" pitchFamily="49" charset="0"/>
              </a:rPr>
              <a:t>init</a:t>
            </a:r>
            <a:r>
              <a:rPr lang="en-US" dirty="0">
                <a:latin typeface="Courier New" panose="02070309020205020404" pitchFamily="49" charset="0"/>
                <a:cs typeface="Courier New" panose="02070309020205020404" pitchFamily="49" charset="0"/>
              </a:rPr>
              <a:t>(&amp;mu);</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lock(&amp;mu);</a:t>
            </a:r>
          </a:p>
          <a:p>
            <a:r>
              <a:rPr lang="en-US" dirty="0">
                <a:latin typeface="Courier New" panose="02070309020205020404" pitchFamily="49" charset="0"/>
                <a:cs typeface="Courier New" panose="02070309020205020404" pitchFamily="49" charset="0"/>
              </a:rPr>
              <a:t>counter=counter+1;</a:t>
            </a:r>
          </a:p>
          <a:p>
            <a:r>
              <a:rPr lang="en-US" dirty="0">
                <a:latin typeface="Courier New" panose="02070309020205020404" pitchFamily="49" charset="0"/>
                <a:cs typeface="Courier New" panose="02070309020205020404" pitchFamily="49" charset="0"/>
              </a:rPr>
              <a:t>unlock*(&amp;mu);</a:t>
            </a:r>
          </a:p>
          <a:p>
            <a:r>
              <a:rPr lang="en-US" dirty="0">
                <a:latin typeface="Courier New" panose="02070309020205020404" pitchFamily="49" charset="0"/>
                <a:cs typeface="Courier New" panose="02070309020205020404" pitchFamily="49" charset="0"/>
              </a:rPr>
              <a:t>…</a:t>
            </a:r>
          </a:p>
        </p:txBody>
      </p:sp>
      <p:pic>
        <p:nvPicPr>
          <p:cNvPr id="8" name="Picture 2">
            <a:extLst>
              <a:ext uri="{FF2B5EF4-FFF2-40B4-BE49-F238E27FC236}">
                <a16:creationId xmlns:a16="http://schemas.microsoft.com/office/drawing/2014/main" id="{DB8C4524-0554-4419-8F77-A822887AF2BA}"/>
              </a:ext>
            </a:extLst>
          </p:cNvPr>
          <p:cNvPicPr>
            <a:picLocks noChangeAspect="1" noChangeArrowheads="1"/>
          </p:cNvPicPr>
          <p:nvPr/>
        </p:nvPicPr>
        <p:blipFill>
          <a:blip r:embed="rId2" cstate="print"/>
          <a:srcRect l="12500" t="60000" r="68750" b="25926"/>
          <a:stretch>
            <a:fillRect/>
          </a:stretch>
        </p:blipFill>
        <p:spPr bwMode="auto">
          <a:xfrm>
            <a:off x="295759" y="5231593"/>
            <a:ext cx="3429000" cy="1447800"/>
          </a:xfrm>
          <a:prstGeom prst="rect">
            <a:avLst/>
          </a:prstGeom>
          <a:noFill/>
          <a:ln w="9525">
            <a:noFill/>
            <a:miter lim="800000"/>
            <a:headEnd/>
            <a:tailEnd/>
          </a:ln>
        </p:spPr>
      </p:pic>
    </p:spTree>
    <p:extLst>
      <p:ext uri="{BB962C8B-B14F-4D97-AF65-F5344CB8AC3E}">
        <p14:creationId xmlns:p14="http://schemas.microsoft.com/office/powerpoint/2010/main" val="1804709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Fetch-and-Add (3)</a:t>
            </a:r>
            <a:endParaRPr lang="th-TH" dirty="0"/>
          </a:p>
        </p:txBody>
      </p:sp>
      <p:sp>
        <p:nvSpPr>
          <p:cNvPr id="3" name="Content Placeholder 2"/>
          <p:cNvSpPr>
            <a:spLocks noGrp="1"/>
          </p:cNvSpPr>
          <p:nvPr>
            <p:ph idx="1"/>
          </p:nvPr>
        </p:nvSpPr>
        <p:spPr>
          <a:xfrm>
            <a:off x="457200" y="1600200"/>
            <a:ext cx="8229600" cy="4724400"/>
          </a:xfrm>
        </p:spPr>
        <p:txBody>
          <a:bodyPr>
            <a:normAutofit fontScale="92500"/>
          </a:bodyPr>
          <a:lstStyle/>
          <a:p>
            <a:r>
              <a:rPr lang="en-US" dirty="0"/>
              <a:t>When (</a:t>
            </a:r>
            <a:r>
              <a:rPr lang="en-US" dirty="0" err="1"/>
              <a:t>myturn</a:t>
            </a:r>
            <a:r>
              <a:rPr lang="en-US" dirty="0"/>
              <a:t> == turn) for a given thread, it is that </a:t>
            </a:r>
            <a:r>
              <a:rPr lang="en-US" dirty="0">
                <a:solidFill>
                  <a:srgbClr val="FF0000"/>
                </a:solidFill>
              </a:rPr>
              <a:t>thread’s turn </a:t>
            </a:r>
            <a:r>
              <a:rPr lang="en-US" dirty="0"/>
              <a:t>to enter the critical section</a:t>
            </a:r>
            <a:endParaRPr lang="en-US" dirty="0">
              <a:solidFill>
                <a:srgbClr val="FF0000"/>
              </a:solidFill>
            </a:endParaRPr>
          </a:p>
          <a:p>
            <a:r>
              <a:rPr lang="en-US" dirty="0"/>
              <a:t>Unlock is accomplished simply by </a:t>
            </a:r>
            <a:r>
              <a:rPr lang="en-US" dirty="0">
                <a:solidFill>
                  <a:srgbClr val="FF0000"/>
                </a:solidFill>
              </a:rPr>
              <a:t>incrementing the turn</a:t>
            </a:r>
            <a:r>
              <a:rPr lang="en-US" dirty="0"/>
              <a:t> such that the next waiting thread (if there is one) can now enter the critical section</a:t>
            </a:r>
          </a:p>
          <a:p>
            <a:r>
              <a:rPr lang="en-US" dirty="0"/>
              <a:t>This method ensures progress for </a:t>
            </a:r>
            <a:r>
              <a:rPr lang="en-US" dirty="0">
                <a:solidFill>
                  <a:srgbClr val="FF0000"/>
                </a:solidFill>
              </a:rPr>
              <a:t>all threads</a:t>
            </a:r>
          </a:p>
          <a:p>
            <a:r>
              <a:rPr lang="en-US" dirty="0"/>
              <a:t>Once a thread is assigned its ticket value, it will be scheduled at some point in the future</a:t>
            </a:r>
          </a:p>
          <a:p>
            <a:r>
              <a:rPr lang="en-US" dirty="0"/>
              <a:t>In previous methods, no such guarantee existed</a:t>
            </a:r>
            <a:endParaRPr lang="th-TH" dirty="0"/>
          </a:p>
        </p:txBody>
      </p:sp>
    </p:spTree>
    <p:extLst>
      <p:ext uri="{BB962C8B-B14F-4D97-AF65-F5344CB8AC3E}">
        <p14:creationId xmlns:p14="http://schemas.microsoft.com/office/powerpoint/2010/main" val="1763803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Much Spinning</a:t>
            </a:r>
            <a:endParaRPr lang="th-TH" dirty="0"/>
          </a:p>
        </p:txBody>
      </p:sp>
      <p:sp>
        <p:nvSpPr>
          <p:cNvPr id="3" name="Content Placeholder 2"/>
          <p:cNvSpPr>
            <a:spLocks noGrp="1"/>
          </p:cNvSpPr>
          <p:nvPr>
            <p:ph idx="1"/>
          </p:nvPr>
        </p:nvSpPr>
        <p:spPr>
          <a:xfrm>
            <a:off x="457200" y="1524000"/>
            <a:ext cx="8382000" cy="4800600"/>
          </a:xfrm>
        </p:spPr>
        <p:txBody>
          <a:bodyPr>
            <a:normAutofit fontScale="77500" lnSpcReduction="20000"/>
          </a:bodyPr>
          <a:lstStyle/>
          <a:p>
            <a:pPr>
              <a:lnSpc>
                <a:spcPct val="120000"/>
              </a:lnSpc>
            </a:pPr>
            <a:r>
              <a:rPr lang="en-US" sz="3100" dirty="0"/>
              <a:t>Hardware-based locks are simple and they work, but … they are inefficient with so much spinning</a:t>
            </a:r>
          </a:p>
          <a:p>
            <a:pPr>
              <a:lnSpc>
                <a:spcPct val="120000"/>
              </a:lnSpc>
            </a:pPr>
            <a:r>
              <a:rPr lang="en-US" sz="3100" dirty="0"/>
              <a:t>Threads can waste an entire time slice doing nothing but checking a value</a:t>
            </a:r>
          </a:p>
          <a:p>
            <a:pPr lvl="1">
              <a:lnSpc>
                <a:spcPct val="120000"/>
              </a:lnSpc>
            </a:pPr>
            <a:r>
              <a:rPr lang="en-US" dirty="0"/>
              <a:t>If a context switch occurs in a critical section, the value will never change until another context switch occurs</a:t>
            </a:r>
          </a:p>
          <a:p>
            <a:pPr>
              <a:lnSpc>
                <a:spcPct val="120000"/>
              </a:lnSpc>
            </a:pPr>
            <a:r>
              <a:rPr lang="en-US" sz="3100" dirty="0"/>
              <a:t>With N threads contending for a lock, N−1 time slices may be wasted</a:t>
            </a:r>
          </a:p>
          <a:p>
            <a:pPr>
              <a:lnSpc>
                <a:spcPct val="120000"/>
              </a:lnSpc>
            </a:pPr>
            <a:r>
              <a:rPr lang="en-US" sz="3100" dirty="0"/>
              <a:t>How can we develop a lock that does not needlessly waste time spinning on the CPU?</a:t>
            </a:r>
          </a:p>
          <a:p>
            <a:pPr>
              <a:lnSpc>
                <a:spcPct val="120000"/>
              </a:lnSpc>
            </a:pPr>
            <a:r>
              <a:rPr lang="en-US" sz="3100" dirty="0">
                <a:solidFill>
                  <a:srgbClr val="CC3300"/>
                </a:solidFill>
              </a:rPr>
              <a:t>Hardware support alone cannot solve the problem – we’ll need OS support too!</a:t>
            </a:r>
            <a:endParaRPr lang="th-TH" sz="3100" dirty="0">
              <a:solidFill>
                <a:srgbClr val="CC3300"/>
              </a:solidFill>
            </a:endParaRPr>
          </a:p>
        </p:txBody>
      </p:sp>
    </p:spTree>
    <p:extLst>
      <p:ext uri="{BB962C8B-B14F-4D97-AF65-F5344CB8AC3E}">
        <p14:creationId xmlns:p14="http://schemas.microsoft.com/office/powerpoint/2010/main" val="350617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Yield (1)</a:t>
            </a:r>
            <a:endParaRPr lang="th-TH" dirty="0"/>
          </a:p>
        </p:txBody>
      </p:sp>
      <p:sp>
        <p:nvSpPr>
          <p:cNvPr id="3" name="Content Placeholder 2"/>
          <p:cNvSpPr>
            <a:spLocks noGrp="1"/>
          </p:cNvSpPr>
          <p:nvPr>
            <p:ph idx="1"/>
          </p:nvPr>
        </p:nvSpPr>
        <p:spPr>
          <a:xfrm>
            <a:off x="457200" y="1143000"/>
            <a:ext cx="8382000" cy="3962400"/>
          </a:xfrm>
        </p:spPr>
        <p:txBody>
          <a:bodyPr>
            <a:normAutofit fontScale="92500" lnSpcReduction="10000"/>
          </a:bodyPr>
          <a:lstStyle/>
          <a:p>
            <a:pPr>
              <a:lnSpc>
                <a:spcPct val="110000"/>
              </a:lnSpc>
              <a:spcBef>
                <a:spcPts val="600"/>
              </a:spcBef>
            </a:pPr>
            <a:r>
              <a:rPr lang="en-US" dirty="0"/>
              <a:t>When a thread is going to spin, instead it gives up the CPU to another thread</a:t>
            </a:r>
          </a:p>
          <a:p>
            <a:pPr>
              <a:lnSpc>
                <a:spcPct val="110000"/>
              </a:lnSpc>
              <a:spcBef>
                <a:spcPts val="600"/>
              </a:spcBef>
            </a:pPr>
            <a:r>
              <a:rPr lang="en-US" dirty="0"/>
              <a:t>An operating system primitive </a:t>
            </a:r>
            <a:r>
              <a:rPr lang="en-US" dirty="0">
                <a:solidFill>
                  <a:srgbClr val="CC3300"/>
                </a:solidFill>
              </a:rPr>
              <a:t>yield() </a:t>
            </a:r>
            <a:r>
              <a:rPr lang="en-US" dirty="0"/>
              <a:t>can be called when a thread wants to give up the CPU</a:t>
            </a:r>
          </a:p>
          <a:p>
            <a:pPr>
              <a:lnSpc>
                <a:spcPct val="110000"/>
              </a:lnSpc>
              <a:spcBef>
                <a:spcPts val="600"/>
              </a:spcBef>
            </a:pPr>
            <a:r>
              <a:rPr lang="en-US" dirty="0"/>
              <a:t>Yield () </a:t>
            </a:r>
          </a:p>
          <a:p>
            <a:pPr lvl="1">
              <a:lnSpc>
                <a:spcPct val="110000"/>
              </a:lnSpc>
              <a:spcBef>
                <a:spcPts val="600"/>
              </a:spcBef>
            </a:pPr>
            <a:r>
              <a:rPr lang="en-US" dirty="0"/>
              <a:t>Moves the caller from the running state to the ready state</a:t>
            </a:r>
          </a:p>
          <a:p>
            <a:pPr lvl="1">
              <a:lnSpc>
                <a:spcPct val="110000"/>
              </a:lnSpc>
              <a:spcBef>
                <a:spcPts val="600"/>
              </a:spcBef>
            </a:pPr>
            <a:r>
              <a:rPr lang="en-US" dirty="0"/>
              <a:t>And thus allows another thread to run</a:t>
            </a:r>
          </a:p>
          <a:p>
            <a:endParaRPr lang="th-TH" dirty="0"/>
          </a:p>
        </p:txBody>
      </p:sp>
      <p:pic>
        <p:nvPicPr>
          <p:cNvPr id="7170" name="Picture 2"/>
          <p:cNvPicPr>
            <a:picLocks noChangeAspect="1" noChangeArrowheads="1"/>
          </p:cNvPicPr>
          <p:nvPr/>
        </p:nvPicPr>
        <p:blipFill>
          <a:blip r:embed="rId2" cstate="print"/>
          <a:srcRect l="12917" t="41481" r="62500" b="48149"/>
          <a:stretch>
            <a:fillRect/>
          </a:stretch>
        </p:blipFill>
        <p:spPr bwMode="auto">
          <a:xfrm>
            <a:off x="2209800" y="5105400"/>
            <a:ext cx="4495800" cy="1066800"/>
          </a:xfrm>
          <a:prstGeom prst="rect">
            <a:avLst/>
          </a:prstGeom>
          <a:noFill/>
          <a:ln w="9525">
            <a:noFill/>
            <a:miter lim="800000"/>
            <a:headEnd/>
            <a:tailEnd/>
          </a:ln>
        </p:spPr>
      </p:pic>
    </p:spTree>
    <p:extLst>
      <p:ext uri="{BB962C8B-B14F-4D97-AF65-F5344CB8AC3E}">
        <p14:creationId xmlns:p14="http://schemas.microsoft.com/office/powerpoint/2010/main" val="797863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Yield (2)</a:t>
            </a:r>
            <a:endParaRPr lang="th-TH" dirty="0"/>
          </a:p>
        </p:txBody>
      </p:sp>
      <p:sp>
        <p:nvSpPr>
          <p:cNvPr id="3" name="Content Placeholder 2"/>
          <p:cNvSpPr>
            <a:spLocks noGrp="1"/>
          </p:cNvSpPr>
          <p:nvPr>
            <p:ph idx="1"/>
          </p:nvPr>
        </p:nvSpPr>
        <p:spPr>
          <a:xfrm>
            <a:off x="457200" y="1447800"/>
            <a:ext cx="8229600" cy="4648200"/>
          </a:xfrm>
        </p:spPr>
        <p:txBody>
          <a:bodyPr>
            <a:normAutofit/>
          </a:bodyPr>
          <a:lstStyle/>
          <a:p>
            <a:pPr>
              <a:lnSpc>
                <a:spcPct val="110000"/>
              </a:lnSpc>
              <a:spcBef>
                <a:spcPts val="600"/>
              </a:spcBef>
            </a:pPr>
            <a:r>
              <a:rPr lang="en-US" sz="2600" dirty="0"/>
              <a:t>What if there are many threads contending for a lock repeatedly?</a:t>
            </a:r>
          </a:p>
          <a:p>
            <a:pPr>
              <a:lnSpc>
                <a:spcPct val="110000"/>
              </a:lnSpc>
              <a:spcBef>
                <a:spcPts val="600"/>
              </a:spcBef>
            </a:pPr>
            <a:r>
              <a:rPr lang="en-US" sz="2600" dirty="0"/>
              <a:t>If one thread acquires the lock and is preempted before releasing it, the other </a:t>
            </a:r>
            <a:r>
              <a:rPr lang="en-US" sz="2600" dirty="0">
                <a:solidFill>
                  <a:srgbClr val="FF0000"/>
                </a:solidFill>
              </a:rPr>
              <a:t>N–1 threads </a:t>
            </a:r>
            <a:r>
              <a:rPr lang="en-US" sz="2600" dirty="0"/>
              <a:t>will each call lock(), find the lock held, and yield the CPU</a:t>
            </a:r>
          </a:p>
          <a:p>
            <a:pPr>
              <a:lnSpc>
                <a:spcPct val="110000"/>
              </a:lnSpc>
              <a:spcBef>
                <a:spcPts val="600"/>
              </a:spcBef>
            </a:pPr>
            <a:r>
              <a:rPr lang="en-US" sz="2600" dirty="0"/>
              <a:t>Each of the N–1 threads will execute this </a:t>
            </a:r>
            <a:r>
              <a:rPr lang="en-US" sz="2600" dirty="0">
                <a:solidFill>
                  <a:srgbClr val="FF0000"/>
                </a:solidFill>
              </a:rPr>
              <a:t>run-and-yield pattern</a:t>
            </a:r>
            <a:r>
              <a:rPr lang="en-US" sz="2600" dirty="0"/>
              <a:t> until the thread holding the lock gets to run again</a:t>
            </a:r>
          </a:p>
          <a:p>
            <a:pPr>
              <a:lnSpc>
                <a:spcPct val="110000"/>
              </a:lnSpc>
              <a:spcBef>
                <a:spcPts val="600"/>
              </a:spcBef>
            </a:pPr>
            <a:r>
              <a:rPr lang="en-US" sz="2600" dirty="0"/>
              <a:t>There are still plenty of waste cycles </a:t>
            </a:r>
          </a:p>
          <a:p>
            <a:pPr>
              <a:lnSpc>
                <a:spcPct val="110000"/>
              </a:lnSpc>
              <a:spcBef>
                <a:spcPts val="600"/>
              </a:spcBef>
            </a:pPr>
            <a:r>
              <a:rPr lang="en-US" sz="2600" dirty="0"/>
              <a:t>And … the starvation problem still exists with </a:t>
            </a:r>
            <a:r>
              <a:rPr lang="en-US" sz="2600" dirty="0">
                <a:solidFill>
                  <a:srgbClr val="FF0000"/>
                </a:solidFill>
              </a:rPr>
              <a:t>some cases</a:t>
            </a:r>
            <a:endParaRPr lang="th-TH" sz="2600" dirty="0">
              <a:solidFill>
                <a:srgbClr val="FF0000"/>
              </a:solidFill>
            </a:endParaRPr>
          </a:p>
        </p:txBody>
      </p:sp>
    </p:spTree>
    <p:extLst>
      <p:ext uri="{BB962C8B-B14F-4D97-AF65-F5344CB8AC3E}">
        <p14:creationId xmlns:p14="http://schemas.microsoft.com/office/powerpoint/2010/main" val="1394975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Queues: Sleep instead of Spin</a:t>
            </a:r>
            <a:endParaRPr lang="th-TH" dirty="0"/>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r>
              <a:rPr lang="en-US" dirty="0"/>
              <a:t>Explicitly exert some control over who gets to acquire the lock next </a:t>
            </a:r>
          </a:p>
          <a:p>
            <a:r>
              <a:rPr lang="en-US" dirty="0"/>
              <a:t>To do this, we need a little more OS support, as well as a queue (keep track of which threads are waiting to enter the lock)</a:t>
            </a:r>
          </a:p>
          <a:p>
            <a:r>
              <a:rPr lang="en-US" dirty="0"/>
              <a:t>For simplicity, Solaris’s support is considered</a:t>
            </a:r>
          </a:p>
          <a:p>
            <a:pPr lvl="1"/>
            <a:r>
              <a:rPr lang="en-US" dirty="0"/>
              <a:t>park() to put a calling thread to sleep </a:t>
            </a:r>
          </a:p>
          <a:p>
            <a:pPr lvl="1"/>
            <a:r>
              <a:rPr lang="en-US" dirty="0" err="1"/>
              <a:t>unpark</a:t>
            </a:r>
            <a:r>
              <a:rPr lang="en-US" dirty="0"/>
              <a:t>(</a:t>
            </a:r>
            <a:r>
              <a:rPr lang="en-US" dirty="0" err="1"/>
              <a:t>threadID</a:t>
            </a:r>
            <a:r>
              <a:rPr lang="en-US" dirty="0"/>
              <a:t>) to wake a particular</a:t>
            </a:r>
          </a:p>
          <a:p>
            <a:r>
              <a:rPr lang="en-US" dirty="0"/>
              <a:t>Put a caller to sleep if it tries to acquire a held lock and wakes it when the lock is free</a:t>
            </a:r>
          </a:p>
        </p:txBody>
      </p:sp>
    </p:spTree>
    <p:extLst>
      <p:ext uri="{BB962C8B-B14F-4D97-AF65-F5344CB8AC3E}">
        <p14:creationId xmlns:p14="http://schemas.microsoft.com/office/powerpoint/2010/main" val="1367014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Idea</a:t>
            </a:r>
            <a:endParaRPr lang="th-TH" dirty="0"/>
          </a:p>
        </p:txBody>
      </p:sp>
      <p:sp>
        <p:nvSpPr>
          <p:cNvPr id="3" name="Content Placeholder 2"/>
          <p:cNvSpPr>
            <a:spLocks noGrp="1"/>
          </p:cNvSpPr>
          <p:nvPr>
            <p:ph idx="1"/>
          </p:nvPr>
        </p:nvSpPr>
        <p:spPr>
          <a:xfrm>
            <a:off x="457200" y="1600200"/>
            <a:ext cx="8229600" cy="4800600"/>
          </a:xfrm>
        </p:spPr>
        <p:txBody>
          <a:bodyPr>
            <a:normAutofit fontScale="92500"/>
          </a:bodyPr>
          <a:lstStyle/>
          <a:p>
            <a:r>
              <a:rPr lang="en-US" dirty="0"/>
              <a:t>Lock: A thread checks a lock</a:t>
            </a:r>
          </a:p>
          <a:p>
            <a:pPr lvl="1"/>
            <a:r>
              <a:rPr lang="en-US" dirty="0"/>
              <a:t>If free, takes the lock and enters the critical section</a:t>
            </a:r>
          </a:p>
          <a:p>
            <a:pPr lvl="1"/>
            <a:r>
              <a:rPr lang="en-US" dirty="0"/>
              <a:t>If not, sleeps in a queue – Someone else will give it the lock later on</a:t>
            </a:r>
          </a:p>
          <a:p>
            <a:r>
              <a:rPr lang="en-US" dirty="0"/>
              <a:t>Unlock: A Thread unlocks the critical section</a:t>
            </a:r>
          </a:p>
          <a:p>
            <a:pPr lvl="1"/>
            <a:r>
              <a:rPr lang="en-US" dirty="0"/>
              <a:t>If the waiting queue is empty, releases the lock</a:t>
            </a:r>
          </a:p>
          <a:p>
            <a:pPr lvl="1"/>
            <a:r>
              <a:rPr lang="en-US" dirty="0"/>
              <a:t>If not, pass the lock to the next thread in the queue</a:t>
            </a:r>
          </a:p>
          <a:p>
            <a:pPr lvl="1"/>
            <a:r>
              <a:rPr lang="en-US" dirty="0"/>
              <a:t>The next thread will be woken up with the lock and can proceed into the critical section</a:t>
            </a:r>
          </a:p>
          <a:p>
            <a:endParaRPr lang="th-TH" dirty="0"/>
          </a:p>
        </p:txBody>
      </p:sp>
    </p:spTree>
    <p:extLst>
      <p:ext uri="{BB962C8B-B14F-4D97-AF65-F5344CB8AC3E}">
        <p14:creationId xmlns:p14="http://schemas.microsoft.com/office/powerpoint/2010/main" val="3471349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cstate="print"/>
          <a:srcRect l="12917" t="14815" r="45000" b="12593"/>
          <a:stretch>
            <a:fillRect/>
          </a:stretch>
        </p:blipFill>
        <p:spPr bwMode="auto">
          <a:xfrm>
            <a:off x="0" y="0"/>
            <a:ext cx="7696200" cy="6858000"/>
          </a:xfrm>
          <a:prstGeom prst="rect">
            <a:avLst/>
          </a:prstGeom>
          <a:noFill/>
          <a:ln w="9525">
            <a:noFill/>
            <a:miter lim="800000"/>
            <a:headEnd/>
            <a:tailEnd/>
          </a:ln>
        </p:spPr>
      </p:pic>
      <p:sp>
        <p:nvSpPr>
          <p:cNvPr id="3" name="Right Brace 2"/>
          <p:cNvSpPr/>
          <p:nvPr/>
        </p:nvSpPr>
        <p:spPr>
          <a:xfrm>
            <a:off x="5105400" y="3048000"/>
            <a:ext cx="228600" cy="13716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4" name="Right Brace 3"/>
          <p:cNvSpPr/>
          <p:nvPr/>
        </p:nvSpPr>
        <p:spPr>
          <a:xfrm>
            <a:off x="7620000" y="5638800"/>
            <a:ext cx="228600" cy="9144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5" name="TextBox 4"/>
          <p:cNvSpPr txBox="1"/>
          <p:nvPr/>
        </p:nvSpPr>
        <p:spPr>
          <a:xfrm>
            <a:off x="5458448" y="3429000"/>
            <a:ext cx="3506729" cy="369332"/>
          </a:xfrm>
          <a:prstGeom prst="rect">
            <a:avLst/>
          </a:prstGeom>
          <a:noFill/>
        </p:spPr>
        <p:txBody>
          <a:bodyPr wrap="none" rtlCol="0">
            <a:spAutoFit/>
          </a:bodyPr>
          <a:lstStyle/>
          <a:p>
            <a:r>
              <a:rPr lang="en-US" dirty="0">
                <a:solidFill>
                  <a:srgbClr val="FF0000"/>
                </a:solidFill>
              </a:rPr>
              <a:t>This has to be a mini critical section</a:t>
            </a:r>
            <a:endParaRPr lang="th-TH" dirty="0">
              <a:solidFill>
                <a:srgbClr val="FF0000"/>
              </a:solidFill>
            </a:endParaRPr>
          </a:p>
        </p:txBody>
      </p:sp>
      <p:sp>
        <p:nvSpPr>
          <p:cNvPr id="6" name="TextBox 5"/>
          <p:cNvSpPr txBox="1"/>
          <p:nvPr/>
        </p:nvSpPr>
        <p:spPr>
          <a:xfrm>
            <a:off x="7848600" y="5495835"/>
            <a:ext cx="1238801" cy="1200329"/>
          </a:xfrm>
          <a:prstGeom prst="rect">
            <a:avLst/>
          </a:prstGeom>
          <a:noFill/>
        </p:spPr>
        <p:txBody>
          <a:bodyPr wrap="none" rtlCol="0">
            <a:spAutoFit/>
          </a:bodyPr>
          <a:lstStyle/>
          <a:p>
            <a:r>
              <a:rPr lang="en-US" dirty="0">
                <a:solidFill>
                  <a:srgbClr val="FF0000"/>
                </a:solidFill>
              </a:rPr>
              <a:t>This has to </a:t>
            </a:r>
          </a:p>
          <a:p>
            <a:r>
              <a:rPr lang="en-US" dirty="0">
                <a:solidFill>
                  <a:srgbClr val="FF0000"/>
                </a:solidFill>
              </a:rPr>
              <a:t>be a mini </a:t>
            </a:r>
          </a:p>
          <a:p>
            <a:r>
              <a:rPr lang="en-US" dirty="0">
                <a:solidFill>
                  <a:srgbClr val="FF0000"/>
                </a:solidFill>
              </a:rPr>
              <a:t>critical </a:t>
            </a:r>
          </a:p>
          <a:p>
            <a:r>
              <a:rPr lang="en-US" dirty="0">
                <a:solidFill>
                  <a:srgbClr val="FF0000"/>
                </a:solidFill>
              </a:rPr>
              <a:t>section</a:t>
            </a:r>
            <a:endParaRPr lang="th-TH" dirty="0">
              <a:solidFill>
                <a:srgbClr val="FF0000"/>
              </a:solidFill>
            </a:endParaRPr>
          </a:p>
        </p:txBody>
      </p:sp>
      <p:sp>
        <p:nvSpPr>
          <p:cNvPr id="8" name="TextBox 7"/>
          <p:cNvSpPr txBox="1"/>
          <p:nvPr/>
        </p:nvSpPr>
        <p:spPr>
          <a:xfrm>
            <a:off x="1905000" y="4572000"/>
            <a:ext cx="679994" cy="369332"/>
          </a:xfrm>
          <a:prstGeom prst="rect">
            <a:avLst/>
          </a:prstGeom>
          <a:noFill/>
        </p:spPr>
        <p:txBody>
          <a:bodyPr wrap="none" rtlCol="0">
            <a:spAutoFit/>
          </a:bodyPr>
          <a:lstStyle/>
          <a:p>
            <a:r>
              <a:rPr lang="en-US" dirty="0">
                <a:solidFill>
                  <a:srgbClr val="FF0000"/>
                </a:solidFill>
              </a:rPr>
              <a:t>sleep</a:t>
            </a:r>
            <a:endParaRPr lang="th-TH" dirty="0">
              <a:solidFill>
                <a:srgbClr val="FF0000"/>
              </a:solidFill>
            </a:endParaRPr>
          </a:p>
        </p:txBody>
      </p:sp>
      <p:cxnSp>
        <p:nvCxnSpPr>
          <p:cNvPr id="12" name="Straight Arrow Connector 11"/>
          <p:cNvCxnSpPr>
            <a:stCxn id="8" idx="1"/>
          </p:cNvCxnSpPr>
          <p:nvPr/>
        </p:nvCxnSpPr>
        <p:spPr>
          <a:xfrm rot="10800000">
            <a:off x="1524000" y="4419600"/>
            <a:ext cx="381000" cy="3370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76200" y="1219200"/>
            <a:ext cx="3276600" cy="1143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5" name="TextBox 14"/>
          <p:cNvSpPr txBox="1"/>
          <p:nvPr/>
        </p:nvSpPr>
        <p:spPr>
          <a:xfrm>
            <a:off x="2971800" y="4191000"/>
            <a:ext cx="1702902" cy="369332"/>
          </a:xfrm>
          <a:prstGeom prst="rect">
            <a:avLst/>
          </a:prstGeom>
          <a:noFill/>
        </p:spPr>
        <p:txBody>
          <a:bodyPr wrap="none" rtlCol="0">
            <a:spAutoFit/>
          </a:bodyPr>
          <a:lstStyle/>
          <a:p>
            <a:r>
              <a:rPr lang="en-US" dirty="0">
                <a:solidFill>
                  <a:srgbClr val="FF0000"/>
                </a:solidFill>
              </a:rPr>
              <a:t>Enter the queue</a:t>
            </a:r>
            <a:endParaRPr lang="th-TH" dirty="0">
              <a:solidFill>
                <a:srgbClr val="FF0000"/>
              </a:solidFill>
            </a:endParaRPr>
          </a:p>
        </p:txBody>
      </p:sp>
      <p:cxnSp>
        <p:nvCxnSpPr>
          <p:cNvPr id="16" name="Straight Arrow Connector 15"/>
          <p:cNvCxnSpPr>
            <a:stCxn id="15" idx="1"/>
          </p:cNvCxnSpPr>
          <p:nvPr/>
        </p:nvCxnSpPr>
        <p:spPr>
          <a:xfrm rot="10800000">
            <a:off x="2590800" y="4038600"/>
            <a:ext cx="381000" cy="3370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480479" y="3749933"/>
            <a:ext cx="3509166" cy="923330"/>
          </a:xfrm>
          <a:prstGeom prst="rect">
            <a:avLst/>
          </a:prstGeom>
          <a:noFill/>
        </p:spPr>
        <p:txBody>
          <a:bodyPr wrap="none" rtlCol="0">
            <a:spAutoFit/>
          </a:bodyPr>
          <a:lstStyle/>
          <a:p>
            <a:r>
              <a:rPr lang="en-US" dirty="0">
                <a:solidFill>
                  <a:srgbClr val="FF0000"/>
                </a:solidFill>
              </a:rPr>
              <a:t>But a much smaller section in </a:t>
            </a:r>
          </a:p>
          <a:p>
            <a:r>
              <a:rPr lang="en-US" dirty="0">
                <a:solidFill>
                  <a:srgbClr val="FF0000"/>
                </a:solidFill>
              </a:rPr>
              <a:t>comparison to user-defined critical </a:t>
            </a:r>
          </a:p>
          <a:p>
            <a:r>
              <a:rPr lang="en-US" dirty="0">
                <a:solidFill>
                  <a:srgbClr val="FF0000"/>
                </a:solidFill>
              </a:rPr>
              <a:t>Section … less spinning time</a:t>
            </a:r>
          </a:p>
        </p:txBody>
      </p:sp>
      <p:pic>
        <p:nvPicPr>
          <p:cNvPr id="1026" name="Picture 2" descr="สอบถามเกี่ยวกับตัวครอบลูกบิดทีค่ะ - Pantip">
            <a:extLst>
              <a:ext uri="{FF2B5EF4-FFF2-40B4-BE49-F238E27FC236}">
                <a16:creationId xmlns:a16="http://schemas.microsoft.com/office/drawing/2014/main" id="{79680679-E10A-414D-80E7-80532C2D99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5100" y="0"/>
            <a:ext cx="2628900" cy="32766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4495800" y="1295400"/>
            <a:ext cx="4107406" cy="584775"/>
          </a:xfrm>
          <a:prstGeom prst="rect">
            <a:avLst/>
          </a:prstGeom>
          <a:noFill/>
        </p:spPr>
        <p:txBody>
          <a:bodyPr wrap="none" rtlCol="0">
            <a:spAutoFit/>
          </a:bodyPr>
          <a:lstStyle/>
          <a:p>
            <a:r>
              <a:rPr lang="en-US" sz="3200" dirty="0">
                <a:solidFill>
                  <a:srgbClr val="FF0000"/>
                </a:solidFill>
              </a:rPr>
              <a:t>How about Starvation ?</a:t>
            </a:r>
            <a:endParaRPr lang="th-TH" sz="3200" dirty="0">
              <a:solidFill>
                <a:srgbClr val="FF0000"/>
              </a:solidFill>
            </a:endParaRPr>
          </a:p>
        </p:txBody>
      </p:sp>
      <p:sp>
        <p:nvSpPr>
          <p:cNvPr id="20" name="TextBox 19"/>
          <p:cNvSpPr txBox="1"/>
          <p:nvPr/>
        </p:nvSpPr>
        <p:spPr>
          <a:xfrm>
            <a:off x="4495800" y="1676400"/>
            <a:ext cx="4071114" cy="646331"/>
          </a:xfrm>
          <a:prstGeom prst="rect">
            <a:avLst/>
          </a:prstGeom>
          <a:noFill/>
        </p:spPr>
        <p:txBody>
          <a:bodyPr wrap="none" rtlCol="0">
            <a:spAutoFit/>
          </a:bodyPr>
          <a:lstStyle/>
          <a:p>
            <a:r>
              <a:rPr lang="en-US" dirty="0">
                <a:solidFill>
                  <a:srgbClr val="FF0000"/>
                </a:solidFill>
              </a:rPr>
              <a:t>Queue help control who get the lock next</a:t>
            </a:r>
          </a:p>
          <a:p>
            <a:r>
              <a:rPr lang="en-US" dirty="0">
                <a:solidFill>
                  <a:srgbClr val="FF0000"/>
                </a:solidFill>
              </a:rPr>
              <a:t>….avoid starvation</a:t>
            </a:r>
            <a:endParaRPr lang="th-TH" dirty="0">
              <a:solidFill>
                <a:srgbClr val="FF0000"/>
              </a:solidFill>
            </a:endParaRPr>
          </a:p>
        </p:txBody>
      </p:sp>
      <p:sp>
        <p:nvSpPr>
          <p:cNvPr id="7" name="TextBox 6"/>
          <p:cNvSpPr txBox="1"/>
          <p:nvPr/>
        </p:nvSpPr>
        <p:spPr>
          <a:xfrm>
            <a:off x="5486400" y="609600"/>
            <a:ext cx="3122137" cy="584775"/>
          </a:xfrm>
          <a:prstGeom prst="rect">
            <a:avLst/>
          </a:prstGeom>
          <a:noFill/>
        </p:spPr>
        <p:txBody>
          <a:bodyPr wrap="none" rtlCol="0">
            <a:spAutoFit/>
          </a:bodyPr>
          <a:lstStyle/>
          <a:p>
            <a:r>
              <a:rPr lang="en-US" sz="3200" dirty="0">
                <a:solidFill>
                  <a:srgbClr val="FF0000"/>
                </a:solidFill>
              </a:rPr>
              <a:t>Why the ‘guard’ ?</a:t>
            </a:r>
            <a:endParaRPr lang="th-TH" sz="3200" dirty="0">
              <a:solidFill>
                <a:srgbClr val="FF0000"/>
              </a:solidFill>
            </a:endParaRPr>
          </a:p>
        </p:txBody>
      </p:sp>
      <p:grpSp>
        <p:nvGrpSpPr>
          <p:cNvPr id="13" name="Group 12">
            <a:extLst>
              <a:ext uri="{FF2B5EF4-FFF2-40B4-BE49-F238E27FC236}">
                <a16:creationId xmlns:a16="http://schemas.microsoft.com/office/drawing/2014/main" id="{6F4A7B5B-6002-4352-8F0A-A9988C4EDEE3}"/>
              </a:ext>
            </a:extLst>
          </p:cNvPr>
          <p:cNvGrpSpPr/>
          <p:nvPr/>
        </p:nvGrpSpPr>
        <p:grpSpPr>
          <a:xfrm>
            <a:off x="550542" y="1677965"/>
            <a:ext cx="4326258" cy="4875235"/>
            <a:chOff x="550542" y="1677965"/>
            <a:chExt cx="4326258" cy="4875235"/>
          </a:xfrm>
        </p:grpSpPr>
        <p:grpSp>
          <p:nvGrpSpPr>
            <p:cNvPr id="11" name="Group 10">
              <a:extLst>
                <a:ext uri="{FF2B5EF4-FFF2-40B4-BE49-F238E27FC236}">
                  <a16:creationId xmlns:a16="http://schemas.microsoft.com/office/drawing/2014/main" id="{AB68FA42-76DC-4507-B049-F90406BEED9C}"/>
                </a:ext>
              </a:extLst>
            </p:cNvPr>
            <p:cNvGrpSpPr/>
            <p:nvPr/>
          </p:nvGrpSpPr>
          <p:grpSpPr>
            <a:xfrm>
              <a:off x="550542" y="1677965"/>
              <a:ext cx="4326258" cy="2513035"/>
              <a:chOff x="550542" y="1677965"/>
              <a:chExt cx="4326258" cy="2513035"/>
            </a:xfrm>
          </p:grpSpPr>
          <p:grpSp>
            <p:nvGrpSpPr>
              <p:cNvPr id="10" name="Group 9">
                <a:extLst>
                  <a:ext uri="{FF2B5EF4-FFF2-40B4-BE49-F238E27FC236}">
                    <a16:creationId xmlns:a16="http://schemas.microsoft.com/office/drawing/2014/main" id="{C282C0BB-11E2-4066-9B6E-040B3679D0F0}"/>
                  </a:ext>
                </a:extLst>
              </p:cNvPr>
              <p:cNvGrpSpPr/>
              <p:nvPr/>
            </p:nvGrpSpPr>
            <p:grpSpPr>
              <a:xfrm>
                <a:off x="609600" y="2667000"/>
                <a:ext cx="4267200" cy="1524000"/>
                <a:chOff x="609600" y="2667000"/>
                <a:chExt cx="4267200" cy="1524000"/>
              </a:xfrm>
            </p:grpSpPr>
            <p:sp>
              <p:nvSpPr>
                <p:cNvPr id="2" name="Rectangle 1">
                  <a:extLst>
                    <a:ext uri="{FF2B5EF4-FFF2-40B4-BE49-F238E27FC236}">
                      <a16:creationId xmlns:a16="http://schemas.microsoft.com/office/drawing/2014/main" id="{A18F2E8F-2EA9-4935-AEA7-4C7CF400A1EE}"/>
                    </a:ext>
                  </a:extLst>
                </p:cNvPr>
                <p:cNvSpPr/>
                <p:nvPr/>
              </p:nvSpPr>
              <p:spPr>
                <a:xfrm>
                  <a:off x="609600" y="2667000"/>
                  <a:ext cx="4267200" cy="3370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ABE24E0-D08B-4094-8E11-7845EC2C3241}"/>
                    </a:ext>
                  </a:extLst>
                </p:cNvPr>
                <p:cNvSpPr/>
                <p:nvPr/>
              </p:nvSpPr>
              <p:spPr>
                <a:xfrm>
                  <a:off x="990601" y="3433465"/>
                  <a:ext cx="1523999" cy="14793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D17AC3C-A744-46DC-ABBA-5ADFED6E18DE}"/>
                    </a:ext>
                  </a:extLst>
                </p:cNvPr>
                <p:cNvSpPr/>
                <p:nvPr/>
              </p:nvSpPr>
              <p:spPr>
                <a:xfrm>
                  <a:off x="990600" y="4043065"/>
                  <a:ext cx="1523999" cy="14793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2C153FE7-3958-44B3-B9D8-FAB1A582CBE7}"/>
                  </a:ext>
                </a:extLst>
              </p:cNvPr>
              <p:cNvSpPr/>
              <p:nvPr/>
            </p:nvSpPr>
            <p:spPr>
              <a:xfrm>
                <a:off x="550542" y="1677965"/>
                <a:ext cx="1523999" cy="14793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90770226-5A23-4130-9052-C7DEC9038656}"/>
                </a:ext>
              </a:extLst>
            </p:cNvPr>
            <p:cNvSpPr/>
            <p:nvPr/>
          </p:nvSpPr>
          <p:spPr>
            <a:xfrm>
              <a:off x="609600" y="5206041"/>
              <a:ext cx="4267200" cy="3370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A413B03-F9F2-4E21-8724-34ED5A48AC06}"/>
                </a:ext>
              </a:extLst>
            </p:cNvPr>
            <p:cNvSpPr/>
            <p:nvPr/>
          </p:nvSpPr>
          <p:spPr>
            <a:xfrm>
              <a:off x="559401" y="6405265"/>
              <a:ext cx="1523999" cy="14793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340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13"/>
                                        </p:tgtEl>
                                      </p:cBhvr>
                                    </p:animEffect>
                                    <p:set>
                                      <p:cBhvr>
                                        <p:cTn id="21" dur="1" fill="hold">
                                          <p:stCondLst>
                                            <p:cond delay="499"/>
                                          </p:stCondLst>
                                        </p:cTn>
                                        <p:tgtEl>
                                          <p:spTgt spid="13"/>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02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p:bldP spid="8" grpId="0"/>
      <p:bldP spid="14" grpId="0" animBg="1"/>
      <p:bldP spid="15" grpId="0"/>
      <p:bldP spid="17" grpId="0"/>
      <p:bldP spid="19" grpId="0"/>
      <p:bldP spid="20"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l="12917" t="39819" r="59583" b="33564"/>
          <a:stretch>
            <a:fillRect/>
          </a:stretch>
        </p:blipFill>
        <p:spPr bwMode="auto">
          <a:xfrm>
            <a:off x="228600" y="304800"/>
            <a:ext cx="5029200" cy="2514600"/>
          </a:xfrm>
          <a:prstGeom prst="rect">
            <a:avLst/>
          </a:prstGeom>
          <a:noFill/>
          <a:ln w="9525">
            <a:noFill/>
            <a:miter lim="800000"/>
            <a:headEnd/>
            <a:tailEnd/>
          </a:ln>
        </p:spPr>
      </p:pic>
      <p:sp>
        <p:nvSpPr>
          <p:cNvPr id="5" name="Right Brace 4"/>
          <p:cNvSpPr/>
          <p:nvPr/>
        </p:nvSpPr>
        <p:spPr>
          <a:xfrm>
            <a:off x="4191000" y="1981200"/>
            <a:ext cx="76200" cy="381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6" name="TextBox 5"/>
          <p:cNvSpPr txBox="1"/>
          <p:nvPr/>
        </p:nvSpPr>
        <p:spPr>
          <a:xfrm>
            <a:off x="4343400" y="1905000"/>
            <a:ext cx="4649671" cy="646331"/>
          </a:xfrm>
          <a:prstGeom prst="rect">
            <a:avLst/>
          </a:prstGeom>
          <a:noFill/>
        </p:spPr>
        <p:txBody>
          <a:bodyPr wrap="none" rtlCol="0">
            <a:spAutoFit/>
          </a:bodyPr>
          <a:lstStyle/>
          <a:p>
            <a:r>
              <a:rPr lang="en-US" dirty="0">
                <a:solidFill>
                  <a:srgbClr val="FF0000"/>
                </a:solidFill>
              </a:rPr>
              <a:t>A thread will be about to park, assuming that it </a:t>
            </a:r>
          </a:p>
          <a:p>
            <a:r>
              <a:rPr lang="en-US" dirty="0">
                <a:solidFill>
                  <a:srgbClr val="FF0000"/>
                </a:solidFill>
              </a:rPr>
              <a:t>should sleep until the lock is no longer held</a:t>
            </a:r>
            <a:endParaRPr lang="th-TH" dirty="0">
              <a:solidFill>
                <a:srgbClr val="FF0000"/>
              </a:solidFill>
            </a:endParaRPr>
          </a:p>
        </p:txBody>
      </p:sp>
      <p:sp>
        <p:nvSpPr>
          <p:cNvPr id="7" name="TextBox 6"/>
          <p:cNvSpPr txBox="1"/>
          <p:nvPr/>
        </p:nvSpPr>
        <p:spPr>
          <a:xfrm>
            <a:off x="457200" y="3048000"/>
            <a:ext cx="5969135" cy="1200329"/>
          </a:xfrm>
          <a:prstGeom prst="rect">
            <a:avLst/>
          </a:prstGeom>
          <a:noFill/>
        </p:spPr>
        <p:txBody>
          <a:bodyPr wrap="none" rtlCol="0">
            <a:spAutoFit/>
          </a:bodyPr>
          <a:lstStyle/>
          <a:p>
            <a:r>
              <a:rPr lang="en-US" dirty="0">
                <a:solidFill>
                  <a:srgbClr val="FF0000"/>
                </a:solidFill>
              </a:rPr>
              <a:t>What if there </a:t>
            </a:r>
            <a:r>
              <a:rPr lang="en-US">
                <a:solidFill>
                  <a:srgbClr val="FF0000"/>
                </a:solidFill>
              </a:rPr>
              <a:t>is thread-switch </a:t>
            </a:r>
            <a:r>
              <a:rPr lang="en-US" dirty="0">
                <a:solidFill>
                  <a:srgbClr val="FF0000"/>
                </a:solidFill>
              </a:rPr>
              <a:t>at that time to another thread?</a:t>
            </a:r>
          </a:p>
          <a:p>
            <a:endParaRPr lang="en-US" dirty="0">
              <a:solidFill>
                <a:srgbClr val="FF0000"/>
              </a:solidFill>
            </a:endParaRPr>
          </a:p>
          <a:p>
            <a:r>
              <a:rPr lang="en-US" dirty="0">
                <a:solidFill>
                  <a:srgbClr val="FF0000"/>
                </a:solidFill>
              </a:rPr>
              <a:t>If switch to the thread holding the lock …</a:t>
            </a:r>
          </a:p>
          <a:p>
            <a:endParaRPr lang="th-TH" dirty="0">
              <a:solidFill>
                <a:srgbClr val="FF0000"/>
              </a:solidFill>
            </a:endParaRPr>
          </a:p>
        </p:txBody>
      </p:sp>
      <p:sp>
        <p:nvSpPr>
          <p:cNvPr id="8" name="TextBox 7"/>
          <p:cNvSpPr txBox="1"/>
          <p:nvPr/>
        </p:nvSpPr>
        <p:spPr>
          <a:xfrm>
            <a:off x="457200" y="3886200"/>
            <a:ext cx="8638070" cy="1200329"/>
          </a:xfrm>
          <a:prstGeom prst="rect">
            <a:avLst/>
          </a:prstGeom>
          <a:noFill/>
        </p:spPr>
        <p:txBody>
          <a:bodyPr wrap="none" rtlCol="0">
            <a:spAutoFit/>
          </a:bodyPr>
          <a:lstStyle/>
          <a:p>
            <a:endParaRPr lang="en-US" dirty="0">
              <a:solidFill>
                <a:srgbClr val="FF0000"/>
              </a:solidFill>
            </a:endParaRPr>
          </a:p>
          <a:p>
            <a:r>
              <a:rPr lang="en-US" strike="sngStrike" dirty="0">
                <a:solidFill>
                  <a:srgbClr val="FF0000"/>
                </a:solidFill>
              </a:rPr>
              <a:t>If that thread then releases the lock (instead of passing the lock to a thread in the queue </a:t>
            </a:r>
          </a:p>
          <a:p>
            <a:endParaRPr lang="en-US" dirty="0">
              <a:solidFill>
                <a:srgbClr val="FF0000"/>
              </a:solidFill>
            </a:endParaRPr>
          </a:p>
          <a:p>
            <a:r>
              <a:rPr lang="en-US" dirty="0">
                <a:solidFill>
                  <a:srgbClr val="FF0000"/>
                </a:solidFill>
              </a:rPr>
              <a:t>The subsequent park by the first thread would potentially sleep forever</a:t>
            </a:r>
            <a:endParaRPr lang="th-TH" dirty="0">
              <a:solidFill>
                <a:srgbClr val="FF0000"/>
              </a:solidFill>
            </a:endParaRPr>
          </a:p>
        </p:txBody>
      </p:sp>
      <p:sp>
        <p:nvSpPr>
          <p:cNvPr id="9" name="TextBox 8"/>
          <p:cNvSpPr txBox="1"/>
          <p:nvPr/>
        </p:nvSpPr>
        <p:spPr>
          <a:xfrm>
            <a:off x="457200" y="5334000"/>
            <a:ext cx="8158900" cy="954107"/>
          </a:xfrm>
          <a:prstGeom prst="rect">
            <a:avLst/>
          </a:prstGeom>
          <a:noFill/>
        </p:spPr>
        <p:txBody>
          <a:bodyPr wrap="none" rtlCol="0">
            <a:spAutoFit/>
          </a:bodyPr>
          <a:lstStyle/>
          <a:p>
            <a:r>
              <a:rPr lang="en-US" sz="2800" dirty="0">
                <a:solidFill>
                  <a:srgbClr val="FF0000"/>
                </a:solidFill>
              </a:rPr>
              <a:t>This  scenario has a lot of ‘if’, but it certainly is possible</a:t>
            </a:r>
          </a:p>
          <a:p>
            <a:r>
              <a:rPr lang="en-US" sz="2800" dirty="0">
                <a:solidFill>
                  <a:srgbClr val="FF0000"/>
                </a:solidFill>
              </a:rPr>
              <a:t>that the race condition occurs – ‘waiting race’</a:t>
            </a:r>
          </a:p>
        </p:txBody>
      </p:sp>
    </p:spTree>
    <p:extLst>
      <p:ext uri="{BB962C8B-B14F-4D97-AF65-F5344CB8AC3E}">
        <p14:creationId xmlns:p14="http://schemas.microsoft.com/office/powerpoint/2010/main" val="2284745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Waiting Race</a:t>
            </a:r>
            <a:endParaRPr lang="th-TH" dirty="0"/>
          </a:p>
        </p:txBody>
      </p:sp>
      <p:sp>
        <p:nvSpPr>
          <p:cNvPr id="3" name="Content Placeholder 2"/>
          <p:cNvSpPr>
            <a:spLocks noGrp="1"/>
          </p:cNvSpPr>
          <p:nvPr>
            <p:ph idx="1"/>
          </p:nvPr>
        </p:nvSpPr>
        <p:spPr>
          <a:xfrm>
            <a:off x="533400" y="1219200"/>
            <a:ext cx="8229600" cy="5410200"/>
          </a:xfrm>
        </p:spPr>
        <p:txBody>
          <a:bodyPr>
            <a:normAutofit fontScale="77500" lnSpcReduction="20000"/>
          </a:bodyPr>
          <a:lstStyle/>
          <a:p>
            <a:r>
              <a:rPr lang="en-US" dirty="0"/>
              <a:t>Solaris solves this problem by adding a third system call: </a:t>
            </a:r>
            <a:r>
              <a:rPr lang="en-US" dirty="0" err="1"/>
              <a:t>setpark</a:t>
            </a:r>
            <a:r>
              <a:rPr lang="en-US" dirty="0"/>
              <a:t>()</a:t>
            </a:r>
          </a:p>
          <a:p>
            <a:r>
              <a:rPr lang="en-US" dirty="0"/>
              <a:t>By calling this routine, a thread can indicate it is about to park </a:t>
            </a:r>
          </a:p>
          <a:p>
            <a:r>
              <a:rPr lang="en-US" dirty="0"/>
              <a:t>If the thread happens to be interrupted and another thread calls </a:t>
            </a:r>
            <a:r>
              <a:rPr lang="en-US" dirty="0" err="1"/>
              <a:t>unpark</a:t>
            </a:r>
            <a:r>
              <a:rPr lang="en-US" dirty="0"/>
              <a:t> before park is actually called, the subsequent park </a:t>
            </a:r>
            <a:r>
              <a:rPr lang="en-US" dirty="0">
                <a:solidFill>
                  <a:srgbClr val="FF0000"/>
                </a:solidFill>
              </a:rPr>
              <a:t>returns immediately</a:t>
            </a:r>
            <a:r>
              <a:rPr lang="en-US" dirty="0"/>
              <a:t> instead of sleeping</a:t>
            </a:r>
          </a:p>
          <a:p>
            <a:endParaRPr lang="en-US" dirty="0"/>
          </a:p>
          <a:p>
            <a:endParaRPr lang="en-US" dirty="0"/>
          </a:p>
          <a:p>
            <a:endParaRPr lang="en-US" dirty="0"/>
          </a:p>
          <a:p>
            <a:endParaRPr lang="en-US" dirty="0"/>
          </a:p>
          <a:p>
            <a:r>
              <a:rPr lang="en-US" dirty="0"/>
              <a:t>A different solution could pass the guard into the kernel</a:t>
            </a:r>
          </a:p>
          <a:p>
            <a:pPr lvl="1"/>
            <a:r>
              <a:rPr lang="en-US" dirty="0"/>
              <a:t>the kernel could take precautions to atomically release the lock</a:t>
            </a:r>
          </a:p>
          <a:p>
            <a:pPr lvl="1"/>
            <a:r>
              <a:rPr lang="en-US" dirty="0" err="1"/>
              <a:t>dequeue</a:t>
            </a:r>
            <a:r>
              <a:rPr lang="en-US" dirty="0"/>
              <a:t> the running thread</a:t>
            </a:r>
          </a:p>
        </p:txBody>
      </p:sp>
      <p:sp>
        <p:nvSpPr>
          <p:cNvPr id="5" name="TextBox 4"/>
          <p:cNvSpPr txBox="1"/>
          <p:nvPr/>
        </p:nvSpPr>
        <p:spPr>
          <a:xfrm>
            <a:off x="678431" y="4038600"/>
            <a:ext cx="1759969" cy="369332"/>
          </a:xfrm>
          <a:prstGeom prst="rect">
            <a:avLst/>
          </a:prstGeom>
          <a:noFill/>
        </p:spPr>
        <p:txBody>
          <a:bodyPr wrap="none" rtlCol="0">
            <a:spAutoFit/>
          </a:bodyPr>
          <a:lstStyle/>
          <a:p>
            <a:r>
              <a:rPr lang="en-US" dirty="0">
                <a:solidFill>
                  <a:srgbClr val="FF0000"/>
                </a:solidFill>
              </a:rPr>
              <a:t>Modify the ‘lock’</a:t>
            </a:r>
            <a:endParaRPr lang="th-TH" dirty="0">
              <a:solidFill>
                <a:srgbClr val="FF0000"/>
              </a:solidFill>
            </a:endParaRPr>
          </a:p>
        </p:txBody>
      </p:sp>
      <p:cxnSp>
        <p:nvCxnSpPr>
          <p:cNvPr id="7" name="Straight Arrow Connector 6"/>
          <p:cNvCxnSpPr/>
          <p:nvPr/>
        </p:nvCxnSpPr>
        <p:spPr>
          <a:xfrm>
            <a:off x="2362200" y="4229100"/>
            <a:ext cx="609600" cy="381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A163AC-1CCC-4889-8C20-EB188BEE49C0}"/>
              </a:ext>
            </a:extLst>
          </p:cNvPr>
          <p:cNvPicPr>
            <a:picLocks noChangeAspect="1"/>
          </p:cNvPicPr>
          <p:nvPr/>
        </p:nvPicPr>
        <p:blipFill>
          <a:blip r:embed="rId2"/>
          <a:stretch>
            <a:fillRect/>
          </a:stretch>
        </p:blipFill>
        <p:spPr>
          <a:xfrm>
            <a:off x="3276600" y="3820352"/>
            <a:ext cx="3200400" cy="8936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22099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OS, Different Support</a:t>
            </a:r>
            <a:endParaRPr lang="th-TH" dirty="0"/>
          </a:p>
        </p:txBody>
      </p:sp>
      <p:sp>
        <p:nvSpPr>
          <p:cNvPr id="3" name="Content Placeholder 2"/>
          <p:cNvSpPr>
            <a:spLocks noGrp="1"/>
          </p:cNvSpPr>
          <p:nvPr>
            <p:ph idx="1"/>
          </p:nvPr>
        </p:nvSpPr>
        <p:spPr>
          <a:xfrm>
            <a:off x="457200" y="1600200"/>
            <a:ext cx="8229600" cy="5029200"/>
          </a:xfrm>
        </p:spPr>
        <p:txBody>
          <a:bodyPr>
            <a:normAutofit lnSpcReduction="10000"/>
          </a:bodyPr>
          <a:lstStyle/>
          <a:p>
            <a:r>
              <a:rPr lang="en-US" dirty="0"/>
              <a:t>Linux provides something called a </a:t>
            </a:r>
            <a:r>
              <a:rPr lang="en-US" b="1" dirty="0" err="1">
                <a:solidFill>
                  <a:srgbClr val="FF0000"/>
                </a:solidFill>
              </a:rPr>
              <a:t>futex</a:t>
            </a:r>
            <a:r>
              <a:rPr lang="en-US" b="1" dirty="0"/>
              <a:t> </a:t>
            </a:r>
            <a:r>
              <a:rPr lang="en-US" dirty="0"/>
              <a:t>which is similar to the Solaris interface but provides a bit more in-kernel functionality</a:t>
            </a:r>
          </a:p>
          <a:p>
            <a:r>
              <a:rPr lang="en-US" dirty="0">
                <a:solidFill>
                  <a:srgbClr val="CC3300"/>
                </a:solidFill>
              </a:rPr>
              <a:t>Two-phase lock</a:t>
            </a:r>
            <a:r>
              <a:rPr lang="en-US" dirty="0"/>
              <a:t>: Spinning can be useful if not for too long</a:t>
            </a:r>
          </a:p>
          <a:p>
            <a:pPr lvl="1"/>
            <a:r>
              <a:rPr lang="en-US" dirty="0"/>
              <a:t>In the first phase, the lock spins for a while, hoping that it can acquire the lock</a:t>
            </a:r>
          </a:p>
          <a:p>
            <a:pPr lvl="1"/>
            <a:r>
              <a:rPr lang="en-US" dirty="0"/>
              <a:t>If the lock is not acquired during the first spin phase, a second phase is entered, where the caller is put to sleep, and only woken up when the lock becomes free later</a:t>
            </a:r>
            <a:endParaRPr lang="th-TH" dirty="0"/>
          </a:p>
        </p:txBody>
      </p:sp>
    </p:spTree>
    <p:extLst>
      <p:ext uri="{BB962C8B-B14F-4D97-AF65-F5344CB8AC3E}">
        <p14:creationId xmlns:p14="http://schemas.microsoft.com/office/powerpoint/2010/main" val="2765943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Lock Needs …</a:t>
            </a:r>
            <a:endParaRPr lang="th-TH" dirty="0"/>
          </a:p>
        </p:txBody>
      </p:sp>
      <p:sp>
        <p:nvSpPr>
          <p:cNvPr id="3" name="Content Placeholder 2"/>
          <p:cNvSpPr>
            <a:spLocks noGrp="1"/>
          </p:cNvSpPr>
          <p:nvPr>
            <p:ph idx="1"/>
          </p:nvPr>
        </p:nvSpPr>
        <p:spPr>
          <a:xfrm>
            <a:off x="457200" y="1493837"/>
            <a:ext cx="8229600" cy="4525963"/>
          </a:xfrm>
        </p:spPr>
        <p:txBody>
          <a:bodyPr>
            <a:normAutofit/>
          </a:bodyPr>
          <a:lstStyle/>
          <a:p>
            <a:r>
              <a:rPr lang="en-US" dirty="0"/>
              <a:t>Some hardware support (in the form of a more powerful instruction)</a:t>
            </a:r>
          </a:p>
          <a:p>
            <a:r>
              <a:rPr lang="en-US" dirty="0"/>
              <a:t>Some operating system support </a:t>
            </a:r>
          </a:p>
          <a:p>
            <a:pPr lvl="1"/>
            <a:r>
              <a:rPr lang="en-US" dirty="0"/>
              <a:t>park() and </a:t>
            </a:r>
            <a:r>
              <a:rPr lang="en-US" dirty="0" err="1"/>
              <a:t>unpark</a:t>
            </a:r>
            <a:r>
              <a:rPr lang="en-US" dirty="0"/>
              <a:t>() primitives on Solaris</a:t>
            </a:r>
          </a:p>
          <a:p>
            <a:pPr lvl="1"/>
            <a:r>
              <a:rPr lang="en-US" dirty="0" err="1"/>
              <a:t>futex</a:t>
            </a:r>
            <a:r>
              <a:rPr lang="en-US" dirty="0"/>
              <a:t> on Linux</a:t>
            </a:r>
          </a:p>
          <a:p>
            <a:r>
              <a:rPr lang="en-US" dirty="0"/>
              <a:t>The details differ for each OS</a:t>
            </a:r>
          </a:p>
          <a:p>
            <a:r>
              <a:rPr lang="en-US" dirty="0"/>
              <a:t>The exact code to perform such locking is usually highly tuned</a:t>
            </a:r>
          </a:p>
          <a:p>
            <a:pPr lvl="1"/>
            <a:endParaRPr lang="th-TH" dirty="0"/>
          </a:p>
        </p:txBody>
      </p:sp>
    </p:spTree>
    <p:extLst>
      <p:ext uri="{BB962C8B-B14F-4D97-AF65-F5344CB8AC3E}">
        <p14:creationId xmlns:p14="http://schemas.microsoft.com/office/powerpoint/2010/main" val="1197792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21381</TotalTime>
  <Words>4054</Words>
  <Application>Microsoft Office PowerPoint</Application>
  <PresentationFormat>On-screen Show (4:3)</PresentationFormat>
  <Paragraphs>379</Paragraphs>
  <Slides>32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Courier New</vt:lpstr>
      <vt:lpstr>Tahoma</vt:lpstr>
      <vt:lpstr>Office Theme</vt:lpstr>
      <vt:lpstr>Lecture 8</vt:lpstr>
      <vt:lpstr>Previously</vt:lpstr>
      <vt:lpstr>Locks</vt:lpstr>
      <vt:lpstr>Evaluating Lock Implementation</vt:lpstr>
      <vt:lpstr>Recall The Code   From Last Week</vt:lpstr>
      <vt:lpstr>Review Uncontrolled Scheduling</vt:lpstr>
      <vt:lpstr>Controlling Interrupts</vt:lpstr>
      <vt:lpstr>Software Test and Set</vt:lpstr>
      <vt:lpstr>Note Area for Online Teaching</vt:lpstr>
      <vt:lpstr>What about Performance</vt:lpstr>
      <vt:lpstr>What about Correctness</vt:lpstr>
      <vt:lpstr>Hardware Support for Locking</vt:lpstr>
      <vt:lpstr>Test-and-Set (Hardware Support for Locking)</vt:lpstr>
      <vt:lpstr>PowerPoint Presentation</vt:lpstr>
      <vt:lpstr>Evaluating Test-and-Set</vt:lpstr>
      <vt:lpstr>Compare-and-Swap (1)</vt:lpstr>
      <vt:lpstr>Compare-and-Swap (2)</vt:lpstr>
      <vt:lpstr>Compare-and-Swap (3)</vt:lpstr>
      <vt:lpstr>Fetch-and-Add (1)</vt:lpstr>
      <vt:lpstr>Fetch-and-Add (2)</vt:lpstr>
      <vt:lpstr>Note Area for Online Teaching</vt:lpstr>
      <vt:lpstr>Fetch-and-Add (3)</vt:lpstr>
      <vt:lpstr>So Much Spinning</vt:lpstr>
      <vt:lpstr>Yield (1)</vt:lpstr>
      <vt:lpstr>Yield (2)</vt:lpstr>
      <vt:lpstr>Using Queues: Sleep instead of Spin</vt:lpstr>
      <vt:lpstr>Basic Idea</vt:lpstr>
      <vt:lpstr>PowerPoint Presentation</vt:lpstr>
      <vt:lpstr>PowerPoint Presentation</vt:lpstr>
      <vt:lpstr>Waiting Race</vt:lpstr>
      <vt:lpstr>Different OS, Different Support</vt:lpstr>
      <vt:lpstr>A Lock Needs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Concurrency and Threads</dc:title>
  <dc:creator>raj;Steve</dc:creator>
  <cp:lastModifiedBy>rajchawit sarochawikasit</cp:lastModifiedBy>
  <cp:revision>358</cp:revision>
  <cp:lastPrinted>2015-02-11T03:14:32Z</cp:lastPrinted>
  <dcterms:created xsi:type="dcterms:W3CDTF">2013-12-20T02:32:59Z</dcterms:created>
  <dcterms:modified xsi:type="dcterms:W3CDTF">2026-09-29T07:11:19Z</dcterms:modified>
  <cp:contentStatus/>
</cp:coreProperties>
</file>