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6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72A635-EC99-9DD3-326D-7849E8192C2B}" v="3" dt="2026-09-30T07:21:06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yusoh" userId="S::omar.yusoh@kmutt.ac.th::c1e1226a-a18f-45fd-83d8-e1c46918aafe" providerId="AD" clId="Web-{9372A635-EC99-9DD3-326D-7849E8192C2B}"/>
    <pc:docChg chg="modSld">
      <pc:chgData name="omar yusoh" userId="S::omar.yusoh@kmutt.ac.th::c1e1226a-a18f-45fd-83d8-e1c46918aafe" providerId="AD" clId="Web-{9372A635-EC99-9DD3-326D-7849E8192C2B}" dt="2026-09-30T07:21:06.815" v="2" actId="20577"/>
      <pc:docMkLst>
        <pc:docMk/>
      </pc:docMkLst>
      <pc:sldChg chg="modSp">
        <pc:chgData name="omar yusoh" userId="S::omar.yusoh@kmutt.ac.th::c1e1226a-a18f-45fd-83d8-e1c46918aafe" providerId="AD" clId="Web-{9372A635-EC99-9DD3-326D-7849E8192C2B}" dt="2026-09-30T07:21:06.815" v="2" actId="20577"/>
        <pc:sldMkLst>
          <pc:docMk/>
          <pc:sldMk cId="4270360253" sldId="262"/>
        </pc:sldMkLst>
        <pc:spChg chg="mod">
          <ac:chgData name="omar yusoh" userId="S::omar.yusoh@kmutt.ac.th::c1e1226a-a18f-45fd-83d8-e1c46918aafe" providerId="AD" clId="Web-{9372A635-EC99-9DD3-326D-7849E8192C2B}" dt="2026-09-30T07:21:06.815" v="2" actId="20577"/>
          <ac:spMkLst>
            <pc:docMk/>
            <pc:sldMk cId="4270360253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B1AB1-9C64-4A62-914C-DB086871901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88303-F480-471A-8990-55B788A1E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a simple flag to indicate whether a thread holds the lock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thread that wants to enter its critical section will call lock(), which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whether the flag is equal to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flag is 0, it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flag to 1 to indicate that the thread now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lock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leaving the critical section, the thread calls unlock() and clears the flag, indicating that the lock is no longer held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another thread happens to call lock() while that first thread is in the critical section, it will simply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spin-wait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while loop for that thread to call unlock() and clear the flag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 that first thread does so, the waiting thread will fall out of the while loop, set the flag to 1 for itself, and proceed into the critical section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41E7C-383C-48C1-8D88-D78E0DF4D8B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11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241E7C-383C-48C1-8D88-D78E0DF4D8B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97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7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2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8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5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23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0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2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1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481E7-FCE9-43CA-8268-75D48394A59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55BEC-3039-4085-B79C-E7DDDFDD6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2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Session 08 Lock Mechanisms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Explore more locks that are not included in the lecture.</a:t>
            </a:r>
          </a:p>
          <a:p>
            <a:r>
              <a:rPr lang="en-US" sz="2400" dirty="0"/>
              <a:t>It is a group work of up to 6-8 students.</a:t>
            </a:r>
            <a:endParaRPr lang="en-US" sz="24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Research the following mechanisms: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Peterson’s Algorithm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Load-Linked and Store-Conditional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 additional mechanism not mentioned in the lecture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Analyze correctness and performance for each locks using metrics discussed in class </a:t>
            </a:r>
          </a:p>
          <a:p>
            <a:r>
              <a:rPr lang="en-US" sz="2400" dirty="0"/>
              <a:t>Create slides showing the information for each lock.</a:t>
            </a:r>
          </a:p>
          <a:p>
            <a:r>
              <a:rPr lang="en-US" sz="2400" dirty="0"/>
              <a:t>submit your </a:t>
            </a:r>
            <a:r>
              <a:rPr lang="en-US" sz="2400" b="1" u="sng" dirty="0"/>
              <a:t>presentation slides</a:t>
            </a:r>
            <a:r>
              <a:rPr lang="en-US" sz="2400" dirty="0"/>
              <a:t> (pdf) and </a:t>
            </a:r>
            <a:r>
              <a:rPr lang="en-US" sz="2400" b="1" u="sng" dirty="0"/>
              <a:t>presentation video </a:t>
            </a:r>
            <a:r>
              <a:rPr lang="en-US" sz="2400" dirty="0"/>
              <a:t>(link) on LEB2.</a:t>
            </a:r>
          </a:p>
        </p:txBody>
      </p:sp>
    </p:spTree>
    <p:extLst>
      <p:ext uri="{BB962C8B-B14F-4D97-AF65-F5344CB8AC3E}">
        <p14:creationId xmlns:p14="http://schemas.microsoft.com/office/powerpoint/2010/main" val="427036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20480"/>
            <a:ext cx="9144000" cy="1047890"/>
          </a:xfrm>
        </p:spPr>
        <p:txBody>
          <a:bodyPr>
            <a:normAutofit/>
          </a:bodyPr>
          <a:lstStyle/>
          <a:p>
            <a:r>
              <a:rPr lang="en-US" dirty="0"/>
              <a:t>Group: OS </a:t>
            </a:r>
            <a:r>
              <a:rPr lang="en-US" dirty="0" err="1"/>
              <a:t>InW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99527"/>
            <a:ext cx="9144000" cy="2977587"/>
          </a:xfrm>
        </p:spPr>
        <p:txBody>
          <a:bodyPr numCol="2">
            <a:normAutofit fontScale="92500" lnSpcReduction="10000"/>
          </a:bodyPr>
          <a:lstStyle/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Peterson’s algorithm</a:t>
            </a:r>
          </a:p>
          <a:p>
            <a:endParaRPr lang="en-US" dirty="0"/>
          </a:p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Dekker's algorithm</a:t>
            </a:r>
          </a:p>
          <a:p>
            <a:endParaRPr lang="th-TH" dirty="0"/>
          </a:p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X’s algorithm</a:t>
            </a:r>
          </a:p>
          <a:p>
            <a:endParaRPr lang="en-US" dirty="0"/>
          </a:p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  <a:p>
            <a:r>
              <a:rPr lang="en-US" dirty="0"/>
              <a:t>Y’s algorithm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86942" y="4977114"/>
            <a:ext cx="7182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Power Point for the Lecture on</a:t>
            </a:r>
          </a:p>
          <a:p>
            <a:pPr algn="ctr"/>
            <a:r>
              <a:rPr lang="en-US" sz="2400" dirty="0"/>
              <a:t>4-5 Algorithms of Software based Locks Mechanism</a:t>
            </a:r>
          </a:p>
          <a:p>
            <a:pPr algn="ctr"/>
            <a:r>
              <a:rPr lang="en-US" sz="2400" dirty="0"/>
              <a:t>With 3-6 Pages per Algorithm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A0A39C-2192-82A8-802E-3C7A0A1E5DE0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310851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and Set Algorithm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 of student</a:t>
            </a:r>
            <a:br>
              <a:rPr lang="en-US" dirty="0"/>
            </a:br>
            <a:r>
              <a:rPr lang="en-US" dirty="0"/>
              <a:t>Name of student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7D8878-98C7-F466-C558-B86CD4110D2B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117964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Test and Set</a:t>
            </a:r>
            <a:endParaRPr lang="th-TH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219201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/>
              <a:t>A purely software attempt at implementing a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1" y="5953780"/>
            <a:ext cx="6899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C3300"/>
                </a:solidFill>
              </a:rPr>
              <a:t>What about Correctness and Performance ???</a:t>
            </a:r>
            <a:endParaRPr lang="th-TH" sz="2800" dirty="0">
              <a:solidFill>
                <a:srgbClr val="CC33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4180" y="1772484"/>
            <a:ext cx="81514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flag; }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0 -&gt; lock is available, 1 -&gt; held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lock(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== 1); // TEST flag and spin-wait 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 1;	// now SET it!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unlock(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lock_t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-&gt;flag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9B600-588C-0337-EA0C-58F4B2E4553E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1977517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Correctness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262391"/>
            <a:ext cx="8229600" cy="206220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Both threads can enter the critical section at the same time – no mutual exclusion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5" t="39452" r="25936" b="35708"/>
          <a:stretch/>
        </p:blipFill>
        <p:spPr bwMode="auto">
          <a:xfrm>
            <a:off x="2363244" y="1909174"/>
            <a:ext cx="7465512" cy="2129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5486400" y="1935164"/>
            <a:ext cx="1371600" cy="579437"/>
          </a:xfrm>
          <a:prstGeom prst="straightConnector1">
            <a:avLst/>
          </a:prstGeom>
          <a:ln>
            <a:solidFill>
              <a:srgbClr val="CC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91201" y="1600200"/>
            <a:ext cx="21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C3300"/>
                </a:solidFill>
              </a:rPr>
              <a:t>Unlikely but possible</a:t>
            </a:r>
            <a:endParaRPr lang="th-TH" dirty="0">
              <a:solidFill>
                <a:srgbClr val="CC33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864A52-A39C-3D54-5BE9-350DAC2DD272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108273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Spin-waiting wastes time waiting for another thread to release the lock</a:t>
            </a:r>
          </a:p>
          <a:p>
            <a:pPr>
              <a:lnSpc>
                <a:spcPct val="120000"/>
              </a:lnSpc>
            </a:pPr>
            <a:r>
              <a:rPr lang="en-US" dirty="0"/>
              <a:t>On a single processor, the thread that holds the lock cannot even run (at least, not until a context switch occurs)!</a:t>
            </a:r>
          </a:p>
          <a:p>
            <a:pPr>
              <a:lnSpc>
                <a:spcPct val="120000"/>
              </a:lnSpc>
            </a:pPr>
            <a:r>
              <a:rPr lang="en-US" dirty="0"/>
              <a:t>Thus, as we move forward and develop more sophisticated solutions, we should also consider ways to avoid this kind of waste</a:t>
            </a:r>
            <a:endParaRPr lang="th-TH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EA9757-A4E9-99F6-0D0A-4CFEE33F6081}"/>
              </a:ext>
            </a:extLst>
          </p:cNvPr>
          <p:cNvSpPr txBox="1">
            <a:spLocks/>
          </p:cNvSpPr>
          <p:nvPr/>
        </p:nvSpPr>
        <p:spPr>
          <a:xfrm>
            <a:off x="-177554" y="89323"/>
            <a:ext cx="3403107" cy="4601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3459782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511</Words>
  <Application>Microsoft Office PowerPoint</Application>
  <PresentationFormat>Widescreen</PresentationFormat>
  <Paragraphs>65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Problem Session 08 Lock Mechanisms</vt:lpstr>
      <vt:lpstr>Group: OS InW</vt:lpstr>
      <vt:lpstr>Test and Set Algorithm</vt:lpstr>
      <vt:lpstr>Software Test and Set</vt:lpstr>
      <vt:lpstr>What about Correctness</vt:lpstr>
      <vt:lpstr>What about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กลุ่ม โอเอส เทพ</dc:title>
  <dc:creator>liveGas MSN</dc:creator>
  <cp:lastModifiedBy>Wiwat Asawalertsak</cp:lastModifiedBy>
  <cp:revision>15</cp:revision>
  <dcterms:created xsi:type="dcterms:W3CDTF">2018-10-30T07:30:55Z</dcterms:created>
  <dcterms:modified xsi:type="dcterms:W3CDTF">2026-09-30T07:21:15Z</dcterms:modified>
</cp:coreProperties>
</file>