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63.452307</c:v>
                </c:pt>
                <c:pt idx="1">
                  <c:v>15.021417</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64.294579</c:v>
                </c:pt>
                <c:pt idx="1">
                  <c:v>0.164672</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LL/SC,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107.301199</c:v>
                </c:pt>
                <c:pt idx="1">
                  <c:v>17.253647</c:v>
                </c:pt>
                <c:pt idx="2">
                  <c:v>8.673039</c:v>
                </c:pt>
                <c:pt idx="3">
                  <c:v>6.147459</c:v>
                </c:pt>
              </c:numCache>
            </c:numRef>
          </c:val>
          <c:smooth val="0"/>
        </c:ser>
        <c:ser>
          <c:idx val="1"/>
          <c:order val="1"/>
          <c:tx>
            <c:strRef>
              <c:f>Sheet1!$C$1</c:f>
              <c:strCache>
                <c:ptCount val="1"/>
                <c:pt idx="0">
                  <c:v>LL/SC,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MCS,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53.380392</c:v>
                </c:pt>
                <c:pt idx="1">
                  <c:v>14.774002</c:v>
                </c:pt>
                <c:pt idx="2">
                  <c:v>10.203251</c:v>
                </c:pt>
                <c:pt idx="3">
                  <c:v>6.876554</c:v>
                </c:pt>
              </c:numCache>
            </c:numRef>
          </c:val>
          <c:smooth val="0"/>
        </c:ser>
        <c:ser>
          <c:idx val="1"/>
          <c:order val="1"/>
          <c:tx>
            <c:strRef>
              <c:f>Sheet1!$C$1</c:f>
              <c:strCache>
                <c:ptCount val="1"/>
                <c:pt idx="0">
                  <c:v>MCS,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53.122737</c:v>
                </c:pt>
                <c:pt idx="1">
                  <c:v>0.615147</c:v>
                </c:pt>
                <c:pt idx="2">
                  <c:v>0.400297</c:v>
                </c:pt>
                <c:pt idx="3">
                  <c:v>0.511094</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All 8 CPUs</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63.452307</c:v>
                </c:pt>
                <c:pt idx="1">
                  <c:v>15.021417</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107.301199</c:v>
                </c:pt>
                <c:pt idx="1">
                  <c:v>17.253647</c:v>
                </c:pt>
                <c:pt idx="2">
                  <c:v>8.673039</c:v>
                </c:pt>
                <c:pt idx="3">
                  <c:v>6.147459</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53.380392</c:v>
                </c:pt>
                <c:pt idx="1">
                  <c:v>14.774002</c:v>
                </c:pt>
                <c:pt idx="2">
                  <c:v>10.203251</c:v>
                </c:pt>
                <c:pt idx="3">
                  <c:v>6.876554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101.477403</c:v>
                </c:pt>
                <c:pt idx="1">
                  <c:v>23.167569</c:v>
                </c:pt>
                <c:pt idx="2">
                  <c:v>9.528568</c:v>
                </c:pt>
                <c:pt idx="3">
                  <c:v>5.674698</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52.567284</c:v>
                </c:pt>
                <c:pt idx="1">
                  <c:v>15.116433</c:v>
                </c:pt>
                <c:pt idx="2">
                  <c:v>19.356313</c:v>
                </c:pt>
                <c:pt idx="3">
                  <c:v>20.296315</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One CPU</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64.294579</c:v>
                </c:pt>
                <c:pt idx="1">
                  <c:v>0.164672</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53.122737</c:v>
                </c:pt>
                <c:pt idx="1">
                  <c:v>0.615147</c:v>
                </c:pt>
                <c:pt idx="2">
                  <c:v>0.400297</c:v>
                </c:pt>
                <c:pt idx="3">
                  <c:v>0.511094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52.968008</c:v>
                </c:pt>
                <c:pt idx="1">
                  <c:v>53.803712</c:v>
                </c:pt>
                <c:pt idx="2">
                  <c:v>52.472641</c:v>
                </c:pt>
                <c:pt idx="3">
                  <c:v>54.235798</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the MCS queue lock.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six of us. Three members each present one lock and two compare them; one member explains how we measured and draws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locks themselves: the metrics we use and how we measured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four metrics from Lecture 8. Every lock runs the same loop for 1 second per run: lock, add one to a shared counter, unlock. If the counter ends lower than the number of acquisitions, two threads were inside together. Each setting runs 3 times and we report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Peterson is correct: both threads inside would need turn to hold two values at once. On a real x86 CPU the textbook code fails, because a load may overtake an earlier store. Without the fence we lost updates in 5 of 5 runs; on one CPU, or with the fence, nothing was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a fence on modern CPUs.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nothing was lost in 3 of 3 runs.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a thread was starved outright.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the MCS queue 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MCS lock, by Mellor-Crummey and Scott, won the Dijkstra Prize in 2006. Waiting threads form a queue, a linked list. Each thread spins on a flag in its own node, and the thread ahead of it clears that flag when it is done. Linux's spinlock today, the qspinlock, is built 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atomic exchange puts every thread in one queue, and only the head of that queue may enter. A thread leaves by handing the lock to the node behind it, or by resetting tail if nobody is waiting. All 24 runs finished with nothing lost.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waiter spins on its own cache line, so a handover touches one line instead of making every core fight over the same flag. On one CPU it collapses: the queue hands the lock to a thread that is not running. The Linux kernel avoids that by disabling preemption while a spinlock is held or awaited.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makes MCS first-come, first-served: it was the fairest lock we measured at eight threads. It needs a node per waiting thread and an atomic exchange, and like every spin lock it suffers when the next thread in line is not running.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all 8 CPUs, pthread_mutex was the fastest lock at eight threads. On one CPU the spinning locks waste time slices, while the mutex puts waiting threads to sleep.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same results as one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Peterson is fair but limited to two threads, the simple hardware spin locks are unfair, and the MCS queue is fair at every thread count we ran.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what the measurements tell us, and where the material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locks provide mutual exclusion and avoid deadlock, but Peterson only does so on today's CPUs with a memory fence. Peterson is fair but limited to two threads; LL/SC is short and fast but unfair; the MCS queue is fair for any number of threads and is what Linux builds its spinlock on. When threads can be preempted, sleeping locks such as pthread_mutex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chart" Target="../charts/chart4.xml"/><Relationship Id="rId4" Type="http://schemas.openxmlformats.org/officeDocument/2006/relationships/chart" Target="../charts/char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MCS Lock</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457200" y="1737360"/>
            <a:ext cx="3657600" cy="2011680"/>
          </a:xfrm>
          <a:prstGeom prst="rect">
            <a:avLst/>
          </a:prstGeom>
          <a:noFill/>
        </p:spPr>
        <p:txBody>
          <a:bodyPr wrap="square">
            <a:spAutoFit/>
          </a:bodyPr>
          <a:lstStyle/>
          <a:p>
            <a:pPr algn="ctr">
              <a:spcAft>
                <a:spcPts val="0"/>
              </a:spcAft>
            </a:pPr>
            <a:r>
              <a:rPr sz="2000"/>
              <a:t>67070501075</a:t>
            </a:r>
          </a:p>
          <a:p>
            <a:pPr algn="ctr">
              <a:spcAft>
                <a:spcPts val="0"/>
              </a:spcAft>
            </a:pPr>
            <a:r>
              <a:rPr sz="2000"/>
              <a:t>Siriwan Yindeephot</a:t>
            </a:r>
          </a:p>
          <a:p>
            <a:pPr algn="ctr">
              <a:spcAft>
                <a:spcPts val="0"/>
              </a:spcAft>
            </a:pPr>
          </a:p>
          <a:p>
            <a:pPr algn="ctr">
              <a:spcAft>
                <a:spcPts val="0"/>
              </a:spcAft>
            </a:pPr>
            <a:r>
              <a:rPr sz="2000">
                <a:solidFill>
                  <a:srgbClr val="C0392B"/>
                </a:solidFill>
              </a:rPr>
              <a:t>How We Evaluate</a:t>
            </a:r>
          </a:p>
          <a:p>
            <a:pPr algn="ctr">
              <a:spcAft>
                <a:spcPts val="0"/>
              </a:spcAft>
            </a:pPr>
            <a:r>
              <a:rPr sz="2000">
                <a:solidFill>
                  <a:srgbClr val="C0392B"/>
                </a:solidFill>
              </a:rPr>
              <a:t>Conclusion</a:t>
            </a:r>
          </a:p>
        </p:txBody>
      </p:sp>
      <p:sp>
        <p:nvSpPr>
          <p:cNvPr id="5" name="TextBox 4"/>
          <p:cNvSpPr txBox="1"/>
          <p:nvPr/>
        </p:nvSpPr>
        <p:spPr>
          <a:xfrm>
            <a:off x="4251960" y="1737360"/>
            <a:ext cx="3657600" cy="2011680"/>
          </a:xfrm>
          <a:prstGeom prst="rect">
            <a:avLst/>
          </a:prstGeom>
          <a:noFill/>
        </p:spPr>
        <p:txBody>
          <a:bodyPr wrap="square">
            <a:spAutoFit/>
          </a:bodyPr>
          <a:lstStyle/>
          <a:p>
            <a:pPr algn="ctr">
              <a:spcAft>
                <a:spcPts val="0"/>
              </a:spcAft>
            </a:pPr>
            <a:r>
              <a:rPr sz="2000"/>
              <a:t>67070501018</a:t>
            </a:r>
          </a:p>
          <a:p>
            <a:pPr algn="ctr">
              <a:spcAft>
                <a:spcPts val="0"/>
              </a:spcAft>
            </a:pPr>
            <a:r>
              <a:rPr sz="2000"/>
              <a:t>Tithinan Sobking</a:t>
            </a:r>
          </a:p>
          <a:p>
            <a:pPr algn="ctr">
              <a:spcAft>
                <a:spcPts val="0"/>
              </a:spcAft>
            </a:pPr>
          </a:p>
          <a:p>
            <a:pPr algn="ctr">
              <a:spcAft>
                <a:spcPts val="0"/>
              </a:spcAft>
            </a:pPr>
            <a:r>
              <a:rPr sz="2000">
                <a:solidFill>
                  <a:srgbClr val="C0392B"/>
                </a:solidFill>
              </a:rPr>
              <a:t>Peterson's Algorithm</a:t>
            </a:r>
          </a:p>
        </p:txBody>
      </p:sp>
      <p:sp>
        <p:nvSpPr>
          <p:cNvPr id="6" name="TextBox 5"/>
          <p:cNvSpPr txBox="1"/>
          <p:nvPr/>
        </p:nvSpPr>
        <p:spPr>
          <a:xfrm>
            <a:off x="8046720" y="1737360"/>
            <a:ext cx="3657600" cy="2011680"/>
          </a:xfrm>
          <a:prstGeom prst="rect">
            <a:avLst/>
          </a:prstGeom>
          <a:noFill/>
        </p:spPr>
        <p:txBody>
          <a:bodyPr wrap="square">
            <a:spAutoFit/>
          </a:bodyPr>
          <a:lstStyle/>
          <a:p>
            <a:pPr algn="ctr">
              <a:spcAft>
                <a:spcPts val="0"/>
              </a:spcAft>
            </a:pPr>
            <a:r>
              <a:rPr sz="2000"/>
              <a:t>67070501005</a:t>
            </a:r>
          </a:p>
          <a:p>
            <a:pPr algn="ctr">
              <a:spcAft>
                <a:spcPts val="0"/>
              </a:spcAft>
            </a:pPr>
            <a:r>
              <a:rPr sz="2000"/>
              <a:t>Kiatisak Markmeeshap</a:t>
            </a:r>
          </a:p>
          <a:p>
            <a:pPr algn="ctr">
              <a:spcAft>
                <a:spcPts val="0"/>
              </a:spcAft>
            </a:pPr>
          </a:p>
          <a:p>
            <a:pPr algn="ctr">
              <a:spcAft>
                <a:spcPts val="0"/>
              </a:spcAft>
            </a:pPr>
            <a:r>
              <a:rPr sz="2000">
                <a:solidFill>
                  <a:srgbClr val="C0392B"/>
                </a:solidFill>
              </a:rPr>
              <a:t>Load-Linked / Store-Conditional</a:t>
            </a:r>
          </a:p>
        </p:txBody>
      </p:sp>
      <p:sp>
        <p:nvSpPr>
          <p:cNvPr id="7" name="TextBox 6"/>
          <p:cNvSpPr txBox="1"/>
          <p:nvPr/>
        </p:nvSpPr>
        <p:spPr>
          <a:xfrm>
            <a:off x="457200" y="4023360"/>
            <a:ext cx="3657600" cy="2011680"/>
          </a:xfrm>
          <a:prstGeom prst="rect">
            <a:avLst/>
          </a:prstGeom>
          <a:noFill/>
        </p:spPr>
        <p:txBody>
          <a:bodyPr wrap="square">
            <a:spAutoFit/>
          </a:bodyPr>
          <a:lstStyle/>
          <a:p>
            <a:pPr algn="ctr">
              <a:spcAft>
                <a:spcPts val="0"/>
              </a:spcAft>
            </a:pPr>
            <a:r>
              <a:rPr sz="2000"/>
              <a:t>67070501021</a:t>
            </a:r>
          </a:p>
          <a:p>
            <a:pPr algn="ctr">
              <a:spcAft>
                <a:spcPts val="0"/>
              </a:spcAft>
            </a:pPr>
            <a:r>
              <a:rPr sz="2000"/>
              <a:t>Thanaboon Tikaew</a:t>
            </a:r>
          </a:p>
          <a:p>
            <a:pPr algn="ctr">
              <a:spcAft>
                <a:spcPts val="0"/>
              </a:spcAft>
            </a:pPr>
          </a:p>
          <a:p>
            <a:pPr algn="ctr">
              <a:spcAft>
                <a:spcPts val="0"/>
              </a:spcAft>
            </a:pPr>
            <a:r>
              <a:rPr sz="2000">
                <a:solidFill>
                  <a:srgbClr val="C0392B"/>
                </a:solidFill>
              </a:rPr>
              <a:t>MCS Lock</a:t>
            </a:r>
          </a:p>
        </p:txBody>
      </p:sp>
      <p:sp>
        <p:nvSpPr>
          <p:cNvPr id="8" name="TextBox 7"/>
          <p:cNvSpPr txBox="1"/>
          <p:nvPr/>
        </p:nvSpPr>
        <p:spPr>
          <a:xfrm>
            <a:off x="4251960" y="4023360"/>
            <a:ext cx="3657600" cy="2011680"/>
          </a:xfrm>
          <a:prstGeom prst="rect">
            <a:avLst/>
          </a:prstGeom>
          <a:noFill/>
        </p:spPr>
        <p:txBody>
          <a:bodyPr wrap="square">
            <a:spAutoFit/>
          </a:bodyPr>
          <a:lstStyle/>
          <a:p>
            <a:pPr algn="ctr">
              <a:spcAft>
                <a:spcPts val="0"/>
              </a:spcAft>
            </a:pPr>
            <a:r>
              <a:rPr sz="2000"/>
              <a:t>67070501040</a:t>
            </a:r>
          </a:p>
          <a:p>
            <a:pPr algn="ctr">
              <a:spcAft>
                <a:spcPts val="0"/>
              </a:spcAft>
            </a:pPr>
            <a:r>
              <a:rPr sz="2000"/>
              <a:t>Worawut Sereethai</a:t>
            </a:r>
          </a:p>
          <a:p>
            <a:pPr algn="ctr">
              <a:spcAft>
                <a:spcPts val="0"/>
              </a:spcAft>
            </a:pPr>
          </a:p>
          <a:p>
            <a:pPr algn="ctr">
              <a:spcAft>
                <a:spcPts val="0"/>
              </a:spcAft>
            </a:pPr>
            <a:r>
              <a:rPr sz="2000">
                <a:solidFill>
                  <a:srgbClr val="C0392B"/>
                </a:solidFill>
              </a:rPr>
              <a:t>Comparison: Throughput</a:t>
            </a:r>
          </a:p>
        </p:txBody>
      </p:sp>
      <p:sp>
        <p:nvSpPr>
          <p:cNvPr id="9" name="TextBox 8"/>
          <p:cNvSpPr txBox="1"/>
          <p:nvPr/>
        </p:nvSpPr>
        <p:spPr>
          <a:xfrm>
            <a:off x="8046720" y="4023360"/>
            <a:ext cx="3657600" cy="2011680"/>
          </a:xfrm>
          <a:prstGeom prst="rect">
            <a:avLst/>
          </a:prstGeom>
          <a:noFill/>
        </p:spPr>
        <p:txBody>
          <a:bodyPr wrap="square">
            <a:spAutoFit/>
          </a:bodyPr>
          <a:lstStyle/>
          <a:p>
            <a:pPr algn="ctr">
              <a:spcAft>
                <a:spcPts val="0"/>
              </a:spcAft>
            </a:pPr>
            <a:r>
              <a:rPr sz="2000"/>
              <a:t>67070501059</a:t>
            </a:r>
          </a:p>
          <a:p>
            <a:pPr algn="ctr">
              <a:spcAft>
                <a:spcPts val="0"/>
              </a:spcAft>
            </a:pPr>
            <a:r>
              <a:rPr sz="2000"/>
              <a:t>Chanon Lhumsa-ard</a:t>
            </a:r>
          </a:p>
          <a:p>
            <a:pPr algn="ctr">
              <a:spcAft>
                <a:spcPts val="0"/>
              </a:spcAft>
            </a:pPr>
          </a:p>
          <a:p>
            <a:pPr algn="ctr">
              <a:spcAft>
                <a:spcPts val="0"/>
              </a:spcAft>
            </a:pPr>
            <a:r>
              <a:rPr sz="2000">
                <a:solidFill>
                  <a:srgbClr val="C0392B"/>
                </a:solidFill>
              </a:rPr>
              <a:t>Comparison: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 Each 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sp>
        <p:nvSpPr>
          <p:cNvPr id="4" name="TextBox 3"/>
          <p:cNvSpPr txBox="1"/>
          <p:nvPr/>
        </p:nvSpPr>
        <p:spPr>
          <a:xfrm>
            <a:off x="822960" y="1554480"/>
            <a:ext cx="6035040" cy="4937760"/>
          </a:xfrm>
          <a:prstGeom prst="rect">
            <a:avLst/>
          </a:prstGeom>
          <a:noFill/>
        </p:spPr>
        <p:txBody>
          <a:bodyPr wrap="square">
            <a:spAutoFit/>
          </a:bodyPr>
          <a:lstStyle/>
          <a:p>
            <a:pPr>
              <a:spcAft>
                <a:spcPts val="800"/>
              </a:spcAft>
            </a:pPr>
            <a:r>
              <a:rPr sz="2000"/>
              <a:t>• Metrics from Lecture 8:</a:t>
            </a:r>
          </a:p>
          <a:p>
            <a:pPr lvl="1">
              <a:spcAft>
                <a:spcPts val="800"/>
              </a:spcAft>
            </a:pPr>
            <a:r>
              <a:rPr sz="1800"/>
              <a:t>– Mutual exclusion: counter must equal total acquisitions (lost = total − counter)</a:t>
            </a:r>
          </a:p>
          <a:p>
            <a:pPr lvl="1">
              <a:spcAft>
                <a:spcPts val="800"/>
              </a:spcAft>
            </a:pPr>
            <a:r>
              <a:rPr sz="1800"/>
              <a:t>– Absence of deadlock: every run must finish</a:t>
            </a:r>
          </a:p>
          <a:p>
            <a:pPr lvl="1">
              <a:spcAft>
                <a:spcPts val="800"/>
              </a:spcAft>
            </a:pPr>
            <a:r>
              <a:rPr sz="1800"/>
              <a:t>– Fairness: fewest ÷ most acquisitions per thread (1.0 = equal)</a:t>
            </a:r>
          </a:p>
          <a:p>
            <a:pPr lvl="1">
              <a:spcAft>
                <a:spcPts val="800"/>
              </a:spcAft>
            </a:pPr>
            <a:r>
              <a:rPr sz="1800"/>
              <a:t>– Performance: acquisitions per second</a:t>
            </a:r>
          </a:p>
          <a:p>
            <a:pPr>
              <a:spcAft>
                <a:spcPts val="800"/>
              </a:spcAft>
            </a:pPr>
            <a:r>
              <a:rPr sz="2000"/>
              <a:t>• 1 s per run, median of 3 runs, 1/2/4/8 threads, on all 8 CPUs and on one CPU (taskset -c 0)</a:t>
            </a:r>
          </a:p>
          <a:p>
            <a:pPr>
              <a:spcAft>
                <a:spcPts val="800"/>
              </a:spcAft>
            </a:pPr>
            <a:r>
              <a:rPr sz="2000"/>
              <a:t>• WSL2 Ubuntu, 8 CPUs, gcc 15.2.0 -O2</a:t>
            </a:r>
          </a:p>
          <a:p>
            <a:pPr>
              <a:spcAft>
                <a:spcPts val="800"/>
              </a:spcAft>
            </a:pPr>
            <a:r>
              <a:rPr sz="2000"/>
              <a:t>• Reference locks from the lecture: TAS spin lock, pthread_mutex</a:t>
            </a:r>
          </a:p>
        </p:txBody>
      </p:sp>
      <p:sp>
        <p:nvSpPr>
          <p:cNvPr id="5" name="TextBox 4"/>
          <p:cNvSpPr txBox="1"/>
          <p:nvPr/>
        </p:nvSpPr>
        <p:spPr>
          <a:xfrm>
            <a:off x="7132320" y="1828800"/>
            <a:ext cx="4663440" cy="1142999"/>
          </a:xfrm>
          <a:prstGeom prst="rect">
            <a:avLst/>
          </a:prstGeom>
          <a:solidFill>
            <a:srgbClr val="F4F4F4"/>
          </a:solidFill>
        </p:spPr>
        <p:txBody>
          <a:bodyPr wrap="none">
            <a:spAutoFit/>
          </a:bodyPr>
          <a:lstStyle/>
          <a:p>
            <a:pPr>
              <a:spcAft>
                <a:spcPts val="0"/>
              </a:spcAft>
            </a:pPr>
            <a:r>
              <a:rPr sz="1050">
                <a:latin typeface="Consolas"/>
              </a:rPr>
              <a:t>while (!stop) {</a:t>
            </a:r>
          </a:p>
          <a:p>
            <a:pPr>
              <a:spcAft>
                <a:spcPts val="0"/>
              </a:spcAft>
            </a:pPr>
            <a:r>
              <a:rPr sz="1050">
                <a:latin typeface="Consolas"/>
              </a:rPr>
              <a:t>    lock_acquire(id);</a:t>
            </a:r>
          </a:p>
          <a:p>
            <a:pPr>
              <a:spcAft>
                <a:spcPts val="0"/>
              </a:spcAft>
            </a:pPr>
            <a:r>
              <a:rPr sz="1050">
                <a:latin typeface="Consolas"/>
              </a:rPr>
              <a:t>    counter = counter + 1;          /* critical section */</a:t>
            </a:r>
          </a:p>
          <a:p>
            <a:pPr>
              <a:spcAft>
                <a:spcPts val="0"/>
              </a:spcAft>
            </a:pPr>
            <a:r>
              <a:rPr sz="1050">
                <a:latin typeface="Consolas"/>
              </a:rPr>
              <a:t>    lock_release(id);</a:t>
            </a:r>
          </a:p>
          <a:p>
            <a:pPr>
              <a:spcAft>
                <a:spcPts val="0"/>
              </a:spcAft>
            </a:pPr>
            <a:r>
              <a:rPr sz="1050">
                <a:latin typeface="Consolas"/>
              </a:rPr>
              <a:t>    n++;</a:t>
            </a:r>
          </a:p>
          <a:p>
            <a:pPr>
              <a:spcAft>
                <a:spcPts val="0"/>
              </a:spcAft>
            </a:pPr>
            <a:r>
              <a:rPr sz="1050">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p:txBody>
      </p:sp>
      <p:sp>
        <p:nvSpPr>
          <p:cNvPr id="5" name="TextBox 4"/>
          <p:cNvSpPr txBox="1"/>
          <p:nvPr/>
        </p:nvSpPr>
        <p:spPr>
          <a:xfrm>
            <a:off x="5120640" y="1463040"/>
            <a:ext cx="6675120" cy="3886200"/>
          </a:xfrm>
          <a:prstGeom prst="rect">
            <a:avLst/>
          </a:prstGeom>
          <a:solidFill>
            <a:srgbClr val="F4F4F4"/>
          </a:solidFill>
        </p:spPr>
        <p:txBody>
          <a:bodyPr wrap="none">
            <a:spAutoFit/>
          </a:bodyPr>
          <a:lstStyle/>
          <a:p>
            <a:pPr>
              <a:spcAft>
                <a:spcPts val="0"/>
              </a:spcAft>
            </a:pPr>
            <a:r>
              <a:rPr sz="1350">
                <a:latin typeface="Consolas"/>
              </a:rPr>
              <a:t>static volatile int flag[2];   /* flag[i] = 1: thread i wants in */</a:t>
            </a:r>
          </a:p>
          <a:p>
            <a:pPr>
              <a:spcAft>
                <a:spcPts val="0"/>
              </a:spcAft>
            </a:pPr>
            <a:r>
              <a:rPr sz="1350">
                <a:latin typeface="Consolas"/>
              </a:rPr>
              <a:t>static volatile int turn;      /* whose turn it is to wait */</a:t>
            </a:r>
          </a:p>
          <a:p>
            <a:pPr>
              <a:spcAft>
                <a:spcPts val="0"/>
              </a:spcAft>
            </a:pPr>
          </a:p>
          <a:p>
            <a:pPr>
              <a:spcAft>
                <a:spcPts val="0"/>
              </a:spcAft>
            </a:pPr>
            <a:r>
              <a:rPr sz="1350">
                <a:latin typeface="Consolas"/>
              </a:rPr>
              <a:t>void lock_acquire(int self)</a:t>
            </a:r>
          </a:p>
          <a:p>
            <a:pPr>
              <a:spcAft>
                <a:spcPts val="0"/>
              </a:spcAft>
            </a:pPr>
            <a:r>
              <a:rPr sz="1350">
                <a:latin typeface="Consolas"/>
              </a:rPr>
              <a:t>{</a:t>
            </a:r>
          </a:p>
          <a:p>
            <a:pPr>
              <a:spcAft>
                <a:spcPts val="0"/>
              </a:spcAft>
            </a:pPr>
            <a:r>
              <a:rPr sz="1350">
                <a:latin typeface="Consolas"/>
              </a:rPr>
              <a:t>    int other = 1 - self;</a:t>
            </a:r>
          </a:p>
          <a:p>
            <a:pPr>
              <a:spcAft>
                <a:spcPts val="0"/>
              </a:spcAft>
            </a:pPr>
            <a:r>
              <a:rPr sz="1350">
                <a:latin typeface="Consolas"/>
              </a:rPr>
              <a:t>    flag[self] = 1;            /* I want to enter ...        */</a:t>
            </a:r>
          </a:p>
          <a:p>
            <a:pPr>
              <a:spcAft>
                <a:spcPts val="0"/>
              </a:spcAft>
            </a:pPr>
            <a:r>
              <a:rPr sz="1350">
                <a:latin typeface="Consolas"/>
              </a:rPr>
              <a:t>    turn = other;              /* ... but you go first       */</a:t>
            </a:r>
          </a:p>
          <a:p>
            <a:pPr>
              <a:spcAft>
                <a:spcPts val="0"/>
              </a:spcAft>
            </a:pPr>
            <a:r>
              <a:rPr sz="1350">
                <a:latin typeface="Consolas"/>
              </a:rPr>
              <a:t>    FENCE();                   /* stores done before the loads */</a:t>
            </a:r>
          </a:p>
          <a:p>
            <a:pPr>
              <a:spcAft>
                <a:spcPts val="0"/>
              </a:spcAft>
            </a:pPr>
            <a:r>
              <a:rPr sz="1350">
                <a:latin typeface="Consolas"/>
              </a:rPr>
              <a:t>    while (flag[other] == 1 &amp;&amp; turn == other)</a:t>
            </a:r>
          </a:p>
          <a:p>
            <a:pPr>
              <a:spcAft>
                <a:spcPts val="0"/>
              </a:spcAft>
            </a:pPr>
            <a:r>
              <a:rPr sz="1350">
                <a:latin typeface="Consolas"/>
              </a:rPr>
              <a:t>        ;                      /* spin: you want in, your turn */</a:t>
            </a:r>
          </a:p>
          <a:p>
            <a:pPr>
              <a:spcAft>
                <a:spcPts val="0"/>
              </a:spcAft>
            </a:pPr>
            <a:r>
              <a:rPr sz="1350">
                <a:latin typeface="Consolas"/>
              </a:rPr>
              <a:t>}</a:t>
            </a:r>
          </a:p>
          <a:p>
            <a:pPr>
              <a:spcAft>
                <a:spcPts val="0"/>
              </a:spcAft>
            </a:pPr>
          </a:p>
          <a:p>
            <a:pPr>
              <a:spcAft>
                <a:spcPts val="0"/>
              </a:spcAft>
            </a:pPr>
            <a:r>
              <a:rPr sz="1350">
                <a:latin typeface="Consolas"/>
              </a:rPr>
              <a:t>void lock_release(int self)</a:t>
            </a:r>
          </a:p>
          <a:p>
            <a:pPr>
              <a:spcAft>
                <a:spcPts val="0"/>
              </a:spcAft>
            </a:pPr>
            <a:r>
              <a:rPr sz="1350">
                <a:latin typeface="Consolas"/>
              </a:rPr>
              <a:t>{</a:t>
            </a:r>
          </a:p>
          <a:p>
            <a:pPr>
              <a:spcAft>
                <a:spcPts val="0"/>
              </a:spcAft>
            </a:pPr>
            <a:r>
              <a:rPr sz="1350">
                <a:latin typeface="Consolas"/>
              </a:rPr>
              <a:t>    FENCE();</a:t>
            </a:r>
          </a:p>
          <a:p>
            <a:pPr>
              <a:spcAft>
                <a:spcPts val="0"/>
              </a:spcAft>
            </a:pPr>
            <a:r>
              <a:rPr sz="1350">
                <a:latin typeface="Consolas"/>
              </a:rPr>
              <a:t>    flag[self] = 0;</a:t>
            </a:r>
          </a:p>
          <a:p>
            <a:pPr>
              <a:spcAft>
                <a:spcPts val="0"/>
              </a:spcAft>
            </a:pPr>
            <a:r>
              <a:rPr sz="1350">
                <a:latin typeface="Consolas"/>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sp>
        <p:nvSpPr>
          <p:cNvPr id="4" name="TextBox 3"/>
          <p:cNvSpPr txBox="1"/>
          <p:nvPr/>
        </p:nvSpPr>
        <p:spPr>
          <a:xfrm>
            <a:off x="822960" y="1463040"/>
            <a:ext cx="10789920" cy="2103120"/>
          </a:xfrm>
          <a:prstGeom prst="rect">
            <a:avLst/>
          </a:prstGeom>
          <a:noFill/>
        </p:spPr>
        <p:txBody>
          <a:bodyPr wrap="square">
            <a:spAutoFit/>
          </a:bodyPr>
          <a:lstStyle/>
          <a:p>
            <a:pPr>
              <a:spcAft>
                <a:spcPts val="800"/>
              </a:spcAft>
            </a:pPr>
            <a:r>
              <a:rPr sz="1900"/>
              <a:t>• Mutual exclusion: if both were inside, each saw turn == itself — impossible, turn holds one value</a:t>
            </a:r>
          </a:p>
          <a:p>
            <a:pPr>
              <a:spcAft>
                <a:spcPts val="800"/>
              </a:spcAft>
            </a:pPr>
            <a:r>
              <a:rPr sz="1900"/>
              <a:t>• No deadlock: turn is 0 or 1, so one waiting thread always passes</a:t>
            </a:r>
          </a:p>
          <a:p>
            <a:pPr>
              <a:spcAft>
                <a:spcPts val="800"/>
              </a:spcAft>
            </a:pPr>
            <a:r>
              <a:rPr sz="1900">
                <a:solidFill>
                  <a:srgbClr val="C0392B"/>
                </a:solidFill>
              </a:rPr>
              <a:t>• But x86 lets a load pass an earlier store (store buffer): both read flag[other] == 0 and both enter</a:t>
            </a:r>
          </a:p>
        </p:txBody>
      </p:sp>
      <p:graphicFrame>
        <p:nvGraphicFramePr>
          <p:cNvPr id="5" name="Table 4"/>
          <p:cNvGraphicFramePr>
            <a:graphicFrameLocks noGrp="1"/>
          </p:cNvGraphicFramePr>
          <p:nvPr/>
        </p:nvGraphicFramePr>
        <p:xfrm>
          <a:off x="822960" y="3566160"/>
          <a:ext cx="10515600" cy="1463040"/>
        </p:xfrm>
        <a:graphic>
          <a:graphicData uri="http://schemas.openxmlformats.org/drawingml/2006/table">
            <a:tbl>
              <a:tblPr firstRow="1" bandRow="1">
                <a:tableStyleId>{5C22544A-7EE6-4342-B048-85BDC9FD1C3A}</a:tableStyleId>
              </a:tblPr>
              <a:tblGrid>
                <a:gridCol w="2926080"/>
                <a:gridCol w="1463040"/>
                <a:gridCol w="2926080"/>
                <a:gridCol w="3200400"/>
              </a:tblGrid>
              <a:tr h="365760">
                <a:tc>
                  <a:txBody>
                    <a:bodyPr/>
                    <a:lstStyle/>
                    <a:p>
                      <a:r>
                        <a:rPr sz="1600"/>
                        <a:t>Build (2 threads)</a:t>
                      </a:r>
                    </a:p>
                  </a:txBody>
                  <a:tcPr/>
                </a:tc>
                <a:tc>
                  <a:txBody>
                    <a:bodyPr/>
                    <a:lstStyle/>
                    <a:p>
                      <a:r>
                        <a:rPr sz="1600"/>
                        <a:t>CPUs</a:t>
                      </a:r>
                    </a:p>
                  </a:txBody>
                  <a:tcPr/>
                </a:tc>
                <a:tc>
                  <a:txBody>
                    <a:bodyPr/>
                    <a:lstStyle/>
                    <a:p>
                      <a:r>
                        <a:rPr sz="1600"/>
                        <a:t>Runs with lost updates</a:t>
                      </a:r>
                    </a:p>
                  </a:txBody>
                  <a:tcPr/>
                </a:tc>
                <a:tc>
                  <a:txBody>
                    <a:bodyPr/>
                    <a:lstStyle/>
                    <a:p>
                      <a:r>
                        <a:rPr sz="1600"/>
                        <a:t>Lost updates per run</a:t>
                      </a:r>
                    </a:p>
                  </a:txBody>
                  <a:tcPr/>
                </a:tc>
              </a:tr>
              <a:tr h="365760">
                <a:tc>
                  <a:txBody>
                    <a:bodyPr/>
                    <a:lstStyle/>
                    <a:p>
                      <a:r>
                        <a:rPr sz="1600"/>
                        <a:t>no fence</a:t>
                      </a:r>
                    </a:p>
                  </a:txBody>
                  <a:tcPr/>
                </a:tc>
                <a:tc>
                  <a:txBody>
                    <a:bodyPr/>
                    <a:lstStyle/>
                    <a:p>
                      <a:r>
                        <a:rPr sz="1600"/>
                        <a:t>all 8</a:t>
                      </a:r>
                    </a:p>
                  </a:txBody>
                  <a:tcPr/>
                </a:tc>
                <a:tc>
                  <a:txBody>
                    <a:bodyPr/>
                    <a:lstStyle/>
                    <a:p>
                      <a:r>
                        <a:rPr sz="1600"/>
                        <a:t>5 / 5</a:t>
                      </a:r>
                    </a:p>
                  </a:txBody>
                  <a:tcPr/>
                </a:tc>
                <a:tc>
                  <a:txBody>
                    <a:bodyPr/>
                    <a:lstStyle/>
                    <a:p>
                      <a:r>
                        <a:rPr sz="1600"/>
                        <a:t>233,108 – 813,401</a:t>
                      </a:r>
                    </a:p>
                  </a:txBody>
                  <a:tcPr/>
                </a:tc>
              </a:tr>
              <a:tr h="365760">
                <a:tc>
                  <a:txBody>
                    <a:bodyPr/>
                    <a:lstStyle/>
                    <a:p>
                      <a:r>
                        <a:rPr sz="1600"/>
                        <a:t>no fence</a:t>
                      </a:r>
                    </a:p>
                  </a:txBody>
                  <a:tcPr/>
                </a:tc>
                <a:tc>
                  <a:txBody>
                    <a:bodyPr/>
                    <a:lstStyle/>
                    <a:p>
                      <a:r>
                        <a:rPr sz="1600"/>
                        <a:t>one</a:t>
                      </a:r>
                    </a:p>
                  </a:txBody>
                  <a:tcPr/>
                </a:tc>
                <a:tc>
                  <a:txBody>
                    <a:bodyPr/>
                    <a:lstStyle/>
                    <a:p>
                      <a:r>
                        <a:rPr sz="1600"/>
                        <a:t>0 / 3</a:t>
                      </a:r>
                    </a:p>
                  </a:txBody>
                  <a:tcPr/>
                </a:tc>
                <a:tc>
                  <a:txBody>
                    <a:bodyPr/>
                    <a:lstStyle/>
                    <a:p>
                      <a:r>
                        <a:rPr sz="1600"/>
                        <a:t>0</a:t>
                      </a:r>
                    </a:p>
                  </a:txBody>
                  <a:tcPr/>
                </a:tc>
              </a:tr>
              <a:tr h="365760">
                <a:tc>
                  <a:txBody>
                    <a:bodyPr/>
                    <a:lstStyle/>
                    <a:p>
                      <a:r>
                        <a:rPr sz="1600"/>
                        <a:t>with FENCE()</a:t>
                      </a:r>
                    </a:p>
                  </a:txBody>
                  <a:tcPr/>
                </a:tc>
                <a:tc>
                  <a:txBody>
                    <a:bodyPr/>
                    <a:lstStyle/>
                    <a:p>
                      <a:r>
                        <a:rPr sz="1600"/>
                        <a:t>all 8</a:t>
                      </a:r>
                    </a:p>
                  </a:txBody>
                  <a:tcPr/>
                </a:tc>
                <a:tc>
                  <a:txBody>
                    <a:bodyPr/>
                    <a:lstStyle/>
                    <a:p>
                      <a:r>
                        <a:rPr sz="1600"/>
                        <a:t>0 / 5</a:t>
                      </a:r>
                    </a:p>
                  </a:txBody>
                  <a:tcPr/>
                </a:tc>
                <a:tc>
                  <a:txBody>
                    <a:bodyPr/>
                    <a:lstStyle/>
                    <a:p>
                      <a:r>
                        <a:rPr sz="1600"/>
                        <a:t>0</a:t>
                      </a:r>
                    </a:p>
                  </a:txBody>
                  <a:tcPr/>
                </a:tc>
              </a:tr>
            </a:tbl>
          </a:graphicData>
        </a:graphic>
      </p:graphicFrame>
      <p:sp>
        <p:nvSpPr>
          <p:cNvPr id="6" name="TextBox 5"/>
          <p:cNvSpPr txBox="1"/>
          <p:nvPr/>
        </p:nvSpPr>
        <p:spPr>
          <a:xfrm>
            <a:off x="822960" y="5394960"/>
            <a:ext cx="10789920" cy="914400"/>
          </a:xfrm>
          <a:prstGeom prst="rect">
            <a:avLst/>
          </a:prstGeom>
          <a:noFill/>
        </p:spPr>
        <p:txBody>
          <a:bodyPr wrap="square">
            <a:spAutoFit/>
          </a:bodyPr>
          <a:lstStyle/>
          <a:p>
            <a:pPr>
              <a:spcAft>
                <a:spcPts val="800"/>
              </a:spcAft>
            </a:pPr>
            <a:r>
              <a:rPr sz="1700"/>
              <a:t>• FENCE() compiles to  lock orq $0x0,(%rsp)  — a full barrier: the stores drain before the 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63 M acq/s — no contention</a:t>
            </a:r>
          </a:p>
          <a:p>
            <a:pPr>
              <a:spcAft>
                <a:spcPts val="800"/>
              </a:spcAft>
            </a:pPr>
            <a:r>
              <a:rPr sz="1900"/>
              <a:t>• 2 threads, all CPUs: 15 M acq/s — flag and turn move between cores</a:t>
            </a:r>
          </a:p>
          <a:p>
            <a:pPr>
              <a:spcAft>
                <a:spcPts val="800"/>
              </a:spcAft>
            </a:pPr>
            <a:r>
              <a:rPr sz="1900">
                <a:solidFill>
                  <a:srgbClr val="C0392B"/>
                </a:solidFill>
              </a:rPr>
              <a:t>• 2 threads, one CPU: 165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0.99 — turn gives way to the other thread, so a waiter enters after at most one entry by the other (bounded waiting)</a:t>
            </a:r>
          </a:p>
          <a:p>
            <a:pPr>
              <a:spcAft>
                <a:spcPts val="800"/>
              </a:spcAft>
            </a:pPr>
            <a:r>
              <a:rPr sz="2000"/>
              <a:t>• One CPU, 2 threads: fairness 0.001 (run 1: 126 vs 93,264) — with spinning, the scheduler decides</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a memory fence on modern CPUs — the textbook version is broken on x86</a:t>
            </a:r>
          </a:p>
          <a:p>
            <a:pPr lvl="1">
              <a:spcAft>
                <a:spcPts val="800"/>
              </a:spcAft>
            </a:pPr>
            <a:r>
              <a:rPr sz="1800"/>
              <a:t>– Spins instead of sleeping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lost = 0 in 3 / 3 runs (5,252,862+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0000000000400b8c &lt;lock_acquire&gt;:</a:t>
            </a:r>
          </a:p>
          <a:p>
            <a:pPr>
              <a:spcAft>
                <a:spcPts val="0"/>
              </a:spcAft>
            </a:pPr>
            <a:r>
              <a:rPr sz="1600">
                <a:latin typeface="Consolas"/>
              </a:rPr>
              <a:t>adrp x1, 4b1000</a:t>
            </a:r>
          </a:p>
          <a:p>
            <a:pPr>
              <a:spcAft>
                <a:spcPts val="0"/>
              </a:spcAft>
            </a:pPr>
            <a:r>
              <a:rPr sz="1600">
                <a:latin typeface="Consolas"/>
              </a:rPr>
              <a:t>add x1, x1, #0xb40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400ba0 &lt;lock_acquire+0x14&gt;</a:t>
            </a:r>
          </a:p>
          <a:p>
            <a:pPr>
              <a:spcAft>
                <a:spcPts val="0"/>
              </a:spcAft>
            </a:pPr>
            <a:r>
              <a:rPr sz="1600">
                <a:latin typeface="Consolas"/>
              </a:rPr>
              <a:t>stxr w0, w2, [x1]</a:t>
            </a:r>
          </a:p>
          <a:p>
            <a:pPr>
              <a:spcAft>
                <a:spcPts val="0"/>
              </a:spcAft>
            </a:pPr>
            <a:r>
              <a:rPr sz="1600">
                <a:latin typeface="Consolas"/>
              </a:rPr>
              <a:t>cbnz w0, 400ba0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with CAS standing in for LL/SC (qemu speed is meaningless)</a:t>
            </a:r>
          </a:p>
          <a:p>
            <a:pPr>
              <a:spcAft>
                <a:spcPts val="800"/>
              </a:spcAft>
            </a:pPr>
            <a:r>
              <a:rPr sz="1800"/>
              <a:t>• All CPUs: 107 M acq/s with 1 thread → 6.1 M with 8 — every try pulls the flag's cache line</a:t>
            </a:r>
          </a:p>
          <a:p>
            <a:pPr>
              <a:spcAft>
                <a:spcPts val="800"/>
              </a:spcAft>
            </a:pPr>
            <a:r>
              <a:rPr sz="1800"/>
              <a:t>• One CPU, 8 threads: 14 M acq/s</a:t>
            </a:r>
          </a:p>
          <a:p>
            <a:pPr>
              <a:spcAft>
                <a:spcPts val="800"/>
              </a:spcAft>
            </a:pPr>
            <a:r>
              <a:rPr sz="1800"/>
              <a:t>• Waiters only read (LL) until the flag looks free, then write once (SC)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0.75 (all CPUs), 0.00 (one CPU; run 1: the unluckiest thread got 1 of 14,638,997)</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800"/>
              <a:t>• Mellor-Crummey and Scott, 1991; Dijkstra Prize 2006</a:t>
            </a:r>
          </a:p>
          <a:p>
            <a:pPr>
              <a:spcAft>
                <a:spcPts val="800"/>
              </a:spcAft>
            </a:pPr>
            <a:r>
              <a:rPr sz="1800"/>
              <a:t>• Waiters form a queue: a linked list of nodes, tail points to the last</a:t>
            </a:r>
          </a:p>
          <a:p>
            <a:pPr>
              <a:spcAft>
                <a:spcPts val="800"/>
              </a:spcAft>
            </a:pPr>
            <a:r>
              <a:rPr sz="1800"/>
              <a:t>• Join: one atomic exchange on tail, then link in behind the previous node</a:t>
            </a:r>
          </a:p>
          <a:p>
            <a:pPr>
              <a:spcAft>
                <a:spcPts val="800"/>
              </a:spcAft>
            </a:pPr>
            <a:r>
              <a:rPr sz="1800"/>
              <a:t>• Each thread spins on its OWN node; the one ahead clears it on release</a:t>
            </a:r>
          </a:p>
          <a:p>
            <a:pPr>
              <a:spcAft>
                <a:spcPts val="800"/>
              </a:spcAft>
            </a:pPr>
            <a:r>
              <a:rPr sz="1800">
                <a:solidFill>
                  <a:srgbClr val="C0392B"/>
                </a:solidFill>
              </a:rPr>
              <a:t>• Linux's spinlock (qspinlock, since v4.2) is built on MCS</a:t>
            </a:r>
          </a:p>
        </p:txBody>
      </p:sp>
      <p:sp>
        <p:nvSpPr>
          <p:cNvPr id="5" name="TextBox 4"/>
          <p:cNvSpPr txBox="1"/>
          <p:nvPr/>
        </p:nvSpPr>
        <p:spPr>
          <a:xfrm>
            <a:off x="5120640" y="1463040"/>
            <a:ext cx="6675120" cy="3291840"/>
          </a:xfrm>
          <a:prstGeom prst="rect">
            <a:avLst/>
          </a:prstGeom>
          <a:solidFill>
            <a:srgbClr val="F4F4F4"/>
          </a:solidFill>
        </p:spPr>
        <p:txBody>
          <a:bodyPr wrap="none">
            <a:spAutoFit/>
          </a:bodyPr>
          <a:lstStyle/>
          <a:p>
            <a:pPr>
              <a:spcAft>
                <a:spcPts val="0"/>
              </a:spcAft>
            </a:pPr>
            <a:r>
              <a:rPr sz="1200">
                <a:latin typeface="Consolas"/>
              </a:rPr>
              <a:t>struct node {</a:t>
            </a:r>
          </a:p>
          <a:p>
            <a:pPr>
              <a:spcAft>
                <a:spcPts val="0"/>
              </a:spcAft>
            </a:pPr>
            <a:r>
              <a:rPr sz="1200">
                <a:latin typeface="Consolas"/>
              </a:rPr>
              <a:t>    struct node *next;          /* the thread queued behind me */</a:t>
            </a:r>
          </a:p>
          <a:p>
            <a:pPr>
              <a:spcAft>
                <a:spcPts val="0"/>
              </a:spcAft>
            </a:pPr>
            <a:r>
              <a:rPr sz="1200">
                <a:latin typeface="Consolas"/>
              </a:rPr>
              <a:t>    int locked;                 /* 1 = keep waiting */</a:t>
            </a:r>
          </a:p>
          <a:p>
            <a:pPr>
              <a:spcAft>
                <a:spcPts val="0"/>
              </a:spcAft>
            </a:pPr>
            <a:r>
              <a:rPr sz="1200">
                <a:latin typeface="Consolas"/>
              </a:rPr>
              <a:t>} __attribute__((aligned(64)));  /* one cache line per node */</a:t>
            </a:r>
          </a:p>
          <a:p>
            <a:pPr>
              <a:spcAft>
                <a:spcPts val="0"/>
              </a:spcAft>
            </a:pPr>
          </a:p>
          <a:p>
            <a:pPr>
              <a:spcAft>
                <a:spcPts val="0"/>
              </a:spcAft>
            </a:pPr>
            <a:r>
              <a:rPr sz="1200">
                <a:latin typeface="Consolas"/>
              </a:rPr>
              <a:t>void lock_acquire(int id)</a:t>
            </a:r>
          </a:p>
          <a:p>
            <a:pPr>
              <a:spcAft>
                <a:spcPts val="0"/>
              </a:spcAft>
            </a:pPr>
            <a:r>
              <a:rPr sz="1200">
                <a:latin typeface="Consolas"/>
              </a:rPr>
              <a:t>{</a:t>
            </a:r>
          </a:p>
          <a:p>
            <a:pPr>
              <a:spcAft>
                <a:spcPts val="0"/>
              </a:spcAft>
            </a:pPr>
            <a:r>
              <a:rPr sz="1200">
                <a:latin typeface="Consolas"/>
              </a:rPr>
              <a:t>    struct node *me = &amp;qnode[id];</a:t>
            </a:r>
          </a:p>
          <a:p>
            <a:pPr>
              <a:spcAft>
                <a:spcPts val="0"/>
              </a:spcAft>
            </a:pPr>
            <a:r>
              <a:rPr sz="1200">
                <a:latin typeface="Consolas"/>
              </a:rPr>
              <a:t>    me-&gt;next = NULL;</a:t>
            </a:r>
          </a:p>
          <a:p>
            <a:pPr>
              <a:spcAft>
                <a:spcPts val="0"/>
              </a:spcAft>
            </a:pPr>
            <a:r>
              <a:rPr sz="1200">
                <a:latin typeface="Consolas"/>
              </a:rPr>
              <a:t>    me-&gt;locked = 1;</a:t>
            </a:r>
          </a:p>
          <a:p>
            <a:pPr>
              <a:spcAft>
                <a:spcPts val="0"/>
              </a:spcAft>
            </a:pPr>
            <a:r>
              <a:rPr sz="1200">
                <a:latin typeface="Consolas"/>
              </a:rPr>
              <a:t>    struct node *prev = __atomic_exchange_n(&amp;tail, me, __ATOMIC_ACQ_REL);</a:t>
            </a:r>
          </a:p>
          <a:p>
            <a:pPr>
              <a:spcAft>
                <a:spcPts val="0"/>
              </a:spcAft>
            </a:pPr>
            <a:r>
              <a:rPr sz="1200">
                <a:latin typeface="Consolas"/>
              </a:rPr>
              <a:t>    if (prev != NULL) {         /* queue not empty: */</a:t>
            </a:r>
          </a:p>
          <a:p>
            <a:pPr>
              <a:spcAft>
                <a:spcPts val="0"/>
              </a:spcAft>
            </a:pPr>
            <a:r>
              <a:rPr sz="1200">
                <a:latin typeface="Consolas"/>
              </a:rPr>
              <a:t>        STORE(&amp;prev-&gt;next, me); /* link in behind prev */</a:t>
            </a:r>
          </a:p>
          <a:p>
            <a:pPr>
              <a:spcAft>
                <a:spcPts val="0"/>
              </a:spcAft>
            </a:pPr>
            <a:r>
              <a:rPr sz="1200">
                <a:latin typeface="Consolas"/>
              </a:rPr>
              <a:t>        while (LOAD(&amp;me-&gt;locked))</a:t>
            </a:r>
          </a:p>
          <a:p>
            <a:pPr>
              <a:spcAft>
                <a:spcPts val="0"/>
              </a:spcAft>
            </a:pPr>
            <a:r>
              <a:rPr sz="1200">
                <a:latin typeface="Consolas"/>
              </a:rPr>
              <a:t>            ;                   /* spin on MY node only */</a:t>
            </a:r>
          </a:p>
          <a:p>
            <a:pPr>
              <a:spcAft>
                <a:spcPts val="0"/>
              </a:spcAft>
            </a:pPr>
            <a:r>
              <a:rPr sz="1200">
                <a:latin typeface="Consolas"/>
              </a:rPr>
              <a:t>    }</a:t>
            </a:r>
          </a:p>
          <a:p>
            <a:pPr>
              <a:spcAft>
                <a:spcPts val="0"/>
              </a:spcAft>
            </a:pPr>
            <a:r>
              <a:rPr sz="1200">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700"/>
              <a:t>• Mutual exclusion: the exchange gives every thread one place in one queue; only the head is inside, and it wakes exactly one node</a:t>
            </a:r>
          </a:p>
          <a:p>
            <a:pPr>
              <a:spcAft>
                <a:spcPts val="800"/>
              </a:spcAft>
            </a:pPr>
            <a:r>
              <a:rPr sz="1700"/>
              <a:t>• No deadlock: the holder always hands over — to the next node, or resets tail when nobody waits</a:t>
            </a:r>
          </a:p>
          <a:p>
            <a:pPr>
              <a:spcAft>
                <a:spcPts val="800"/>
              </a:spcAft>
            </a:pPr>
            <a:r>
              <a:rPr sz="1700"/>
              <a:t>• release() waits for a waiter that has swapped tail but not linked in yet</a:t>
            </a:r>
          </a:p>
          <a:p>
            <a:pPr>
              <a:spcAft>
                <a:spcPts val="800"/>
              </a:spcAft>
            </a:pPr>
            <a:r>
              <a:rPr sz="1700"/>
              <a:t>• Measured: all 24 runs (1–8 threads, all CPUs and one CPU) finished with lost = 0</a:t>
            </a:r>
          </a:p>
        </p:txBody>
      </p:sp>
      <p:sp>
        <p:nvSpPr>
          <p:cNvPr id="5" name="TextBox 4"/>
          <p:cNvSpPr txBox="1"/>
          <p:nvPr/>
        </p:nvSpPr>
        <p:spPr>
          <a:xfrm>
            <a:off x="5120640" y="1463040"/>
            <a:ext cx="6675120" cy="2636520"/>
          </a:xfrm>
          <a:prstGeom prst="rect">
            <a:avLst/>
          </a:prstGeom>
          <a:solidFill>
            <a:srgbClr val="F4F4F4"/>
          </a:solidFill>
        </p:spPr>
        <p:txBody>
          <a:bodyPr wrap="none">
            <a:spAutoFit/>
          </a:bodyPr>
          <a:lstStyle/>
          <a:p>
            <a:pPr>
              <a:spcAft>
                <a:spcPts val="0"/>
              </a:spcAft>
            </a:pPr>
            <a:r>
              <a:rPr sz="1150">
                <a:latin typeface="Consolas"/>
              </a:rPr>
              <a:t>void lock_release(int id)</a:t>
            </a:r>
          </a:p>
          <a:p>
            <a:pPr>
              <a:spcAft>
                <a:spcPts val="0"/>
              </a:spcAft>
            </a:pPr>
            <a:r>
              <a:rPr sz="1150">
                <a:latin typeface="Consolas"/>
              </a:rPr>
              <a:t>{</a:t>
            </a:r>
          </a:p>
          <a:p>
            <a:pPr>
              <a:spcAft>
                <a:spcPts val="0"/>
              </a:spcAft>
            </a:pPr>
            <a:r>
              <a:rPr sz="1150">
                <a:latin typeface="Consolas"/>
              </a:rPr>
              <a:t>    struct node *me = &amp;qnode[id];</a:t>
            </a:r>
          </a:p>
          <a:p>
            <a:pPr>
              <a:spcAft>
                <a:spcPts val="0"/>
              </a:spcAft>
            </a:pPr>
            <a:r>
              <a:rPr sz="1150">
                <a:latin typeface="Consolas"/>
              </a:rPr>
              <a:t>    struct node *next = LOAD(&amp;me-&gt;next);</a:t>
            </a:r>
          </a:p>
          <a:p>
            <a:pPr>
              <a:spcAft>
                <a:spcPts val="0"/>
              </a:spcAft>
            </a:pPr>
            <a:r>
              <a:rPr sz="1150">
                <a:latin typeface="Consolas"/>
              </a:rPr>
              <a:t>    if (next == NULL) {</a:t>
            </a:r>
          </a:p>
          <a:p>
            <a:pPr>
              <a:spcAft>
                <a:spcPts val="0"/>
              </a:spcAft>
            </a:pPr>
            <a:r>
              <a:rPr sz="1150">
                <a:latin typeface="Consolas"/>
              </a:rPr>
              <a:t>        struct node *expect = me;</a:t>
            </a:r>
          </a:p>
          <a:p>
            <a:pPr>
              <a:spcAft>
                <a:spcPts val="0"/>
              </a:spcAft>
            </a:pPr>
            <a:r>
              <a:rPr sz="1150">
                <a:latin typeface="Consolas"/>
              </a:rPr>
              <a:t>        if (__atomic_compare_exchange_n(&amp;tail, &amp;expect, NULL, 0,</a:t>
            </a:r>
          </a:p>
          <a:p>
            <a:pPr>
              <a:spcAft>
                <a:spcPts val="0"/>
              </a:spcAft>
            </a:pPr>
            <a:r>
              <a:rPr sz="1150">
                <a:latin typeface="Consolas"/>
              </a:rPr>
              <a:t>                                        __ATOMIC_RELEASE, __ATOMIC_RELAXED))</a:t>
            </a:r>
          </a:p>
          <a:p>
            <a:pPr>
              <a:spcAft>
                <a:spcPts val="0"/>
              </a:spcAft>
            </a:pPr>
            <a:r>
              <a:rPr sz="1150">
                <a:latin typeface="Consolas"/>
              </a:rPr>
              <a:t>            return;             /* nobody waiting: lock is free */</a:t>
            </a:r>
          </a:p>
          <a:p>
            <a:pPr>
              <a:spcAft>
                <a:spcPts val="0"/>
              </a:spcAft>
            </a:pPr>
            <a:r>
              <a:rPr sz="1150">
                <a:latin typeface="Consolas"/>
              </a:rPr>
              <a:t>        while ((next = LOAD(&amp;me-&gt;next)) == NULL)</a:t>
            </a:r>
          </a:p>
          <a:p>
            <a:pPr>
              <a:spcAft>
                <a:spcPts val="0"/>
              </a:spcAft>
            </a:pPr>
            <a:r>
              <a:rPr sz="1150">
                <a:latin typeface="Consolas"/>
              </a:rPr>
              <a:t>            ;                   /* a waiter is still linking in */</a:t>
            </a:r>
          </a:p>
          <a:p>
            <a:pPr>
              <a:spcAft>
                <a:spcPts val="0"/>
              </a:spcAft>
            </a:pPr>
            <a:r>
              <a:rPr sz="1150">
                <a:latin typeface="Consolas"/>
              </a:rPr>
              <a:t>    }</a:t>
            </a:r>
          </a:p>
          <a:p>
            <a:pPr>
              <a:spcAft>
                <a:spcPts val="0"/>
              </a:spcAft>
            </a:pPr>
            <a:r>
              <a:rPr sz="1150">
                <a:latin typeface="Consolas"/>
              </a:rPr>
              <a:t>    STORE(&amp;next-&gt;locked, 0);    /* hand the lock to the next thread */</a:t>
            </a:r>
          </a:p>
          <a:p>
            <a:pPr>
              <a:spcAft>
                <a:spcPts val="0"/>
              </a:spcAft>
            </a:pPr>
            <a:r>
              <a:rPr sz="1150">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t>• Each waiter spins on its own cache line; a handover touches one line</a:t>
            </a:r>
          </a:p>
          <a:p>
            <a:pPr>
              <a:spcAft>
                <a:spcPts val="800"/>
              </a:spcAft>
            </a:pPr>
            <a:r>
              <a:rPr sz="1800"/>
              <a:t>• All CPUs, 8 threads: 6.9 M acq/s (TAS: 5.7 M)</a:t>
            </a:r>
          </a:p>
          <a:p>
            <a:pPr>
              <a:spcAft>
                <a:spcPts val="800"/>
              </a:spcAft>
            </a:pPr>
            <a:r>
              <a:rPr sz="1800">
                <a:solidFill>
                  <a:srgbClr val="C0392B"/>
                </a:solidFill>
              </a:rPr>
              <a:t>• One CPU, 8 threads: 511 k acq/s — the next in the queue is not running</a:t>
            </a:r>
          </a:p>
          <a:p>
            <a:pPr>
              <a:spcAft>
                <a:spcPts val="800"/>
              </a:spcAft>
            </a:pPr>
            <a:r>
              <a:rPr sz="1800"/>
              <a:t>• In the kernel, spinlocks run with preemption disabled, so a queued waiter is never descheduled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through the queue: fairness 1.00 / 1.00 / 1.00 at 2/4/8 threads (all CPUs) — the fairest lock at 8 threads</a:t>
            </a:r>
          </a:p>
          <a:p>
            <a:pPr>
              <a:spcAft>
                <a:spcPts val="800"/>
              </a:spcAft>
            </a:pPr>
            <a:r>
              <a:rPr sz="2000"/>
              <a:t>• Limitations:</a:t>
            </a:r>
          </a:p>
          <a:p>
            <a:pPr lvl="1">
              <a:spcAft>
                <a:spcPts val="800"/>
              </a:spcAft>
            </a:pPr>
            <a:r>
              <a:rPr sz="1800"/>
              <a:t>– Needs an atomic exchange (and CAS for release) from the hardware</a:t>
            </a:r>
          </a:p>
          <a:p>
            <a:pPr lvl="1">
              <a:spcAft>
                <a:spcPts val="800"/>
              </a:spcAft>
            </a:pPr>
            <a:r>
              <a:rPr sz="1800"/>
              <a:t>– One queue node per waiting thread, passed in or kept per thread</a:t>
            </a:r>
          </a:p>
          <a:p>
            <a:pPr lvl="1">
              <a:spcAft>
                <a:spcPts val="800"/>
              </a:spcAft>
            </a:pPr>
            <a:r>
              <a:rPr sz="1800"/>
              <a:t>– A preempted waiter stalls everyone behind it — the kernel disables preemption</a:t>
            </a:r>
          </a:p>
          <a:p>
            <a:pPr lvl="1">
              <a:spcAft>
                <a:spcPts val="800"/>
              </a:spcAft>
            </a:pPr>
            <a:r>
              <a:rPr sz="1800"/>
              <a:t>– On one CPU here: 511 k acq/s at 8 threads, fairness 0.00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Throughput</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All CPUs vs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graphicFrame>
        <p:nvGraphicFramePr>
          <p:cNvPr id="4" name="Chart 3"/>
          <p:cNvGraphicFramePr>
            <a:graphicFrameLocks noGrp="1"/>
          </p:cNvGraphicFramePr>
          <p:nvPr/>
        </p:nvGraphicFramePr>
        <p:xfrm>
          <a:off x="365760" y="1371600"/>
          <a:ext cx="5760720" cy="512064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17920" y="1371600"/>
          <a:ext cx="5760720" cy="5120640"/>
        </p:xfrm>
        <a:graphic>
          <a:graphicData uri="http://schemas.openxmlformats.org/drawingml/2006/chart">
            <c:chart xmlns:c="http://schemas.openxmlformats.org/drawingml/2006/chart" r:id="rId4"/>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Summary</a:t>
            </a:r>
          </a:p>
        </p:txBody>
      </p:sp>
      <p:sp>
        <p:nvSpPr>
          <p:cNvPr id="3" name="Text Placeholder 2"/>
          <p:cNvSpPr>
            <a:spLocks noGrp="1"/>
          </p:cNvSpPr>
          <p:nvPr>
            <p:ph type="body" idx="1"/>
          </p:nvPr>
        </p:nvSpPr>
        <p:spPr/>
        <p:txBody>
          <a:bodyPr/>
          <a:lstStyle/>
          <a:p>
            <a:r>
              <a:t>67070501059</a:t>
            </a:r>
          </a:p>
          <a:p>
            <a:r>
              <a:t>Chanon Lhumsa-ard</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graphicFrame>
        <p:nvGraphicFramePr>
          <p:cNvPr id="4" name="Table 3"/>
          <p:cNvGraphicFramePr>
            <a:graphicFrameLocks noGrp="1"/>
          </p:cNvGraphicFramePr>
          <p:nvPr/>
        </p:nvGraphicFramePr>
        <p:xfrm>
          <a:off x="457200" y="1463040"/>
          <a:ext cx="11247120" cy="246888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1148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11480">
                <a:tc>
                  <a:txBody>
                    <a:bodyPr/>
                    <a:lstStyle/>
                    <a:p>
                      <a:r>
                        <a:rPr sz="1400"/>
                        <a:t>Peterson (2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0.99</a:t>
                      </a:r>
                    </a:p>
                  </a:txBody>
                  <a:tcPr/>
                </a:tc>
                <a:tc>
                  <a:txBody>
                    <a:bodyPr/>
                    <a:lstStyle/>
                    <a:p>
                      <a:r>
                        <a:rPr sz="1400"/>
                        <a:t>15 M</a:t>
                      </a:r>
                    </a:p>
                  </a:txBody>
                  <a:tcPr/>
                </a:tc>
                <a:tc>
                  <a:txBody>
                    <a:bodyPr/>
                    <a:lstStyle/>
                    <a:p>
                      <a:r>
                        <a:rPr sz="1400"/>
                        <a:t>165 k</a:t>
                      </a:r>
                    </a:p>
                  </a:txBody>
                  <a:tcPr/>
                </a:tc>
              </a:tr>
              <a:tr h="411480">
                <a:tc>
                  <a:txBody>
                    <a:bodyPr/>
                    <a:lstStyle/>
                    <a:p>
                      <a:r>
                        <a:rPr sz="1400"/>
                        <a:t>LL/SC (8 thr)</a:t>
                      </a:r>
                    </a:p>
                  </a:txBody>
                  <a:tcPr/>
                </a:tc>
                <a:tc>
                  <a:txBody>
                    <a:bodyPr/>
                    <a:lstStyle/>
                    <a:p>
                      <a:r>
                        <a:rPr sz="1400"/>
                        <a:t>LL/SC instructions</a:t>
                      </a:r>
                    </a:p>
                  </a:txBody>
                  <a:tcPr/>
                </a:tc>
                <a:tc>
                  <a:txBody>
                    <a:bodyPr/>
                    <a:lstStyle/>
                    <a:p>
                      <a:r>
                        <a:rPr sz="1400"/>
                        <a:t>yes</a:t>
                      </a:r>
                    </a:p>
                  </a:txBody>
                  <a:tcPr/>
                </a:tc>
                <a:tc>
                  <a:txBody>
                    <a:bodyPr/>
                    <a:lstStyle/>
                    <a:p>
                      <a:r>
                        <a:rPr sz="1400"/>
                        <a:t>yes</a:t>
                      </a:r>
                    </a:p>
                  </a:txBody>
                  <a:tcPr/>
                </a:tc>
                <a:tc>
                  <a:txBody>
                    <a:bodyPr/>
                    <a:lstStyle/>
                    <a:p>
                      <a:r>
                        <a:rPr sz="1400"/>
                        <a:t>0.75</a:t>
                      </a:r>
                    </a:p>
                  </a:txBody>
                  <a:tcPr/>
                </a:tc>
                <a:tc>
                  <a:txBody>
                    <a:bodyPr/>
                    <a:lstStyle/>
                    <a:p>
                      <a:r>
                        <a:rPr sz="1400"/>
                        <a:t>6.1 M</a:t>
                      </a:r>
                    </a:p>
                  </a:txBody>
                  <a:tcPr/>
                </a:tc>
                <a:tc>
                  <a:txBody>
                    <a:bodyPr/>
                    <a:lstStyle/>
                    <a:p>
                      <a:r>
                        <a:rPr sz="1400"/>
                        <a:t>14 M</a:t>
                      </a:r>
                    </a:p>
                  </a:txBody>
                  <a:tcPr/>
                </a:tc>
              </a:tr>
              <a:tr h="411480">
                <a:tc>
                  <a:txBody>
                    <a:bodyPr/>
                    <a:lstStyle/>
                    <a:p>
                      <a:r>
                        <a:rPr sz="1400"/>
                        <a:t>MCS (8 thr)</a:t>
                      </a:r>
                    </a:p>
                  </a:txBody>
                  <a:tcPr/>
                </a:tc>
                <a:tc>
                  <a:txBody>
                    <a:bodyPr/>
                    <a:lstStyle/>
                    <a:p>
                      <a:r>
                        <a:rPr sz="1400"/>
                        <a:t>atomic exchange + CAS</a:t>
                      </a:r>
                    </a:p>
                  </a:txBody>
                  <a:tcPr/>
                </a:tc>
                <a:tc>
                  <a:txBody>
                    <a:bodyPr/>
                    <a:lstStyle/>
                    <a:p>
                      <a:r>
                        <a:rPr sz="1400"/>
                        <a:t>yes</a:t>
                      </a:r>
                    </a:p>
                  </a:txBody>
                  <a:tcPr/>
                </a:tc>
                <a:tc>
                  <a:txBody>
                    <a:bodyPr/>
                    <a:lstStyle/>
                    <a:p>
                      <a:r>
                        <a:rPr sz="1400"/>
                        <a:t>yes</a:t>
                      </a:r>
                    </a:p>
                  </a:txBody>
                  <a:tcPr/>
                </a:tc>
                <a:tc>
                  <a:txBody>
                    <a:bodyPr/>
                    <a:lstStyle/>
                    <a:p>
                      <a:r>
                        <a:rPr sz="1400"/>
                        <a:t>1.00</a:t>
                      </a:r>
                    </a:p>
                  </a:txBody>
                  <a:tcPr/>
                </a:tc>
                <a:tc>
                  <a:txBody>
                    <a:bodyPr/>
                    <a:lstStyle/>
                    <a:p>
                      <a:r>
                        <a:rPr sz="1400"/>
                        <a:t>6.9 M</a:t>
                      </a:r>
                    </a:p>
                  </a:txBody>
                  <a:tcPr/>
                </a:tc>
                <a:tc>
                  <a:txBody>
                    <a:bodyPr/>
                    <a:lstStyle/>
                    <a:p>
                      <a:r>
                        <a:rPr sz="1400"/>
                        <a:t>511 k</a:t>
                      </a:r>
                    </a:p>
                  </a:txBody>
                  <a:tcPr/>
                </a:tc>
              </a:tr>
              <a:tr h="41148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0.82</a:t>
                      </a:r>
                    </a:p>
                  </a:txBody>
                  <a:tcPr/>
                </a:tc>
                <a:tc>
                  <a:txBody>
                    <a:bodyPr/>
                    <a:lstStyle/>
                    <a:p>
                      <a:r>
                        <a:rPr sz="1400"/>
                        <a:t>5.7 M</a:t>
                      </a:r>
                    </a:p>
                  </a:txBody>
                  <a:tcPr/>
                </a:tc>
                <a:tc>
                  <a:txBody>
                    <a:bodyPr/>
                    <a:lstStyle/>
                    <a:p>
                      <a:r>
                        <a:rPr sz="1400"/>
                        <a:t>14 M</a:t>
                      </a:r>
                    </a:p>
                  </a:txBody>
                  <a:tcPr/>
                </a:tc>
              </a:tr>
              <a:tr h="41148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0.86</a:t>
                      </a:r>
                    </a:p>
                  </a:txBody>
                  <a:tcPr/>
                </a:tc>
                <a:tc>
                  <a:txBody>
                    <a:bodyPr/>
                    <a:lstStyle/>
                    <a:p>
                      <a:r>
                        <a:rPr sz="1400"/>
                        <a:t>20 M</a:t>
                      </a:r>
                    </a:p>
                  </a:txBody>
                  <a:tcPr/>
                </a:tc>
                <a:tc>
                  <a:txBody>
                    <a:bodyPr/>
                    <a:lstStyle/>
                    <a:p>
                      <a:r>
                        <a:rPr sz="1400"/>
                        <a:t>54 M</a:t>
                      </a:r>
                    </a:p>
                  </a:txBody>
                  <a:tcPr/>
                </a:tc>
              </a:tr>
            </a:tbl>
          </a:graphicData>
        </a:graphic>
      </p:graphicFrame>
      <p:sp>
        <p:nvSpPr>
          <p:cNvPr id="5" name="TextBox 4"/>
          <p:cNvSpPr txBox="1"/>
          <p:nvPr/>
        </p:nvSpPr>
        <p:spPr>
          <a:xfrm>
            <a:off x="457200" y="4297680"/>
            <a:ext cx="11247120" cy="1371600"/>
          </a:xfrm>
          <a:prstGeom prst="rect">
            <a:avLst/>
          </a:prstGeom>
          <a:noFill/>
        </p:spPr>
        <p:txBody>
          <a:bodyPr wrap="square">
            <a:spAutoFit/>
          </a:bodyPr>
          <a:lstStyle/>
          <a:p>
            <a:pPr>
              <a:spcAft>
                <a:spcPts val="800"/>
              </a:spcAft>
            </a:pPr>
            <a:r>
              <a:rPr sz="1600"/>
              <a:t>• Fairness = fewest ÷ most acquisitions per thread; medians of 3 runs of 1 s</a:t>
            </a:r>
          </a:p>
          <a:p>
            <a:pPr>
              <a:spcAft>
                <a:spcPts val="800"/>
              </a:spcAft>
            </a:pPr>
            <a:r>
              <a:rPr sz="1600">
                <a:solidFill>
                  <a:srgbClr val="C0392B"/>
                </a:solidFill>
              </a:rPr>
              <a:t>• Peterson gives mutual exclusion on x86 only with the fence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25</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three give mutual exclusion and no deadlock — Peterson only with a fence on modern CPUs</a:t>
            </a:r>
          </a:p>
          <a:p>
            <a:pPr>
              <a:spcAft>
                <a:spcPts val="800"/>
              </a:spcAft>
            </a:pPr>
            <a:r>
              <a:rPr sz="2000"/>
              <a:t>• Peterson: software only and fair (bounded waiting), but two threads only</a:t>
            </a:r>
          </a:p>
          <a:p>
            <a:pPr>
              <a:spcAft>
                <a:spcPts val="800"/>
              </a:spcAft>
            </a:pPr>
            <a:r>
              <a:rPr sz="2000"/>
              <a:t>• Hardware LL/SC: one short loop, fast, but no fairness and not on x86</a:t>
            </a:r>
          </a:p>
          <a:p>
            <a:pPr>
              <a:spcAft>
                <a:spcPts val="800"/>
              </a:spcAft>
            </a:pPr>
            <a:r>
              <a:rPr sz="2000"/>
              <a:t>• MCS: a queue gives first-come, first-served for any number of threads; Linux builds on it</a:t>
            </a:r>
          </a:p>
          <a:p>
            <a:pPr>
              <a:spcAft>
                <a:spcPts val="800"/>
              </a:spcAft>
            </a:pPr>
            <a:r>
              <a:rPr sz="2000"/>
              <a:t>• Spinning on one CPU wastes time slices; sleeping locks (futex, pthread_mutex) avoid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26</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J. M. Mellor-Crummey, M. L. Scott, “Algorithms for Scalable Synchronization on Shared-Memory Multiprocessors”, ACM TOCS 9(1), 1991</a:t>
            </a:r>
          </a:p>
          <a:p>
            <a:pPr>
              <a:spcAft>
                <a:spcPts val="800"/>
              </a:spcAft>
            </a:pPr>
            <a:r>
              <a:rPr sz="1800"/>
              <a:t>• Linux kernel source: kernel/locking/qspinlock.c</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