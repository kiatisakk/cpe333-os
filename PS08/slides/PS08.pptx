
<file path=[Content_Types].xml><?xml version="1.0" encoding="utf-8"?>
<Types xmlns="http://schemas.openxmlformats.org/package/2006/content-types">
  <Default Extension="jpeg" ContentType="image/jpe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ngesInfos/changesInfo1.xml" ContentType="application/vnd.ms-powerpoint.changesinfo+xml"/>
  <Override PartName="/ppt/charts/chart1.xml" ContentType="application/vnd.openxmlformats-officedocument.drawingml.chart+xml"/>
  <Override PartName="/ppt/charts/chart2.xml" ContentType="application/vnd.openxmlformats-officedocument.drawingml.chart+xml"/>
  <Override PartName="/ppt/charts/chart3.xml" ContentType="application/vnd.openxmlformats-officedocument.drawingml.chart+xml"/>
  <Override PartName="/ppt/charts/chart4.xml" ContentType="application/vnd.openxmlformats-officedocument.drawingml.chart+xml"/>
  <Override PartName="/ppt/charts/chart5.xml" ContentType="application/vnd.openxmlformats-officedocument.drawingml.chart+xml"/>
  <Override PartName="/ppt/charts/chart6.xml" ContentType="application/vnd.openxmlformats-officedocument.drawingml.chart+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revisionInfo.xml" ContentType="application/vnd.ms-powerpoint.revisioninfo+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8"/>
  </p:notesMasterIdLst>
  <p:sldIdLst>
    <p:sldId id="256" r:id="rId7"/>
    <p:sldId id="257" r:id="rId6"/>
    <p:sldId id="258" r:id="rId5"/>
    <p:sldId id="259" r:id="rId4"/>
    <p:sldId id="260" r:id="rId3"/>
    <p:sldId id="261" r:id="rId2"/>
    <p:sldId id="262" r:id="rId15"/>
    <p:sldId id="263" r:id="rId16"/>
    <p:sldId id="264" r:id="rId17"/>
    <p:sldId id="265" r:id="rId18"/>
    <p:sldId id="266" r:id="rId19"/>
    <p:sldId id="267" r:id="rId20"/>
    <p:sldId id="268" r:id="rId21"/>
    <p:sldId id="269" r:id="rId22"/>
    <p:sldId id="270" r:id="rId23"/>
    <p:sldId id="271" r:id="rId24"/>
    <p:sldId id="272" r:id="rId25"/>
    <p:sldId id="273" r:id="rId26"/>
    <p:sldId id="274" r:id="rId27"/>
    <p:sldId id="275" r:id="rId28"/>
    <p:sldId id="276" r:id="rId29"/>
    <p:sldId id="277" r:id="rId30"/>
    <p:sldId id="278" r:id="rId31"/>
    <p:sldId id="279" r:id="rId32"/>
    <p:sldId id="280" r:id="rId33"/>
    <p:sldId id="281" r:id="rId34"/>
    <p:sldId id="282" r:id="rId35"/>
    <p:sldId id="283" r:id="rId36"/>
    <p:sldId id="284" r:id="rId37"/>
    <p:sldId id="285" r:id="rId38"/>
    <p:sldId id="286" r:id="rId39"/>
    <p:sldId id="287" r:id="rId40"/>
    <p:sldId id="288" r:id="rId41"/>
    <p:sldId id="289" r:id="rId42"/>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9372A635-EC99-9DD3-326D-7849E8192C2B}" v="3" dt="2026-09-30T07:21:06.815"/>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4997" autoAdjust="0"/>
    <p:restoredTop sz="94660"/>
  </p:normalViewPr>
  <p:slideViewPr>
    <p:cSldViewPr snapToGrid="0">
      <p:cViewPr varScale="1">
        <p:scale>
          <a:sx n="108" d="100"/>
          <a:sy n="108" d="100"/>
        </p:scale>
        <p:origin x="672" y="108"/>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6.xml"/><Relationship Id="rId3" Type="http://schemas.openxmlformats.org/officeDocument/2006/relationships/slide" Target="slides/slide5.xml"/><Relationship Id="rId4" Type="http://schemas.openxmlformats.org/officeDocument/2006/relationships/slide" Target="slides/slide4.xml"/><Relationship Id="rId5" Type="http://schemas.openxmlformats.org/officeDocument/2006/relationships/slide" Target="slides/slide3.xml"/><Relationship Id="rId6" Type="http://schemas.openxmlformats.org/officeDocument/2006/relationships/slide" Target="slides/slide2.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presProps" Target="presProps.xml"/><Relationship Id="rId10" Type="http://schemas.openxmlformats.org/officeDocument/2006/relationships/viewProps" Target="viewProps.xml"/><Relationship Id="rId11" Type="http://schemas.openxmlformats.org/officeDocument/2006/relationships/theme" Target="theme/theme1.xml"/><Relationship Id="rId12" Type="http://schemas.openxmlformats.org/officeDocument/2006/relationships/tableStyles" Target="tableStyles.xml"/><Relationship Id="rId13" Type="http://schemas.microsoft.com/office/2016/11/relationships/changesInfo" Target="changesInfos/changesInfo1.xml"/><Relationship Id="rId14" Type="http://schemas.microsoft.com/office/2015/10/relationships/revisionInfo" Target="revisionInfo.xml"/><Relationship Id="rId15" Type="http://schemas.openxmlformats.org/officeDocument/2006/relationships/slide" Target="slides/slide7.xml"/><Relationship Id="rId16" Type="http://schemas.openxmlformats.org/officeDocument/2006/relationships/slide" Target="slides/slide8.xml"/><Relationship Id="rId17" Type="http://schemas.openxmlformats.org/officeDocument/2006/relationships/slide" Target="slides/slide9.xml"/><Relationship Id="rId18" Type="http://schemas.openxmlformats.org/officeDocument/2006/relationships/slide" Target="slides/slide10.xml"/><Relationship Id="rId19" Type="http://schemas.openxmlformats.org/officeDocument/2006/relationships/slide" Target="slides/slide11.xml"/><Relationship Id="rId20" Type="http://schemas.openxmlformats.org/officeDocument/2006/relationships/slide" Target="slides/slide12.xml"/><Relationship Id="rId21" Type="http://schemas.openxmlformats.org/officeDocument/2006/relationships/slide" Target="slides/slide13.xml"/><Relationship Id="rId22" Type="http://schemas.openxmlformats.org/officeDocument/2006/relationships/slide" Target="slides/slide14.xml"/><Relationship Id="rId23" Type="http://schemas.openxmlformats.org/officeDocument/2006/relationships/slide" Target="slides/slide15.xml"/><Relationship Id="rId24" Type="http://schemas.openxmlformats.org/officeDocument/2006/relationships/slide" Target="slides/slide16.xml"/><Relationship Id="rId25" Type="http://schemas.openxmlformats.org/officeDocument/2006/relationships/slide" Target="slides/slide17.xml"/><Relationship Id="rId26" Type="http://schemas.openxmlformats.org/officeDocument/2006/relationships/slide" Target="slides/slide18.xml"/><Relationship Id="rId27" Type="http://schemas.openxmlformats.org/officeDocument/2006/relationships/slide" Target="slides/slide19.xml"/><Relationship Id="rId28" Type="http://schemas.openxmlformats.org/officeDocument/2006/relationships/slide" Target="slides/slide20.xml"/><Relationship Id="rId29" Type="http://schemas.openxmlformats.org/officeDocument/2006/relationships/slide" Target="slides/slide21.xml"/><Relationship Id="rId30" Type="http://schemas.openxmlformats.org/officeDocument/2006/relationships/slide" Target="slides/slide22.xml"/><Relationship Id="rId31" Type="http://schemas.openxmlformats.org/officeDocument/2006/relationships/slide" Target="slides/slide23.xml"/><Relationship Id="rId32" Type="http://schemas.openxmlformats.org/officeDocument/2006/relationships/slide" Target="slides/slide24.xml"/><Relationship Id="rId33" Type="http://schemas.openxmlformats.org/officeDocument/2006/relationships/slide" Target="slides/slide25.xml"/><Relationship Id="rId34" Type="http://schemas.openxmlformats.org/officeDocument/2006/relationships/slide" Target="slides/slide26.xml"/><Relationship Id="rId35" Type="http://schemas.openxmlformats.org/officeDocument/2006/relationships/slide" Target="slides/slide27.xml"/><Relationship Id="rId36" Type="http://schemas.openxmlformats.org/officeDocument/2006/relationships/slide" Target="slides/slide28.xml"/><Relationship Id="rId37" Type="http://schemas.openxmlformats.org/officeDocument/2006/relationships/slide" Target="slides/slide29.xml"/><Relationship Id="rId38" Type="http://schemas.openxmlformats.org/officeDocument/2006/relationships/slide" Target="slides/slide30.xml"/><Relationship Id="rId39" Type="http://schemas.openxmlformats.org/officeDocument/2006/relationships/slide" Target="slides/slide31.xml"/><Relationship Id="rId40" Type="http://schemas.openxmlformats.org/officeDocument/2006/relationships/slide" Target="slides/slide32.xml"/><Relationship Id="rId41" Type="http://schemas.openxmlformats.org/officeDocument/2006/relationships/slide" Target="slides/slide33.xml"/><Relationship Id="rId42" Type="http://schemas.openxmlformats.org/officeDocument/2006/relationships/slide" Target="slides/slide34.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omar yusoh" userId="S::omar.yusoh@kmutt.ac.th::c1e1226a-a18f-45fd-83d8-e1c46918aafe" providerId="AD" clId="Web-{9372A635-EC99-9DD3-326D-7849E8192C2B}"/>
    <pc:docChg chg="modSld">
      <pc:chgData name="omar yusoh" userId="S::omar.yusoh@kmutt.ac.th::c1e1226a-a18f-45fd-83d8-e1c46918aafe" providerId="AD" clId="Web-{9372A635-EC99-9DD3-326D-7849E8192C2B}" dt="2026-09-30T07:21:06.815" v="2" actId="20577"/>
      <pc:docMkLst>
        <pc:docMk/>
      </pc:docMkLst>
      <pc:sldChg chg="modSp">
        <pc:chgData name="omar yusoh" userId="S::omar.yusoh@kmutt.ac.th::c1e1226a-a18f-45fd-83d8-e1c46918aafe" providerId="AD" clId="Web-{9372A635-EC99-9DD3-326D-7849E8192C2B}" dt="2026-09-30T07:21:06.815" v="2" actId="20577"/>
        <pc:sldMkLst>
          <pc:docMk/>
          <pc:sldMk cId="4270360253" sldId="262"/>
        </pc:sldMkLst>
        <pc:spChg chg="mod">
          <ac:chgData name="omar yusoh" userId="S::omar.yusoh@kmutt.ac.th::c1e1226a-a18f-45fd-83d8-e1c46918aafe" providerId="AD" clId="Web-{9372A635-EC99-9DD3-326D-7849E8192C2B}" dt="2026-09-30T07:21:06.815" v="2" actId="20577"/>
          <ac:spMkLst>
            <pc:docMk/>
            <pc:sldMk cId="4270360253" sldId="262"/>
            <ac:spMk id="3" creationId="{00000000-0000-0000-0000-000000000000}"/>
          </ac:spMkLst>
        </pc:spChg>
      </pc:sldChg>
    </pc:docChg>
  </pc:docChgLst>
</pc:chgInfo>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Sheet2.xlsx"/></Relationships>
</file>

<file path=ppt/charts/_rels/chart3.xml.rels><?xml version='1.0' encoding='UTF-8' standalone='yes'?>
<Relationships xmlns="http://schemas.openxmlformats.org/package/2006/relationships"><Relationship Id="rId1" Type="http://schemas.openxmlformats.org/officeDocument/2006/relationships/package" Target="../embeddings/Microsoft_Excel_Sheet3.xlsx"/></Relationships>
</file>

<file path=ppt/charts/_rels/chart4.xml.rels><?xml version='1.0' encoding='UTF-8' standalone='yes'?>
<Relationships xmlns="http://schemas.openxmlformats.org/package/2006/relationships"><Relationship Id="rId1" Type="http://schemas.openxmlformats.org/officeDocument/2006/relationships/package" Target="../embeddings/Microsoft_Excel_Sheet4.xlsx"/></Relationships>
</file>

<file path=ppt/charts/_rels/chart5.xml.rels><?xml version='1.0' encoding='UTF-8' standalone='yes'?>
<Relationships xmlns="http://schemas.openxmlformats.org/package/2006/relationships"><Relationship Id="rId1" Type="http://schemas.openxmlformats.org/officeDocument/2006/relationships/package" Target="../embeddings/Microsoft_Excel_Sheet5.xlsx"/></Relationships>
</file>

<file path=ppt/charts/_rels/chart6.xml.rels><?xml version='1.0' encoding='UTF-8' standalone='yes'?>
<Relationships xmlns="http://schemas.openxmlformats.org/package/2006/relationships"><Relationship Id="rId1" Type="http://schemas.openxmlformats.org/officeDocument/2006/relationships/package" Target="../embeddings/Microsoft_Excel_Sheet6.xlsx"/></Relationships>
</file>

<file path=ppt/charts/chart1.xml><?xml version="1.0" encoding="utf-8"?>
<c:chartSpace xmlns:c="http://schemas.openxmlformats.org/drawingml/2006/chart" xmlns:a="http://schemas.openxmlformats.org/drawingml/2006/main" xmlns:r="http://schemas.openxmlformats.org/officeDocument/2006/relationships">
  <c:date1904 val="0"/>
  <c:chart>
    <c:autoTitleDeleted val="0"/>
    <c:plotArea>
      <c:barChart>
        <c:barDir val="col"/>
        <c:grouping val="clustered"/>
        <c:ser>
          <c:idx val="0"/>
          <c:order val="0"/>
          <c:tx>
            <c:strRef>
              <c:f>Sheet1!$B$1</c:f>
              <c:strCache>
                <c:ptCount val="1"/>
                <c:pt idx="0">
                  <c:v>all 8 CPUs</c:v>
                </c:pt>
              </c:strCache>
            </c:strRef>
          </c:tx>
          <c:cat>
            <c:strRef>
              <c:f>Sheet1!$A$2:$A$3</c:f>
              <c:strCache>
                <c:ptCount val="2"/>
                <c:pt idx="0">
                  <c:v>1 thread</c:v>
                </c:pt>
                <c:pt idx="1">
                  <c:v>2 threads</c:v>
                </c:pt>
              </c:strCache>
            </c:strRef>
          </c:cat>
          <c:val>
            <c:numRef>
              <c:f>Sheet1!$B$2:$B$3</c:f>
              <c:numCache>
                <c:formatCode>General</c:formatCode>
                <c:ptCount val="2"/>
                <c:pt idx="0">
                  <c:v>35.6403415</c:v>
                </c:pt>
                <c:pt idx="1">
                  <c:v>10.551306</c:v>
                </c:pt>
              </c:numCache>
            </c:numRef>
          </c:val>
        </c:ser>
        <c:ser>
          <c:idx val="1"/>
          <c:order val="1"/>
          <c:tx>
            <c:strRef>
              <c:f>Sheet1!$C$1</c:f>
              <c:strCache>
                <c:ptCount val="1"/>
                <c:pt idx="0">
                  <c:v>one CPU</c:v>
                </c:pt>
              </c:strCache>
            </c:strRef>
          </c:tx>
          <c:cat>
            <c:strRef>
              <c:f>Sheet1!$A$2:$A$3</c:f>
              <c:strCache>
                <c:ptCount val="2"/>
                <c:pt idx="0">
                  <c:v>1 thread</c:v>
                </c:pt>
                <c:pt idx="1">
                  <c:v>2 threads</c:v>
                </c:pt>
              </c:strCache>
            </c:strRef>
          </c:cat>
          <c:val>
            <c:numRef>
              <c:f>Sheet1!$C$2:$C$3</c:f>
              <c:numCache>
                <c:formatCode>General</c:formatCode>
                <c:ptCount val="2"/>
                <c:pt idx="0">
                  <c:v>36.454556</c:v>
                </c:pt>
                <c:pt idx="1">
                  <c:v>0.1070795</c:v>
                </c:pt>
              </c:numCache>
            </c:numRef>
          </c:val>
        </c:ser>
        <c:dLbls>
          <c:numFmt formatCode="[&lt;1]0.00;0.0" sourceLinked="0"/>
          <c:txPr>
            <a:bodyPr/>
            <a:lstStyle/>
            <a:p>
              <a:pPr>
                <a:defRPr sz="1200"/>
              </a:pPr>
            </a:p>
          </c:txPr>
          <c:dLblPos val="outEnd"/>
          <c:showLegendKey val="0"/>
          <c:showVal val="1"/>
          <c:showCatName val="0"/>
          <c:showSerName val="0"/>
          <c:showPercent val="0"/>
          <c:showBubbleSize val="0"/>
          <c:showLeaderLines val="1"/>
        </c:dLbls>
        <c:axId val="-2068027336"/>
        <c:axId val="-2113994440"/>
      </c:barChart>
      <c:catAx>
        <c:axId val="-2068027336"/>
        <c:scaling>
          <c:orientation val="minMax"/>
        </c:scaling>
        <c:delete val="0"/>
        <c:axPos val="b"/>
        <c:title>
          <c:tx>
            <c:rich>
              <a:bodyPr/>
              <a:lstStyle/>
              <a:p>
                <a:r>
                  <a:rPr sz="1200"/>
                  <a:t>threads</a:t>
                </a:r>
              </a:p>
            </c:rich>
          </c:tx>
          <c:layout/>
          <c:overlay val="0"/>
        </c:title>
        <c:majorTickMark val="out"/>
        <c:minorTickMark val="none"/>
        <c:tickLblPos val="nextTo"/>
        <c:crossAx val="-2113994440"/>
        <c:crosses val="min"/>
        <c:auto val="1"/>
        <c:lblAlgn val="ctr"/>
        <c:lblOffset val="100"/>
        <c:noMultiLvlLbl val="0"/>
      </c:catAx>
      <c:valAx>
        <c:axId val="-2113994440"/>
        <c:scaling>
          <c:logBase val="10"/>
          <c:max val="100.0"/>
          <c:min val="0.1"/>
        </c:scaling>
        <c:delete val="0"/>
        <c:axPos val="l"/>
        <c:majorGridlines>
          <c:spPr>
            <a:ln>
              <a:solidFill>
                <a:srgbClr val="D0D0D0"/>
              </a:solidFill>
            </a:ln>
          </c:spPr>
        </c:majorGridlines>
        <c:title>
          <c:tx>
            <c:rich>
              <a:bodyPr/>
              <a:lstStyle/>
              <a:p>
                <a:r>
                  <a:rPr sz="1200"/>
                  <a:t>million acquisitions / s (log)</a:t>
                </a:r>
              </a:p>
            </c:rich>
          </c:tx>
          <c:layout/>
          <c:overlay val="0"/>
        </c:title>
        <c:numFmt formatCode="General" sourceLinked="0"/>
        <c:majorTickMark val="out"/>
        <c:minorTickMark val="none"/>
        <c:tickLblPos val="nextTo"/>
        <c:crossAx val="-2068027336"/>
        <c:crosses val="autoZero"/>
      </c:valAx>
    </c:plotArea>
    <c:legend>
      <c:legendPos val="b"/>
      <c:overlay val="0"/>
    </c:legend>
    <c:dispBlanksAs val="gap"/>
  </c:chart>
  <c:txPr>
    <a:bodyPr/>
    <a:lstStyle/>
    <a:p>
      <a:pPr>
        <a:defRPr sz="1200"/>
      </a:pPr>
      <a:endParaRPr lang="en-US"/>
    </a:p>
  </c:tx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chart>
    <c:autoTitleDeleted val="0"/>
    <c:plotArea>
      <c:lineChart>
        <c:grouping val="standard"/>
        <c:varyColors val="0"/>
        <c:ser>
          <c:idx val="0"/>
          <c:order val="0"/>
          <c:tx>
            <c:strRef>
              <c:f>Sheet1!$B$1</c:f>
              <c:strCache>
                <c:ptCount val="1"/>
                <c:pt idx="0">
                  <c:v>CAS proxy, all 8 CPUs</c:v>
                </c:pt>
              </c:strCache>
            </c:strRef>
          </c:tx>
          <c:cat>
            <c:strRef>
              <c:f>Sheet1!$A$2:$A$5</c:f>
              <c:strCache>
                <c:ptCount val="4"/>
                <c:pt idx="0">
                  <c:v>1</c:v>
                </c:pt>
                <c:pt idx="1">
                  <c:v>2</c:v>
                </c:pt>
                <c:pt idx="2">
                  <c:v>4</c:v>
                </c:pt>
                <c:pt idx="3">
                  <c:v>8</c:v>
                </c:pt>
              </c:strCache>
            </c:strRef>
          </c:cat>
          <c:val>
            <c:numRef>
              <c:f>Sheet1!$B$2:$B$5</c:f>
              <c:numCache>
                <c:formatCode>General</c:formatCode>
                <c:ptCount val="4"/>
                <c:pt idx="0">
                  <c:v>108.854251</c:v>
                </c:pt>
                <c:pt idx="1">
                  <c:v>16.4969225</c:v>
                </c:pt>
                <c:pt idx="2">
                  <c:v>8.2047095</c:v>
                </c:pt>
                <c:pt idx="3">
                  <c:v>5.181785</c:v>
                </c:pt>
              </c:numCache>
            </c:numRef>
          </c:val>
          <c:smooth val="0"/>
        </c:ser>
        <c:ser>
          <c:idx val="1"/>
          <c:order val="1"/>
          <c:tx>
            <c:strRef>
              <c:f>Sheet1!$C$1</c:f>
              <c:strCache>
                <c:ptCount val="1"/>
                <c:pt idx="0">
                  <c:v>CAS proxy, one CPU</c:v>
                </c:pt>
              </c:strCache>
            </c:strRef>
          </c:tx>
          <c:cat>
            <c:strRef>
              <c:f>Sheet1!$A$2:$A$5</c:f>
              <c:strCache>
                <c:ptCount val="4"/>
                <c:pt idx="0">
                  <c:v>1</c:v>
                </c:pt>
                <c:pt idx="1">
                  <c:v>2</c:v>
                </c:pt>
                <c:pt idx="2">
                  <c:v>4</c:v>
                </c:pt>
                <c:pt idx="3">
                  <c:v>8</c:v>
                </c:pt>
              </c:strCache>
            </c:strRef>
          </c:cat>
          <c:val>
            <c:numRef>
              <c:f>Sheet1!$C$2:$C$5</c:f>
              <c:numCache>
                <c:formatCode>General</c:formatCode>
                <c:ptCount val="4"/>
                <c:pt idx="0">
                  <c:v>99.6771525</c:v>
                </c:pt>
                <c:pt idx="1">
                  <c:v>54.818527</c:v>
                </c:pt>
                <c:pt idx="2">
                  <c:v>27.493461</c:v>
                </c:pt>
                <c:pt idx="3">
                  <c:v>12.3973035</c:v>
                </c:pt>
              </c:numCache>
            </c:numRef>
          </c:val>
          <c:smooth val="0"/>
        </c:ser>
        <c:ser>
          <c:idx val="2"/>
          <c:order val="2"/>
          <c:tx>
            <c:strRef>
              <c:f>Sheet1!$D$1</c:f>
              <c:strCache>
                <c:ptCount val="1"/>
                <c:pt idx="0">
                  <c:v>TAS, all 8 CPUs</c:v>
                </c:pt>
              </c:strCache>
            </c:strRef>
          </c:tx>
          <c:cat>
            <c:strRef>
              <c:f>Sheet1!$A$2:$A$5</c:f>
              <c:strCache>
                <c:ptCount val="4"/>
                <c:pt idx="0">
                  <c:v>1</c:v>
                </c:pt>
                <c:pt idx="1">
                  <c:v>2</c:v>
                </c:pt>
                <c:pt idx="2">
                  <c:v>4</c:v>
                </c:pt>
                <c:pt idx="3">
                  <c:v>8</c:v>
                </c:pt>
              </c:strCache>
            </c:strRef>
          </c:cat>
          <c:val>
            <c:numRef>
              <c:f>Sheet1!$D$2:$D$5</c:f>
              <c:numCache>
                <c:formatCode>General</c:formatCode>
                <c:ptCount val="4"/>
                <c:pt idx="0">
                  <c:v>98.2982205</c:v>
                </c:pt>
                <c:pt idx="1">
                  <c:v>20.2368785</c:v>
                </c:pt>
                <c:pt idx="2">
                  <c:v>8.556055</c:v>
                </c:pt>
                <c:pt idx="3">
                  <c:v>4.9900085</c:v>
                </c:pt>
              </c:numCache>
            </c:numRef>
          </c:val>
          <c:smooth val="0"/>
        </c:ser>
        <c:ser>
          <c:idx val="3"/>
          <c:order val="3"/>
          <c:tx>
            <c:strRef>
              <c:f>Sheet1!$E$1</c:f>
              <c:strCache>
                <c:ptCount val="1"/>
                <c:pt idx="0">
                  <c:v>TAS, one CPU</c:v>
                </c:pt>
              </c:strCache>
            </c:strRef>
          </c:tx>
          <c:cat>
            <c:strRef>
              <c:f>Sheet1!$A$2:$A$5</c:f>
              <c:strCache>
                <c:ptCount val="4"/>
                <c:pt idx="0">
                  <c:v>1</c:v>
                </c:pt>
                <c:pt idx="1">
                  <c:v>2</c:v>
                </c:pt>
                <c:pt idx="2">
                  <c:v>4</c:v>
                </c:pt>
                <c:pt idx="3">
                  <c:v>8</c:v>
                </c:pt>
              </c:strCache>
            </c:strRef>
          </c:cat>
          <c:val>
            <c:numRef>
              <c:f>Sheet1!$E$2:$E$5</c:f>
              <c:numCache>
                <c:formatCode>General</c:formatCode>
                <c:ptCount val="4"/>
                <c:pt idx="0">
                  <c:v>115.011963</c:v>
                </c:pt>
                <c:pt idx="1">
                  <c:v>57.8515265</c:v>
                </c:pt>
                <c:pt idx="2">
                  <c:v>28.9509915</c:v>
                </c:pt>
                <c:pt idx="3">
                  <c:v>13.7233775</c:v>
                </c:pt>
              </c:numCache>
            </c:numRef>
          </c:val>
          <c:smooth val="0"/>
        </c:ser>
        <c:marker val="1"/>
        <c:smooth val="0"/>
        <c:axId val="2118791784"/>
        <c:axId val="2140495176"/>
      </c:lineChart>
      <c:catAx>
        <c:axId val="2118791784"/>
        <c:scaling>
          <c:orientation val="minMax"/>
        </c:scaling>
        <c:delete val="0"/>
        <c:axPos val="b"/>
        <c:title>
          <c:tx>
            <c:rich>
              <a:bodyPr/>
              <a:lstStyle/>
              <a:p>
                <a:r>
                  <a:rPr sz="1200"/>
                  <a:t>threads</a:t>
                </a:r>
              </a:p>
            </c:rich>
          </c:tx>
          <c:layout/>
          <c:overlay val="0"/>
        </c:title>
        <c:majorTickMark val="out"/>
        <c:minorTickMark val="none"/>
        <c:tickLblPos val="nextTo"/>
        <c:crossAx val="2140495176"/>
        <c:crosses val="min"/>
        <c:auto val="1"/>
        <c:lblAlgn val="ctr"/>
        <c:lblOffset val="100"/>
        <c:noMultiLvlLbl val="0"/>
      </c:catAx>
      <c:valAx>
        <c:axId val="2140495176"/>
        <c:scaling>
          <c:logBase val="10"/>
          <c:max val="1000.0"/>
          <c:min val="1.0"/>
        </c:scaling>
        <c:delete val="0"/>
        <c:axPos val="l"/>
        <c:majorGridlines>
          <c:spPr>
            <a:ln>
              <a:solidFill>
                <a:srgbClr val="D0D0D0"/>
              </a:solidFill>
            </a:ln>
          </c:spPr>
        </c:majorGridlines>
        <c:title>
          <c:tx>
            <c:rich>
              <a:bodyPr/>
              <a:lstStyle/>
              <a:p>
                <a:r>
                  <a:rPr sz="1200"/>
                  <a:t>million acquisitions / s (log)</a:t>
                </a:r>
              </a:p>
            </c:rich>
          </c:tx>
          <c:layout/>
          <c:overlay val="0"/>
        </c:title>
        <c:numFmt formatCode="General" sourceLinked="0"/>
        <c:majorTickMark val="out"/>
        <c:minorTickMark val="none"/>
        <c:tickLblPos val="nextTo"/>
        <c:crossAx val="2118791784"/>
        <c:crosses val="autoZero"/>
      </c:valAx>
    </c:plotArea>
    <c:legend>
      <c:legendPos val="b"/>
      <c:layout/>
      <c:overlay val="0"/>
    </c:legend>
    <c:plotVisOnly val="1"/>
    <c:dispBlanksAs val="gap"/>
    <c:showDLblsOverMax val="0"/>
  </c:chart>
  <c:txPr>
    <a:bodyPr/>
    <a:lstStyle/>
    <a:p>
      <a:pPr>
        <a:defRPr sz="1200"/>
      </a:pPr>
      <a:endParaRPr lang="en-US"/>
    </a:p>
  </c:tx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chart>
    <c:autoTitleDeleted val="0"/>
    <c:plotArea>
      <c:lineChart>
        <c:grouping val="standard"/>
        <c:varyColors val="0"/>
        <c:ser>
          <c:idx val="0"/>
          <c:order val="0"/>
          <c:tx>
            <c:strRef>
              <c:f>Sheet1!$B$1</c:f>
              <c:strCache>
                <c:ptCount val="1"/>
                <c:pt idx="0">
                  <c:v>MCS, all 8 CPUs</c:v>
                </c:pt>
              </c:strCache>
            </c:strRef>
          </c:tx>
          <c:cat>
            <c:strRef>
              <c:f>Sheet1!$A$2:$A$5</c:f>
              <c:strCache>
                <c:ptCount val="4"/>
                <c:pt idx="0">
                  <c:v>1</c:v>
                </c:pt>
                <c:pt idx="1">
                  <c:v>2</c:v>
                </c:pt>
                <c:pt idx="2">
                  <c:v>4</c:v>
                </c:pt>
                <c:pt idx="3">
                  <c:v>8</c:v>
                </c:pt>
              </c:strCache>
            </c:strRef>
          </c:cat>
          <c:val>
            <c:numRef>
              <c:f>Sheet1!$B$2:$B$5</c:f>
              <c:numCache>
                <c:formatCode>General</c:formatCode>
                <c:ptCount val="4"/>
                <c:pt idx="0">
                  <c:v>42.883805</c:v>
                </c:pt>
                <c:pt idx="1">
                  <c:v>9.4735405</c:v>
                </c:pt>
                <c:pt idx="2">
                  <c:v>7.5326385</c:v>
                </c:pt>
                <c:pt idx="3">
                  <c:v>0.3086335</c:v>
                </c:pt>
              </c:numCache>
            </c:numRef>
          </c:val>
          <c:smooth val="0"/>
        </c:ser>
        <c:ser>
          <c:idx val="1"/>
          <c:order val="1"/>
          <c:tx>
            <c:strRef>
              <c:f>Sheet1!$C$1</c:f>
              <c:strCache>
                <c:ptCount val="1"/>
                <c:pt idx="0">
                  <c:v>MCS, one CPU</c:v>
                </c:pt>
              </c:strCache>
            </c:strRef>
          </c:tx>
          <c:cat>
            <c:strRef>
              <c:f>Sheet1!$A$2:$A$5</c:f>
              <c:strCache>
                <c:ptCount val="4"/>
                <c:pt idx="0">
                  <c:v>1</c:v>
                </c:pt>
                <c:pt idx="1">
                  <c:v>2</c:v>
                </c:pt>
                <c:pt idx="2">
                  <c:v>4</c:v>
                </c:pt>
                <c:pt idx="3">
                  <c:v>8</c:v>
                </c:pt>
              </c:strCache>
            </c:strRef>
          </c:cat>
          <c:val>
            <c:numRef>
              <c:f>Sheet1!$C$2:$C$5</c:f>
              <c:numCache>
                <c:formatCode>General</c:formatCode>
                <c:ptCount val="4"/>
                <c:pt idx="0">
                  <c:v>48.2757965</c:v>
                </c:pt>
                <c:pt idx="1">
                  <c:v>0.2974945</c:v>
                </c:pt>
                <c:pt idx="2">
                  <c:v>0.2464195</c:v>
                </c:pt>
                <c:pt idx="3">
                  <c:v>0.2619165</c:v>
                </c:pt>
              </c:numCache>
            </c:numRef>
          </c:val>
          <c:smooth val="0"/>
        </c:ser>
        <c:ser>
          <c:idx val="2"/>
          <c:order val="2"/>
          <c:tx>
            <c:strRef>
              <c:f>Sheet1!$D$1</c:f>
              <c:strCache>
                <c:ptCount val="1"/>
                <c:pt idx="0">
                  <c:v>TAS, all 8 CPUs</c:v>
                </c:pt>
              </c:strCache>
            </c:strRef>
          </c:tx>
          <c:cat>
            <c:strRef>
              <c:f>Sheet1!$A$2:$A$5</c:f>
              <c:strCache>
                <c:ptCount val="4"/>
                <c:pt idx="0">
                  <c:v>1</c:v>
                </c:pt>
                <c:pt idx="1">
                  <c:v>2</c:v>
                </c:pt>
                <c:pt idx="2">
                  <c:v>4</c:v>
                </c:pt>
                <c:pt idx="3">
                  <c:v>8</c:v>
                </c:pt>
              </c:strCache>
            </c:strRef>
          </c:cat>
          <c:val>
            <c:numRef>
              <c:f>Sheet1!$D$2:$D$5</c:f>
              <c:numCache>
                <c:formatCode>General</c:formatCode>
                <c:ptCount val="4"/>
                <c:pt idx="0">
                  <c:v>98.2982205</c:v>
                </c:pt>
                <c:pt idx="1">
                  <c:v>20.2368785</c:v>
                </c:pt>
                <c:pt idx="2">
                  <c:v>8.556055</c:v>
                </c:pt>
                <c:pt idx="3">
                  <c:v>4.9900085</c:v>
                </c:pt>
              </c:numCache>
            </c:numRef>
          </c:val>
          <c:smooth val="0"/>
        </c:ser>
        <c:ser>
          <c:idx val="3"/>
          <c:order val="3"/>
          <c:tx>
            <c:strRef>
              <c:f>Sheet1!$E$1</c:f>
              <c:strCache>
                <c:ptCount val="1"/>
                <c:pt idx="0">
                  <c:v>TAS, one CPU</c:v>
                </c:pt>
              </c:strCache>
            </c:strRef>
          </c:tx>
          <c:cat>
            <c:strRef>
              <c:f>Sheet1!$A$2:$A$5</c:f>
              <c:strCache>
                <c:ptCount val="4"/>
                <c:pt idx="0">
                  <c:v>1</c:v>
                </c:pt>
                <c:pt idx="1">
                  <c:v>2</c:v>
                </c:pt>
                <c:pt idx="2">
                  <c:v>4</c:v>
                </c:pt>
                <c:pt idx="3">
                  <c:v>8</c:v>
                </c:pt>
              </c:strCache>
            </c:strRef>
          </c:cat>
          <c:val>
            <c:numRef>
              <c:f>Sheet1!$E$2:$E$5</c:f>
              <c:numCache>
                <c:formatCode>General</c:formatCode>
                <c:ptCount val="4"/>
                <c:pt idx="0">
                  <c:v>115.011963</c:v>
                </c:pt>
                <c:pt idx="1">
                  <c:v>57.8515265</c:v>
                </c:pt>
                <c:pt idx="2">
                  <c:v>28.9509915</c:v>
                </c:pt>
                <c:pt idx="3">
                  <c:v>13.7233775</c:v>
                </c:pt>
              </c:numCache>
            </c:numRef>
          </c:val>
          <c:smooth val="0"/>
        </c:ser>
        <c:marker val="1"/>
        <c:smooth val="0"/>
        <c:axId val="2118791784"/>
        <c:axId val="2140495176"/>
      </c:lineChart>
      <c:catAx>
        <c:axId val="2118791784"/>
        <c:scaling>
          <c:orientation val="minMax"/>
        </c:scaling>
        <c:delete val="0"/>
        <c:axPos val="b"/>
        <c:title>
          <c:tx>
            <c:rich>
              <a:bodyPr/>
              <a:lstStyle/>
              <a:p>
                <a:r>
                  <a:rPr sz="1200"/>
                  <a:t>threads</a:t>
                </a:r>
              </a:p>
            </c:rich>
          </c:tx>
          <c:layout/>
          <c:overlay val="0"/>
        </c:title>
        <c:majorTickMark val="out"/>
        <c:minorTickMark val="none"/>
        <c:tickLblPos val="nextTo"/>
        <c:crossAx val="2140495176"/>
        <c:crosses val="min"/>
        <c:auto val="1"/>
        <c:lblAlgn val="ctr"/>
        <c:lblOffset val="100"/>
        <c:noMultiLvlLbl val="0"/>
      </c:catAx>
      <c:valAx>
        <c:axId val="2140495176"/>
        <c:scaling>
          <c:logBase val="10"/>
          <c:max val="1000.0"/>
          <c:min val="0.1"/>
        </c:scaling>
        <c:delete val="0"/>
        <c:axPos val="l"/>
        <c:majorGridlines>
          <c:spPr>
            <a:ln>
              <a:solidFill>
                <a:srgbClr val="D0D0D0"/>
              </a:solidFill>
            </a:ln>
          </c:spPr>
        </c:majorGridlines>
        <c:title>
          <c:tx>
            <c:rich>
              <a:bodyPr/>
              <a:lstStyle/>
              <a:p>
                <a:r>
                  <a:rPr sz="1200"/>
                  <a:t>million acquisitions / s (log)</a:t>
                </a:r>
              </a:p>
            </c:rich>
          </c:tx>
          <c:layout/>
          <c:overlay val="0"/>
        </c:title>
        <c:numFmt formatCode="General" sourceLinked="0"/>
        <c:majorTickMark val="out"/>
        <c:minorTickMark val="none"/>
        <c:tickLblPos val="nextTo"/>
        <c:crossAx val="2118791784"/>
        <c:crosses val="autoZero"/>
      </c:valAx>
    </c:plotArea>
    <c:legend>
      <c:legendPos val="b"/>
      <c:layout/>
      <c:overlay val="0"/>
    </c:legend>
    <c:plotVisOnly val="1"/>
    <c:dispBlanksAs val="gap"/>
    <c:showDLblsOverMax val="0"/>
  </c:chart>
  <c:txPr>
    <a:bodyPr/>
    <a:lstStyle/>
    <a:p>
      <a:pPr>
        <a:defRPr sz="1200"/>
      </a:pPr>
      <a:endParaRPr lang="en-US"/>
    </a:p>
  </c:tx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chart>
    <c:autoTitleDeleted val="0"/>
    <c:plotArea>
      <c:lineChart>
        <c:grouping val="standard"/>
        <c:varyColors val="0"/>
        <c:ser>
          <c:idx val="0"/>
          <c:order val="0"/>
          <c:tx>
            <c:strRef>
              <c:f>Sheet1!$B$1</c:f>
              <c:strCache>
                <c:ptCount val="1"/>
                <c:pt idx="0">
                  <c:v>Peterson</c:v>
                </c:pt>
              </c:strCache>
            </c:strRef>
          </c:tx>
          <c:cat>
            <c:strRef>
              <c:f>Sheet1!$A$2:$A$5</c:f>
              <c:strCache>
                <c:ptCount val="4"/>
                <c:pt idx="0">
                  <c:v>1</c:v>
                </c:pt>
                <c:pt idx="1">
                  <c:v>2</c:v>
                </c:pt>
                <c:pt idx="2">
                  <c:v>4</c:v>
                </c:pt>
                <c:pt idx="3">
                  <c:v>8</c:v>
                </c:pt>
              </c:strCache>
            </c:strRef>
          </c:cat>
          <c:val>
            <c:numRef>
              <c:f>Sheet1!$B$2:$B$5</c:f>
              <c:numCache>
                <c:formatCode>General</c:formatCode>
                <c:ptCount val="4"/>
                <c:pt idx="0">
                  <c:v>35.6403415</c:v>
                </c:pt>
                <c:pt idx="1">
                  <c:v>10.551306</c:v>
                </c:pt>
              </c:numCache>
            </c:numRef>
          </c:val>
          <c:smooth val="0"/>
        </c:ser>
        <c:ser>
          <c:idx val="1"/>
          <c:order val="1"/>
          <c:tx>
            <c:strRef>
              <c:f>Sheet1!$C$1</c:f>
              <c:strCache>
                <c:ptCount val="1"/>
                <c:pt idx="0">
                  <c:v>CAS spin lock (x86 proxy for LL/SC)</c:v>
                </c:pt>
              </c:strCache>
            </c:strRef>
          </c:tx>
          <c:cat>
            <c:strRef>
              <c:f>Sheet1!$A$2:$A$5</c:f>
              <c:strCache>
                <c:ptCount val="4"/>
                <c:pt idx="0">
                  <c:v>1</c:v>
                </c:pt>
                <c:pt idx="1">
                  <c:v>2</c:v>
                </c:pt>
                <c:pt idx="2">
                  <c:v>4</c:v>
                </c:pt>
                <c:pt idx="3">
                  <c:v>8</c:v>
                </c:pt>
              </c:strCache>
            </c:strRef>
          </c:cat>
          <c:val>
            <c:numRef>
              <c:f>Sheet1!$C$2:$C$5</c:f>
              <c:numCache>
                <c:formatCode>General</c:formatCode>
                <c:ptCount val="4"/>
                <c:pt idx="0">
                  <c:v>108.854251</c:v>
                </c:pt>
                <c:pt idx="1">
                  <c:v>16.4969225</c:v>
                </c:pt>
                <c:pt idx="2">
                  <c:v>8.2047095</c:v>
                </c:pt>
                <c:pt idx="3">
                  <c:v>5.181785</c:v>
                </c:pt>
              </c:numCache>
            </c:numRef>
          </c:val>
          <c:smooth val="0"/>
        </c:ser>
        <c:ser>
          <c:idx val="2"/>
          <c:order val="2"/>
          <c:tx>
            <c:strRef>
              <c:f>Sheet1!$D$1</c:f>
              <c:strCache>
                <c:ptCount val="1"/>
                <c:pt idx="0">
                  <c:v>MCS</c:v>
                </c:pt>
              </c:strCache>
            </c:strRef>
          </c:tx>
          <c:cat>
            <c:strRef>
              <c:f>Sheet1!$A$2:$A$5</c:f>
              <c:strCache>
                <c:ptCount val="4"/>
                <c:pt idx="0">
                  <c:v>1</c:v>
                </c:pt>
                <c:pt idx="1">
                  <c:v>2</c:v>
                </c:pt>
                <c:pt idx="2">
                  <c:v>4</c:v>
                </c:pt>
                <c:pt idx="3">
                  <c:v>8</c:v>
                </c:pt>
              </c:strCache>
            </c:strRef>
          </c:cat>
          <c:val>
            <c:numRef>
              <c:f>Sheet1!$D$2:$D$5</c:f>
              <c:numCache>
                <c:formatCode>General</c:formatCode>
                <c:ptCount val="4"/>
                <c:pt idx="0">
                  <c:v>42.883805</c:v>
                </c:pt>
                <c:pt idx="1">
                  <c:v>9.4735405</c:v>
                </c:pt>
                <c:pt idx="2">
                  <c:v>7.5326385</c:v>
                </c:pt>
                <c:pt idx="3">
                  <c:v>0.3086335</c:v>
                </c:pt>
              </c:numCache>
            </c:numRef>
          </c:val>
          <c:smooth val="0"/>
        </c:ser>
        <c:ser>
          <c:idx val="3"/>
          <c:order val="3"/>
          <c:tx>
            <c:strRef>
              <c:f>Sheet1!$E$1</c:f>
              <c:strCache>
                <c:ptCount val="1"/>
                <c:pt idx="0">
                  <c:v>TAS (lecture)</c:v>
                </c:pt>
              </c:strCache>
            </c:strRef>
          </c:tx>
          <c:cat>
            <c:strRef>
              <c:f>Sheet1!$A$2:$A$5</c:f>
              <c:strCache>
                <c:ptCount val="4"/>
                <c:pt idx="0">
                  <c:v>1</c:v>
                </c:pt>
                <c:pt idx="1">
                  <c:v>2</c:v>
                </c:pt>
                <c:pt idx="2">
                  <c:v>4</c:v>
                </c:pt>
                <c:pt idx="3">
                  <c:v>8</c:v>
                </c:pt>
              </c:strCache>
            </c:strRef>
          </c:cat>
          <c:val>
            <c:numRef>
              <c:f>Sheet1!$E$2:$E$5</c:f>
              <c:numCache>
                <c:formatCode>General</c:formatCode>
                <c:ptCount val="4"/>
                <c:pt idx="0">
                  <c:v>98.2982205</c:v>
                </c:pt>
                <c:pt idx="1">
                  <c:v>20.2368785</c:v>
                </c:pt>
                <c:pt idx="2">
                  <c:v>8.556055</c:v>
                </c:pt>
                <c:pt idx="3">
                  <c:v>4.9900085</c:v>
                </c:pt>
              </c:numCache>
            </c:numRef>
          </c:val>
          <c:smooth val="0"/>
        </c:ser>
        <c:ser>
          <c:idx val="4"/>
          <c:order val="4"/>
          <c:tx>
            <c:strRef>
              <c:f>Sheet1!$F$1</c:f>
              <c:strCache>
                <c:ptCount val="1"/>
                <c:pt idx="0">
                  <c:v>pthread_mutex (lecture)</c:v>
                </c:pt>
              </c:strCache>
            </c:strRef>
          </c:tx>
          <c:cat>
            <c:strRef>
              <c:f>Sheet1!$A$2:$A$5</c:f>
              <c:strCache>
                <c:ptCount val="4"/>
                <c:pt idx="0">
                  <c:v>1</c:v>
                </c:pt>
                <c:pt idx="1">
                  <c:v>2</c:v>
                </c:pt>
                <c:pt idx="2">
                  <c:v>4</c:v>
                </c:pt>
                <c:pt idx="3">
                  <c:v>8</c:v>
                </c:pt>
              </c:strCache>
            </c:strRef>
          </c:cat>
          <c:val>
            <c:numRef>
              <c:f>Sheet1!$F$2:$F$5</c:f>
              <c:numCache>
                <c:formatCode>General</c:formatCode>
                <c:ptCount val="4"/>
                <c:pt idx="0">
                  <c:v>56.193511</c:v>
                </c:pt>
                <c:pt idx="1">
                  <c:v>15.231085</c:v>
                </c:pt>
                <c:pt idx="2">
                  <c:v>18.5986645</c:v>
                </c:pt>
                <c:pt idx="3">
                  <c:v>18.098416</c:v>
                </c:pt>
              </c:numCache>
            </c:numRef>
          </c:val>
          <c:smooth val="0"/>
        </c:ser>
        <c:marker val="1"/>
        <c:smooth val="0"/>
        <c:axId val="2118791784"/>
        <c:axId val="2140495176"/>
      </c:lineChart>
      <c:catAx>
        <c:axId val="2118791784"/>
        <c:scaling>
          <c:orientation val="minMax"/>
        </c:scaling>
        <c:delete val="0"/>
        <c:axPos val="b"/>
        <c:title>
          <c:tx>
            <c:rich>
              <a:bodyPr/>
              <a:lstStyle/>
              <a:p>
                <a:r>
                  <a:rPr sz="1200"/>
                  <a:t>threads</a:t>
                </a:r>
              </a:p>
            </c:rich>
          </c:tx>
          <c:layout/>
          <c:overlay val="0"/>
        </c:title>
        <c:majorTickMark val="out"/>
        <c:minorTickMark val="none"/>
        <c:tickLblPos val="nextTo"/>
        <c:crossAx val="2140495176"/>
        <c:crosses val="min"/>
        <c:auto val="1"/>
        <c:lblAlgn val="ctr"/>
        <c:lblOffset val="100"/>
        <c:noMultiLvlLbl val="0"/>
      </c:catAx>
      <c:valAx>
        <c:axId val="2140495176"/>
        <c:scaling>
          <c:logBase val="10"/>
          <c:max val="1000.0"/>
          <c:min val="0.1"/>
        </c:scaling>
        <c:delete val="0"/>
        <c:axPos val="l"/>
        <c:majorGridlines>
          <c:spPr>
            <a:ln>
              <a:solidFill>
                <a:srgbClr val="D0D0D0"/>
              </a:solidFill>
            </a:ln>
          </c:spPr>
        </c:majorGridlines>
        <c:title>
          <c:tx>
            <c:rich>
              <a:bodyPr/>
              <a:lstStyle/>
              <a:p>
                <a:r>
                  <a:rPr sz="1200"/>
                  <a:t>million acquisitions / s (log)</a:t>
                </a:r>
              </a:p>
            </c:rich>
          </c:tx>
          <c:layout/>
          <c:overlay val="0"/>
        </c:title>
        <c:numFmt formatCode="General" sourceLinked="0"/>
        <c:majorTickMark val="out"/>
        <c:minorTickMark val="none"/>
        <c:tickLblPos val="nextTo"/>
        <c:crossAx val="2118791784"/>
        <c:crosses val="autoZero"/>
      </c:valAx>
    </c:plotArea>
    <c:legend>
      <c:legendPos val="b"/>
      <c:layout/>
      <c:overlay val="0"/>
    </c:legend>
    <c:plotVisOnly val="1"/>
    <c:dispBlanksAs val="gap"/>
    <c:showDLblsOverMax val="0"/>
  </c:chart>
  <c:txPr>
    <a:bodyPr/>
    <a:lstStyle/>
    <a:p>
      <a:pPr>
        <a:defRPr sz="1200"/>
      </a:pPr>
      <a:endParaRPr lang="en-US"/>
    </a:p>
  </c:tx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chart>
    <c:autoTitleDeleted val="0"/>
    <c:plotArea>
      <c:lineChart>
        <c:grouping val="standard"/>
        <c:varyColors val="0"/>
        <c:ser>
          <c:idx val="0"/>
          <c:order val="0"/>
          <c:tx>
            <c:strRef>
              <c:f>Sheet1!$B$1</c:f>
              <c:strCache>
                <c:ptCount val="1"/>
                <c:pt idx="0">
                  <c:v>Peterson</c:v>
                </c:pt>
              </c:strCache>
            </c:strRef>
          </c:tx>
          <c:cat>
            <c:strRef>
              <c:f>Sheet1!$A$2:$A$5</c:f>
              <c:strCache>
                <c:ptCount val="4"/>
                <c:pt idx="0">
                  <c:v>1</c:v>
                </c:pt>
                <c:pt idx="1">
                  <c:v>2</c:v>
                </c:pt>
                <c:pt idx="2">
                  <c:v>4</c:v>
                </c:pt>
                <c:pt idx="3">
                  <c:v>8</c:v>
                </c:pt>
              </c:strCache>
            </c:strRef>
          </c:cat>
          <c:val>
            <c:numRef>
              <c:f>Sheet1!$B$2:$B$5</c:f>
              <c:numCache>
                <c:formatCode>General</c:formatCode>
                <c:ptCount val="4"/>
                <c:pt idx="0">
                  <c:v>36.454556</c:v>
                </c:pt>
                <c:pt idx="1">
                  <c:v>0.1070795</c:v>
                </c:pt>
              </c:numCache>
            </c:numRef>
          </c:val>
          <c:smooth val="0"/>
        </c:ser>
        <c:ser>
          <c:idx val="1"/>
          <c:order val="1"/>
          <c:tx>
            <c:strRef>
              <c:f>Sheet1!$C$1</c:f>
              <c:strCache>
                <c:ptCount val="1"/>
                <c:pt idx="0">
                  <c:v>CAS spin lock (x86 proxy for LL/SC)</c:v>
                </c:pt>
              </c:strCache>
            </c:strRef>
          </c:tx>
          <c:cat>
            <c:strRef>
              <c:f>Sheet1!$A$2:$A$5</c:f>
              <c:strCache>
                <c:ptCount val="4"/>
                <c:pt idx="0">
                  <c:v>1</c:v>
                </c:pt>
                <c:pt idx="1">
                  <c:v>2</c:v>
                </c:pt>
                <c:pt idx="2">
                  <c:v>4</c:v>
                </c:pt>
                <c:pt idx="3">
                  <c:v>8</c:v>
                </c:pt>
              </c:strCache>
            </c:strRef>
          </c:cat>
          <c:val>
            <c:numRef>
              <c:f>Sheet1!$C$2:$C$5</c:f>
              <c:numCache>
                <c:formatCode>General</c:formatCode>
                <c:ptCount val="4"/>
                <c:pt idx="0">
                  <c:v>99.6771525</c:v>
                </c:pt>
                <c:pt idx="1">
                  <c:v>54.818527</c:v>
                </c:pt>
                <c:pt idx="2">
                  <c:v>27.493461</c:v>
                </c:pt>
                <c:pt idx="3">
                  <c:v>12.3973035</c:v>
                </c:pt>
              </c:numCache>
            </c:numRef>
          </c:val>
          <c:smooth val="0"/>
        </c:ser>
        <c:ser>
          <c:idx val="2"/>
          <c:order val="2"/>
          <c:tx>
            <c:strRef>
              <c:f>Sheet1!$D$1</c:f>
              <c:strCache>
                <c:ptCount val="1"/>
                <c:pt idx="0">
                  <c:v>MCS</c:v>
                </c:pt>
              </c:strCache>
            </c:strRef>
          </c:tx>
          <c:cat>
            <c:strRef>
              <c:f>Sheet1!$A$2:$A$5</c:f>
              <c:strCache>
                <c:ptCount val="4"/>
                <c:pt idx="0">
                  <c:v>1</c:v>
                </c:pt>
                <c:pt idx="1">
                  <c:v>2</c:v>
                </c:pt>
                <c:pt idx="2">
                  <c:v>4</c:v>
                </c:pt>
                <c:pt idx="3">
                  <c:v>8</c:v>
                </c:pt>
              </c:strCache>
            </c:strRef>
          </c:cat>
          <c:val>
            <c:numRef>
              <c:f>Sheet1!$D$2:$D$5</c:f>
              <c:numCache>
                <c:formatCode>General</c:formatCode>
                <c:ptCount val="4"/>
                <c:pt idx="0">
                  <c:v>48.2757965</c:v>
                </c:pt>
                <c:pt idx="1">
                  <c:v>0.2974945</c:v>
                </c:pt>
                <c:pt idx="2">
                  <c:v>0.2464195</c:v>
                </c:pt>
                <c:pt idx="3">
                  <c:v>0.2619165</c:v>
                </c:pt>
              </c:numCache>
            </c:numRef>
          </c:val>
          <c:smooth val="0"/>
        </c:ser>
        <c:ser>
          <c:idx val="3"/>
          <c:order val="3"/>
          <c:tx>
            <c:strRef>
              <c:f>Sheet1!$E$1</c:f>
              <c:strCache>
                <c:ptCount val="1"/>
                <c:pt idx="0">
                  <c:v>TAS (lecture)</c:v>
                </c:pt>
              </c:strCache>
            </c:strRef>
          </c:tx>
          <c:cat>
            <c:strRef>
              <c:f>Sheet1!$A$2:$A$5</c:f>
              <c:strCache>
                <c:ptCount val="4"/>
                <c:pt idx="0">
                  <c:v>1</c:v>
                </c:pt>
                <c:pt idx="1">
                  <c:v>2</c:v>
                </c:pt>
                <c:pt idx="2">
                  <c:v>4</c:v>
                </c:pt>
                <c:pt idx="3">
                  <c:v>8</c:v>
                </c:pt>
              </c:strCache>
            </c:strRef>
          </c:cat>
          <c:val>
            <c:numRef>
              <c:f>Sheet1!$E$2:$E$5</c:f>
              <c:numCache>
                <c:formatCode>General</c:formatCode>
                <c:ptCount val="4"/>
                <c:pt idx="0">
                  <c:v>115.011963</c:v>
                </c:pt>
                <c:pt idx="1">
                  <c:v>57.8515265</c:v>
                </c:pt>
                <c:pt idx="2">
                  <c:v>28.9509915</c:v>
                </c:pt>
                <c:pt idx="3">
                  <c:v>13.7233775</c:v>
                </c:pt>
              </c:numCache>
            </c:numRef>
          </c:val>
          <c:smooth val="0"/>
        </c:ser>
        <c:ser>
          <c:idx val="4"/>
          <c:order val="4"/>
          <c:tx>
            <c:strRef>
              <c:f>Sheet1!$F$1</c:f>
              <c:strCache>
                <c:ptCount val="1"/>
                <c:pt idx="0">
                  <c:v>pthread_mutex (lecture)</c:v>
                </c:pt>
              </c:strCache>
            </c:strRef>
          </c:tx>
          <c:cat>
            <c:strRef>
              <c:f>Sheet1!$A$2:$A$5</c:f>
              <c:strCache>
                <c:ptCount val="4"/>
                <c:pt idx="0">
                  <c:v>1</c:v>
                </c:pt>
                <c:pt idx="1">
                  <c:v>2</c:v>
                </c:pt>
                <c:pt idx="2">
                  <c:v>4</c:v>
                </c:pt>
                <c:pt idx="3">
                  <c:v>8</c:v>
                </c:pt>
              </c:strCache>
            </c:strRef>
          </c:cat>
          <c:val>
            <c:numRef>
              <c:f>Sheet1!$F$2:$F$5</c:f>
              <c:numCache>
                <c:formatCode>General</c:formatCode>
                <c:ptCount val="4"/>
                <c:pt idx="0">
                  <c:v>53.727566</c:v>
                </c:pt>
                <c:pt idx="1">
                  <c:v>55.261372</c:v>
                </c:pt>
                <c:pt idx="2">
                  <c:v>57.436413</c:v>
                </c:pt>
                <c:pt idx="3">
                  <c:v>57.426509</c:v>
                </c:pt>
              </c:numCache>
            </c:numRef>
          </c:val>
          <c:smooth val="0"/>
        </c:ser>
        <c:marker val="1"/>
        <c:smooth val="0"/>
        <c:axId val="2118791784"/>
        <c:axId val="2140495176"/>
      </c:lineChart>
      <c:catAx>
        <c:axId val="2118791784"/>
        <c:scaling>
          <c:orientation val="minMax"/>
        </c:scaling>
        <c:delete val="0"/>
        <c:axPos val="b"/>
        <c:title>
          <c:tx>
            <c:rich>
              <a:bodyPr/>
              <a:lstStyle/>
              <a:p>
                <a:r>
                  <a:rPr sz="1200"/>
                  <a:t>threads</a:t>
                </a:r>
              </a:p>
            </c:rich>
          </c:tx>
          <c:layout/>
          <c:overlay val="0"/>
        </c:title>
        <c:majorTickMark val="out"/>
        <c:minorTickMark val="none"/>
        <c:tickLblPos val="nextTo"/>
        <c:crossAx val="2140495176"/>
        <c:crosses val="min"/>
        <c:auto val="1"/>
        <c:lblAlgn val="ctr"/>
        <c:lblOffset val="100"/>
        <c:noMultiLvlLbl val="0"/>
      </c:catAx>
      <c:valAx>
        <c:axId val="2140495176"/>
        <c:scaling>
          <c:logBase val="10"/>
          <c:max val="1000.0"/>
          <c:min val="0.1"/>
        </c:scaling>
        <c:delete val="0"/>
        <c:axPos val="l"/>
        <c:majorGridlines>
          <c:spPr>
            <a:ln>
              <a:solidFill>
                <a:srgbClr val="D0D0D0"/>
              </a:solidFill>
            </a:ln>
          </c:spPr>
        </c:majorGridlines>
        <c:title>
          <c:tx>
            <c:rich>
              <a:bodyPr/>
              <a:lstStyle/>
              <a:p>
                <a:r>
                  <a:rPr sz="1200"/>
                  <a:t>million acquisitions / s (log)</a:t>
                </a:r>
              </a:p>
            </c:rich>
          </c:tx>
          <c:layout/>
          <c:overlay val="0"/>
        </c:title>
        <c:numFmt formatCode="General" sourceLinked="0"/>
        <c:majorTickMark val="out"/>
        <c:minorTickMark val="none"/>
        <c:tickLblPos val="nextTo"/>
        <c:crossAx val="2118791784"/>
        <c:crosses val="autoZero"/>
      </c:valAx>
    </c:plotArea>
    <c:legend>
      <c:legendPos val="b"/>
      <c:layout/>
      <c:overlay val="0"/>
    </c:legend>
    <c:plotVisOnly val="1"/>
    <c:dispBlanksAs val="gap"/>
    <c:showDLblsOverMax val="0"/>
  </c:chart>
  <c:txPr>
    <a:bodyPr/>
    <a:lstStyle/>
    <a:p>
      <a:pPr>
        <a:defRPr sz="1200"/>
      </a:pPr>
      <a:endParaRPr lang="en-US"/>
    </a:p>
  </c:tx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c:date1904 val="0"/>
  <c:chart>
    <c:autoTitleDeleted val="0"/>
    <c:plotArea>
      <c:barChart>
        <c:barDir val="col"/>
        <c:grouping val="clustered"/>
        <c:ser>
          <c:idx val="0"/>
          <c:order val="0"/>
          <c:tx>
            <c:strRef>
              <c:f>Sheet1!$B$1</c:f>
              <c:strCache>
                <c:ptCount val="1"/>
                <c:pt idx="0">
                  <c:v>all 8 CPUs</c:v>
                </c:pt>
              </c:strCache>
            </c:strRef>
          </c:tx>
          <c:cat>
            <c:strRef>
              <c:f>Sheet1!$A$2:$A$6</c:f>
              <c:strCache>
                <c:ptCount val="5"/>
                <c:pt idx="0">
                  <c:v>Peterson (2 thr)</c:v>
                </c:pt>
                <c:pt idx="1">
                  <c:v>CAS spin lock (8 thr)</c:v>
                </c:pt>
                <c:pt idx="2">
                  <c:v>MCS (8 thr)</c:v>
                </c:pt>
                <c:pt idx="3">
                  <c:v>TAS (8 thr)</c:v>
                </c:pt>
                <c:pt idx="4">
                  <c:v>pthread_mutex (8 thr)</c:v>
                </c:pt>
              </c:strCache>
            </c:strRef>
          </c:cat>
          <c:val>
            <c:numRef>
              <c:f>Sheet1!$B$2:$B$6</c:f>
              <c:numCache>
                <c:formatCode>General</c:formatCode>
                <c:ptCount val="5"/>
                <c:pt idx="0">
                  <c:v>1.0</c:v>
                </c:pt>
                <c:pt idx="1">
                  <c:v>0.55</c:v>
                </c:pt>
                <c:pt idx="2">
                  <c:v>0.96</c:v>
                </c:pt>
                <c:pt idx="3">
                  <c:v>0.78</c:v>
                </c:pt>
                <c:pt idx="4">
                  <c:v>0.88</c:v>
                </c:pt>
              </c:numCache>
            </c:numRef>
          </c:val>
        </c:ser>
        <c:ser>
          <c:idx val="1"/>
          <c:order val="1"/>
          <c:tx>
            <c:strRef>
              <c:f>Sheet1!$C$1</c:f>
              <c:strCache>
                <c:ptCount val="1"/>
                <c:pt idx="0">
                  <c:v>one CPU</c:v>
                </c:pt>
              </c:strCache>
            </c:strRef>
          </c:tx>
          <c:cat>
            <c:strRef>
              <c:f>Sheet1!$A$2:$A$6</c:f>
              <c:strCache>
                <c:ptCount val="5"/>
                <c:pt idx="0">
                  <c:v>Peterson (2 thr)</c:v>
                </c:pt>
                <c:pt idx="1">
                  <c:v>CAS spin lock (8 thr)</c:v>
                </c:pt>
                <c:pt idx="2">
                  <c:v>MCS (8 thr)</c:v>
                </c:pt>
                <c:pt idx="3">
                  <c:v>TAS (8 thr)</c:v>
                </c:pt>
                <c:pt idx="4">
                  <c:v>pthread_mutex (8 thr)</c:v>
                </c:pt>
              </c:strCache>
            </c:strRef>
          </c:cat>
          <c:val>
            <c:numRef>
              <c:f>Sheet1!$C$2:$C$6</c:f>
              <c:numCache>
                <c:formatCode>General</c:formatCode>
                <c:ptCount val="5"/>
                <c:pt idx="0">
                  <c:v>0.0</c:v>
                </c:pt>
                <c:pt idx="1">
                  <c:v>0.0</c:v>
                </c:pt>
                <c:pt idx="2">
                  <c:v>0.0</c:v>
                </c:pt>
                <c:pt idx="3">
                  <c:v>0.0</c:v>
                </c:pt>
                <c:pt idx="4">
                  <c:v>0.83</c:v>
                </c:pt>
              </c:numCache>
            </c:numRef>
          </c:val>
        </c:ser>
        <c:dLbls>
          <c:numFmt formatCode="0.00" sourceLinked="0"/>
          <c:txPr>
            <a:bodyPr/>
            <a:lstStyle/>
            <a:p>
              <a:pPr>
                <a:defRPr sz="1200"/>
              </a:pPr>
            </a:p>
          </c:txPr>
          <c:dLblPos val="outEnd"/>
          <c:showLegendKey val="0"/>
          <c:showVal val="1"/>
          <c:showCatName val="0"/>
          <c:showSerName val="0"/>
          <c:showPercent val="0"/>
          <c:showBubbleSize val="0"/>
          <c:showLeaderLines val="1"/>
        </c:dLbls>
        <c:axId val="-2068027336"/>
        <c:axId val="-2113994440"/>
      </c:barChart>
      <c:catAx>
        <c:axId val="-2068027336"/>
        <c:scaling>
          <c:orientation val="minMax"/>
        </c:scaling>
        <c:delete val="0"/>
        <c:axPos val="b"/>
        <c:title>
          <c:tx>
            <c:rich>
              <a:bodyPr/>
              <a:lstStyle/>
              <a:p>
                <a:r>
                  <a:rPr sz="1200"/>
                  <a:t>lock (most threads it ran)</a:t>
                </a:r>
              </a:p>
            </c:rich>
          </c:tx>
          <c:layout/>
          <c:overlay val="0"/>
        </c:title>
        <c:majorTickMark val="out"/>
        <c:minorTickMark val="none"/>
        <c:tickLblPos val="nextTo"/>
        <c:crossAx val="-2113994440"/>
        <c:crosses val="autoZero"/>
        <c:auto val="1"/>
        <c:lblAlgn val="ctr"/>
        <c:lblOffset val="100"/>
        <c:noMultiLvlLbl val="0"/>
      </c:catAx>
      <c:valAx>
        <c:axId val="-2113994440"/>
        <c:scaling>
          <c:max val="1.0"/>
          <c:min val="0.0"/>
        </c:scaling>
        <c:delete val="0"/>
        <c:axPos val="l"/>
        <c:majorGridlines>
          <c:spPr>
            <a:ln>
              <a:solidFill>
                <a:srgbClr val="D0D0D0"/>
              </a:solidFill>
            </a:ln>
          </c:spPr>
        </c:majorGridlines>
        <c:title>
          <c:tx>
            <c:rich>
              <a:bodyPr/>
              <a:lstStyle/>
              <a:p>
                <a:r>
                  <a:rPr sz="1200"/>
                  <a:t>fairness (fewest ÷ most)</a:t>
                </a:r>
              </a:p>
            </c:rich>
          </c:tx>
          <c:layout/>
          <c:overlay val="0"/>
        </c:title>
        <c:numFmt formatCode="General" sourceLinked="0"/>
        <c:majorTickMark val="out"/>
        <c:minorTickMark val="none"/>
        <c:tickLblPos val="nextTo"/>
        <c:crossAx val="-2068027336"/>
        <c:crosses val="autoZero"/>
      </c:valAx>
    </c:plotArea>
    <c:legend>
      <c:legendPos val="b"/>
      <c:overlay val="0"/>
    </c:legend>
    <c:dispBlanksAs val="gap"/>
  </c:chart>
  <c:txPr>
    <a:bodyPr/>
    <a:lstStyle/>
    <a:p>
      <a:pPr>
        <a:defRPr sz="1200"/>
      </a:pPr>
      <a:endParaRPr lang="en-US"/>
    </a:p>
  </c:tx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6C4B1AB1-9C64-4A62-914C-DB0868719019}" type="datetimeFigureOut">
              <a:rPr lang="en-US" smtClean="0"/>
              <a:t>9/30/2026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2F288303-F480-471A-8990-55B788A1E651}" type="slidenum">
              <a:rPr lang="en-US" smtClean="0"/>
              <a:t>‹#›</a:t>
            </a:fld>
            <a:endParaRPr lang="en-US"/>
          </a:p>
        </p:txBody>
      </p:sp>
    </p:spTree>
    <p:extLst>
      <p:ext uri="{BB962C8B-B14F-4D97-AF65-F5344CB8AC3E}">
        <p14:creationId xmlns:p14="http://schemas.microsoft.com/office/powerpoint/2010/main" val="337441002"/>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 are group OS InW. This deck studies three locks that were not covered in Lecture 8: Peterson's algorithm, Load-Linked/Store-Conditional, and the MCS queue lock. Each lock is judged on correctness and performance with the metrics from the lecture.</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There are six of us. Three members each present one lock and two compare them; one member explains how we measured and draws the conclusion.</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Before the locks themselves: the metrics we use and how we measured them.</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Lecture 8 judges a lock on four things: mutual exclusion, absence of deadlock, fairness, and performance. We turn each one into something a program can measure, so every lock is judged the same way. A measurement can only show a violation; it cannot prove that none exists, and the next slide separates the two.</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test and a proof answer different questions. The argument says why a lock should work, under stated assumptions. The experiment only reports what we saw: in 390 runs of the correct builds we observed no lost update and no hang. That is evidence, not proof, because a rare interleaving could be missed.</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Every lock runs this same loop. All threads start together at a barrier and loop until the main thread raises stop after 1 second. The counter is a plain variable, not an atomic one, so if two threads are ever inside together, one of their updates is lost and the counter ends short.</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one real run: the test-and-set lock from the lecture with four threads. Each thread reports how many times it got the lock. The total matches the counter, so nothing was lost. Fairness is the smallest count divided by the largest, and performance is the total divided by the time.</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Each lock runs with 1, 2, 4 and 8 threads, first on all 8 CPUs and then pinned to one CPU with taskset, to see what spinning costs when the lock holder cannot run. Every setting runs 10 times and the slides show the median. Two locks from the lecture, test-and-set and pthread_mutex, run as references.</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Part one: Peterson's algorithm, a lock built from ordinary loads and stores.</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Peterson's algorithm needs no special instruction. Each thread raises its flag to say it wants in, then politely gives the turn to the other thread. The thread that wrote turn last is the one that waits.</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argument assumes sequential consistency. Suppose both threads were inside, and take the one that wrote turn last. The other thread's flag was set before that thread's own write of turn, so the last writer reads flag[other] == 1 and turn == other, and it must wait. On a real x86 CPU the textbook volatile code breaks this assumption, because a load may overtake an earlier store. Without the fence we lost updates in 10 of 10 runs. With the fence, or with _Atomic, we observed no violation in 10 runs each.</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With one thread there is no contention and the lock is cheap. With two threads on separate CPUs, flag and turn bounce between the cores' caches. Pinned to one CPU it collapses: a waiting thread spins away its whole time slice, as the lecture warned.</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With both threads on their own CPU, turn hands priority to the other thread, so neither waits for more than one entry of the other; the counts were nearly equal. On one CPU the counts were lopsided because who gets in follows the scheduler. The algorithm also only works for two threads and needs sequential consistency, which means a fence on x86.</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Part two: Load-Linked and Store-Conditional, a pair of hardware instructions.</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Load-Linked reads a value and starts watching the address. Store-Conditional writes only if nobody wrote that address in between. The lock spins on Load-Linked until the flag is free, then tries to claim it; if the store fails, someone else won and the thread starts over.</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Two threads may both load-link a zero, but only the first store-conditional succeeds; the second sees that the address changed and fails. We ran the AArch64 build under qemu with 4 threads: no lost update was observed in 10 of 10 runs, which checks the implementation and proves nothing about every interleaving. The disassembly shows the real ldaxr and stxr instructions.</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qemu emulates the CPU, so its speed means nothing; we time the x86 build, which runs the same loop with compare-and-swap standing in for the LL/SC pair. These numbers belong to a CAS spin lock on x86; they compare implementations on x86 and say nothing about the speed of real LL/SC hardware. It behaves like the test-and-set lock from the lecture: fast alone, slower as threads fight over one cache line.</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Nothing orders the waiters: whichever store-conditional lands first wins. With eight threads on one CPU the acquisition counts were severely unbalanced, though the scheduler plays a part. The lock also depends on the hardware, which x86 does not have.</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Part three, the lock not covered in the lecture: the MCS queue lock.</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MCS lock, by Mellor-Crummey and Scott, won the Dijkstra Prize in 2006. Waiting threads form a queue, a linked list. Each thread spins on a flag in its own node, and the thread ahead of it clears that flag when it is done. Linux's spinlock today, the qspinlock, is built on this idea.</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atomic exchange puts every thread in one queue, and only the head of that queue may enter. A thread leaves by handing the lock to the node behind it, or by resetting tail if nobody is waiting. We observed no lost update and no hang in all 80 runs.</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Every waiter spins on its own cache line, so a handover touches one line instead of making every core fight over the same flag. On one CPU it collapses: the queue hands the lock to a thread that is not running. The Linux kernel avoids that by disabling preemption while a spinlock is held or awaited.</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queue makes MCS first-come, first-served: it was the fairest lock we measured at eight threads on all CPUs. That order is a property of the algorithm. On one CPU the acquisition counts were very unequal, but that is the scheduler: a queued thread that is not running cannot take its turn. MCS needs a node per waiting thread and an atomic exchange.</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Now the three locks side by side, with two locks from the lecture as references.</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With one thread nobody waits, so the simplest locks, test-and-set and the CAS spin lock, are fastest. As threads are added every spin lock slows down, because the threads fight over shared cache lines. pthread_mutex was the fastest lock at eight threads.</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Pinned to one CPU, the picture changes. Test-and-set and the CAS spin lock stay fast only because one thread keeps the lock for its whole time slice while the others get almost nothing. Peterson and MCS hand the lock to a thread that is not running, so they collapse. The mutex puts waiters to sleep and keeps its speed. These one-CPU numbers vary a lot between runs, as the variation slide shows.</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Next, correctness and fairness for every lock, and then everything in one table.</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For every lock we observed no violation of either correctness metric: no update was lost and every run finished. That is what the runs showed, not a proof. The one exception is the deliberate one, Peterson without its memory fence, which lost updates on every multi-CPU run.</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Fairness is the fewest acquisitions of any thread divided by the most. On all CPUs the MCS queue was the fairest lock at eight threads. On one CPU every spin lock showed severe acquisition imbalance during the measurement window. That does not prove starvation: a thread that got one acquisition shows as 0.00 here. Whether the algorithm is FIFO or has bounded waiting is a separate question from what the scheduler did in one second.</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median hides how much runs differ. Here are the slowest and fastest of 10 runs for each lock. The spread shows how far one number can be trusted, so we read the results as the shape of the behaviour, not as values that would repeat exactly.</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table puts the three locks and the two references on one page, each at the most threads it supports. Peterson is balanced but limited to two threads, the simple spin locks are unbalanced, and the MCS queue was balanced at every thread count we ran on all CPUs. The CAS spin lock is the x86 proxy for LL/SC.</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Last part: what the measurements tell us, and where the material comes from.</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Each lock has an argument for mutual exclusion and deadlock freedom, and in our runs we observed no violation, though Peterson needs sequential consistency, a fence on today's x86. Peterson is balanced but limited to two threads; LL/SC is short and, as a CAS spin lock on x86, fast but unbalanced; the MCS queue is first-come, first-served for any number of threads and is what Linux builds its spinlock on. When threads can be preempted, sleeping locks such as pthread_mutex win. Our numbers compare locks with each other on one WSL2 machine.</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These are the sources for the algorithms and the instructions.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p:cNvSpPr>
            <a:spLocks noGrp="1"/>
          </p:cNvSpPr>
          <p:nvPr>
            <p:ph type="dt" sz="half" idx="10"/>
          </p:nvPr>
        </p:nvSpPr>
        <p:spPr/>
        <p:txBody>
          <a:bodyPr/>
          <a:lstStyle/>
          <a:p>
            <a:fld id="{137481E7-FCE9-43CA-8268-75D48394A59B}" type="datetimeFigureOut">
              <a:rPr lang="en-US" smtClean="0"/>
              <a:t>9/30/2026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E8255BEC-3039-4085-B79C-E7DDDFDD6F6B}" type="slidenum">
              <a:rPr lang="en-US" smtClean="0"/>
              <a:t>‹#›</a:t>
            </a:fld>
            <a:endParaRPr lang="en-US"/>
          </a:p>
        </p:txBody>
      </p:sp>
    </p:spTree>
    <p:extLst>
      <p:ext uri="{BB962C8B-B14F-4D97-AF65-F5344CB8AC3E}">
        <p14:creationId xmlns:p14="http://schemas.microsoft.com/office/powerpoint/2010/main" val="1003172887"/>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137481E7-FCE9-43CA-8268-75D48394A59B}" type="datetimeFigureOut">
              <a:rPr lang="en-US" smtClean="0"/>
              <a:t>9/30/2026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E8255BEC-3039-4085-B79C-E7DDDFDD6F6B}" type="slidenum">
              <a:rPr lang="en-US" smtClean="0"/>
              <a:t>‹#›</a:t>
            </a:fld>
            <a:endParaRPr lang="en-US"/>
          </a:p>
        </p:txBody>
      </p:sp>
    </p:spTree>
    <p:extLst>
      <p:ext uri="{BB962C8B-B14F-4D97-AF65-F5344CB8AC3E}">
        <p14:creationId xmlns:p14="http://schemas.microsoft.com/office/powerpoint/2010/main" val="2887083447"/>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Edit Master text styles</a:t>
            </a:r>
          </a:p>
        </p:txBody>
      </p:sp>
      <p:sp>
        <p:nvSpPr>
          <p:cNvPr id="4" name="Date Placeholder 3"/>
          <p:cNvSpPr>
            <a:spLocks noGrp="1"/>
          </p:cNvSpPr>
          <p:nvPr>
            <p:ph type="dt" sz="half" idx="10"/>
          </p:nvPr>
        </p:nvSpPr>
        <p:spPr/>
        <p:txBody>
          <a:bodyPr/>
          <a:lstStyle/>
          <a:p>
            <a:fld id="{137481E7-FCE9-43CA-8268-75D48394A59B}" type="datetimeFigureOut">
              <a:rPr lang="en-US" smtClean="0"/>
              <a:t>9/30/2026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E8255BEC-3039-4085-B79C-E7DDDFDD6F6B}" type="slidenum">
              <a:rPr lang="en-US" smtClean="0"/>
              <a:t>‹#›</a:t>
            </a:fld>
            <a:endParaRPr lang="en-US"/>
          </a:p>
        </p:txBody>
      </p:sp>
    </p:spTree>
    <p:extLst>
      <p:ext uri="{BB962C8B-B14F-4D97-AF65-F5344CB8AC3E}">
        <p14:creationId xmlns:p14="http://schemas.microsoft.com/office/powerpoint/2010/main" val="40166092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838200" y="1825625"/>
            <a:ext cx="5181600" cy="4351338"/>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6172200" y="1825625"/>
            <a:ext cx="5181600" cy="4351338"/>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137481E7-FCE9-43CA-8268-75D48394A59B}" type="datetimeFigureOut">
              <a:rPr lang="en-US" smtClean="0"/>
              <a:t>9/30/2026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E8255BEC-3039-4085-B79C-E7DDDFDD6F6B}" type="slidenum">
              <a:rPr lang="en-US" smtClean="0"/>
              <a:t>‹#›</a:t>
            </a:fld>
            <a:endParaRPr lang="en-US"/>
          </a:p>
        </p:txBody>
      </p:sp>
    </p:spTree>
    <p:extLst>
      <p:ext uri="{BB962C8B-B14F-4D97-AF65-F5344CB8AC3E}">
        <p14:creationId xmlns:p14="http://schemas.microsoft.com/office/powerpoint/2010/main" val="348282038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Edit Master text styles</a:t>
            </a:r>
          </a:p>
        </p:txBody>
      </p:sp>
      <p:sp>
        <p:nvSpPr>
          <p:cNvPr id="4" name="Content Placeholder 3"/>
          <p:cNvSpPr>
            <a:spLocks noGrp="1"/>
          </p:cNvSpPr>
          <p:nvPr>
            <p:ph sz="half" idx="2"/>
          </p:nvPr>
        </p:nvSpPr>
        <p:spPr>
          <a:xfrm>
            <a:off x="839788" y="2505075"/>
            <a:ext cx="5157787" cy="3684588"/>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Edit Master text styles</a:t>
            </a:r>
          </a:p>
        </p:txBody>
      </p:sp>
      <p:sp>
        <p:nvSpPr>
          <p:cNvPr id="6" name="Content Placeholder 5"/>
          <p:cNvSpPr>
            <a:spLocks noGrp="1"/>
          </p:cNvSpPr>
          <p:nvPr>
            <p:ph sz="quarter" idx="4"/>
          </p:nvPr>
        </p:nvSpPr>
        <p:spPr>
          <a:xfrm>
            <a:off x="6172200" y="2505075"/>
            <a:ext cx="5183188" cy="3684588"/>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137481E7-FCE9-43CA-8268-75D48394A59B}" type="datetimeFigureOut">
              <a:rPr lang="en-US" smtClean="0"/>
              <a:t>9/30/2026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E8255BEC-3039-4085-B79C-E7DDDFDD6F6B}" type="slidenum">
              <a:rPr lang="en-US" smtClean="0"/>
              <a:t>‹#›</a:t>
            </a:fld>
            <a:endParaRPr lang="en-US"/>
          </a:p>
        </p:txBody>
      </p:sp>
    </p:spTree>
    <p:extLst>
      <p:ext uri="{BB962C8B-B14F-4D97-AF65-F5344CB8AC3E}">
        <p14:creationId xmlns:p14="http://schemas.microsoft.com/office/powerpoint/2010/main" val="1247688044"/>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137481E7-FCE9-43CA-8268-75D48394A59B}" type="datetimeFigureOut">
              <a:rPr lang="en-US" smtClean="0"/>
              <a:t>9/30/2026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E8255BEC-3039-4085-B79C-E7DDDFDD6F6B}" type="slidenum">
              <a:rPr lang="en-US" smtClean="0"/>
              <a:t>‹#›</a:t>
            </a:fld>
            <a:endParaRPr lang="en-US"/>
          </a:p>
        </p:txBody>
      </p:sp>
    </p:spTree>
    <p:extLst>
      <p:ext uri="{BB962C8B-B14F-4D97-AF65-F5344CB8AC3E}">
        <p14:creationId xmlns:p14="http://schemas.microsoft.com/office/powerpoint/2010/main" val="2076751796"/>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137481E7-FCE9-43CA-8268-75D48394A59B}" type="datetimeFigureOut">
              <a:rPr lang="en-US" smtClean="0"/>
              <a:t>9/30/2026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E8255BEC-3039-4085-B79C-E7DDDFDD6F6B}" type="slidenum">
              <a:rPr lang="en-US" smtClean="0"/>
              <a:t>‹#›</a:t>
            </a:fld>
            <a:endParaRPr lang="en-US"/>
          </a:p>
        </p:txBody>
      </p:sp>
    </p:spTree>
    <p:extLst>
      <p:ext uri="{BB962C8B-B14F-4D97-AF65-F5344CB8AC3E}">
        <p14:creationId xmlns:p14="http://schemas.microsoft.com/office/powerpoint/2010/main" val="406028931"/>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Edit Master text styles</a:t>
            </a:r>
          </a:p>
        </p:txBody>
      </p:sp>
      <p:sp>
        <p:nvSpPr>
          <p:cNvPr id="5" name="Date Placeholder 4"/>
          <p:cNvSpPr>
            <a:spLocks noGrp="1"/>
          </p:cNvSpPr>
          <p:nvPr>
            <p:ph type="dt" sz="half" idx="10"/>
          </p:nvPr>
        </p:nvSpPr>
        <p:spPr/>
        <p:txBody>
          <a:bodyPr/>
          <a:lstStyle/>
          <a:p>
            <a:fld id="{137481E7-FCE9-43CA-8268-75D48394A59B}" type="datetimeFigureOut">
              <a:rPr lang="en-US" smtClean="0"/>
              <a:t>9/30/2026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E8255BEC-3039-4085-B79C-E7DDDFDD6F6B}" type="slidenum">
              <a:rPr lang="en-US" smtClean="0"/>
              <a:t>‹#›</a:t>
            </a:fld>
            <a:endParaRPr lang="en-US"/>
          </a:p>
        </p:txBody>
      </p:sp>
    </p:spTree>
    <p:extLst>
      <p:ext uri="{BB962C8B-B14F-4D97-AF65-F5344CB8AC3E}">
        <p14:creationId xmlns:p14="http://schemas.microsoft.com/office/powerpoint/2010/main" val="1648823619"/>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Edit Master text styles</a:t>
            </a:r>
          </a:p>
        </p:txBody>
      </p:sp>
      <p:sp>
        <p:nvSpPr>
          <p:cNvPr id="5" name="Date Placeholder 4"/>
          <p:cNvSpPr>
            <a:spLocks noGrp="1"/>
          </p:cNvSpPr>
          <p:nvPr>
            <p:ph type="dt" sz="half" idx="10"/>
          </p:nvPr>
        </p:nvSpPr>
        <p:spPr/>
        <p:txBody>
          <a:bodyPr/>
          <a:lstStyle/>
          <a:p>
            <a:fld id="{137481E7-FCE9-43CA-8268-75D48394A59B}" type="datetimeFigureOut">
              <a:rPr lang="en-US" smtClean="0"/>
              <a:t>9/30/2026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E8255BEC-3039-4085-B79C-E7DDDFDD6F6B}" type="slidenum">
              <a:rPr lang="en-US" smtClean="0"/>
              <a:t>‹#›</a:t>
            </a:fld>
            <a:endParaRPr lang="en-US"/>
          </a:p>
        </p:txBody>
      </p:sp>
    </p:spTree>
    <p:extLst>
      <p:ext uri="{BB962C8B-B14F-4D97-AF65-F5344CB8AC3E}">
        <p14:creationId xmlns:p14="http://schemas.microsoft.com/office/powerpoint/2010/main" val="114990663"/>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137481E7-FCE9-43CA-8268-75D48394A59B}" type="datetimeFigureOut">
              <a:rPr lang="en-US" smtClean="0"/>
              <a:t>9/30/2026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E8255BEC-3039-4085-B79C-E7DDDFDD6F6B}" type="slidenum">
              <a:rPr lang="en-US" smtClean="0"/>
              <a:t>‹#›</a:t>
            </a:fld>
            <a:endParaRPr lang="en-US"/>
          </a:p>
        </p:txBody>
      </p:sp>
    </p:spTree>
    <p:extLst>
      <p:ext uri="{BB962C8B-B14F-4D97-AF65-F5344CB8AC3E}">
        <p14:creationId xmlns:p14="http://schemas.microsoft.com/office/powerpoint/2010/main" val="2102921196"/>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838200" y="365125"/>
            <a:ext cx="7734300" cy="5811838"/>
          </a:xfrm>
        </p:spPr>
        <p:txBody>
          <a:bodyPr vert="eaVert"/>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137481E7-FCE9-43CA-8268-75D48394A59B}" type="datetimeFigureOut">
              <a:rPr lang="en-US" smtClean="0"/>
              <a:t>9/30/2026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E8255BEC-3039-4085-B79C-E7DDDFDD6F6B}" type="slidenum">
              <a:rPr lang="en-US" smtClean="0"/>
              <a:t>‹#›</a:t>
            </a:fld>
            <a:endParaRPr lang="en-US"/>
          </a:p>
        </p:txBody>
      </p:sp>
    </p:spTree>
    <p:extLst>
      <p:ext uri="{BB962C8B-B14F-4D97-AF65-F5344CB8AC3E}">
        <p14:creationId xmlns:p14="http://schemas.microsoft.com/office/powerpoint/2010/main" val="656614701"/>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137481E7-FCE9-43CA-8268-75D48394A59B}" type="datetimeFigureOut">
              <a:rPr lang="en-US" smtClean="0"/>
              <a:t>9/30/2026</a:t>
            </a:fld>
            <a:endParaRPr lang="en-US"/>
          </a:p>
        </p:txBody>
      </p:sp>
      <p:sp>
        <p:nvSpPr>
          <p:cNvPr id="5" name="Footer Placeholder 4"/>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E8255BEC-3039-4085-B79C-E7DDDFDD6F6B}" type="slidenum">
              <a:rPr lang="en-US" smtClean="0"/>
              <a:t>‹#›</a:t>
            </a:fld>
            <a:endParaRPr lang="en-US"/>
          </a:p>
        </p:txBody>
      </p:sp>
    </p:spTree>
    <p:extLst>
      <p:ext uri="{BB962C8B-B14F-4D97-AF65-F5344CB8AC3E}">
        <p14:creationId xmlns:p14="http://schemas.microsoft.com/office/powerpoint/2010/main" val="545624016"/>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2.xml"/><Relationship Id="rId3" Type="http://schemas.openxmlformats.org/officeDocument/2006/relationships/chart" Target="../charts/chart1.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7.xml"/><Relationship Id="rId3" Type="http://schemas.openxmlformats.org/officeDocument/2006/relationships/chart" Target="../charts/chart2.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2.xml"/><Relationship Id="rId3" Type="http://schemas.openxmlformats.org/officeDocument/2006/relationships/chart" Target="../charts/chart3.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5.xml"/><Relationship Id="rId3" Type="http://schemas.openxmlformats.org/officeDocument/2006/relationships/chart" Target="../charts/chart4.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6.xml"/><Relationship Id="rId3" Type="http://schemas.openxmlformats.org/officeDocument/2006/relationships/chart" Target="../charts/chart5.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9.xml"/><Relationship Id="rId3" Type="http://schemas.openxmlformats.org/officeDocument/2006/relationships/chart" Target="../charts/chart6.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4.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ctrTitle"/>
          </p:nvPr>
        </p:nvSpPr>
        <p:spPr/>
        <p:txBody>
          <a:bodyPr/>
          <a:lstStyle/>
          <a:p>
            <a:r>
              <a:t>Problem Session 08: Lock Mechanisms</a:t>
            </a:r>
          </a:p>
        </p:txBody>
      </p:sp>
      <p:sp>
        <p:nvSpPr>
          <p:cNvPr id="3" name="Subtitle 2"/>
          <p:cNvSpPr>
            <a:spLocks noGrp="1"/>
          </p:cNvSpPr>
          <p:nvPr>
            <p:ph type="subTitle" idx="1"/>
          </p:nvPr>
        </p:nvSpPr>
        <p:spPr/>
        <p:txBody>
          <a:bodyPr/>
          <a:lstStyle/>
          <a:p>
            <a:r>
              <a:t>Peterson's Algorithm · LL/SC · MCS Lock</a:t>
            </a:r>
          </a:p>
          <a:p>
            <a:r>
              <a:t>CPE 333 Operating Systems, 1/2026 — Group OS InW</a:t>
            </a:r>
          </a:p>
        </p:txBody>
      </p:sp>
      <p:sp>
        <p:nvSpPr>
          <p:cNvPr id="4" name="TextBox 3"/>
          <p:cNvSpPr txBox="1"/>
          <p:nvPr/>
        </p:nvSpPr>
        <p:spPr>
          <a:xfrm>
            <a:off x="11247120" y="6400800"/>
            <a:ext cx="731520" cy="365760"/>
          </a:xfrm>
          <a:prstGeom prst="rect">
            <a:avLst/>
          </a:prstGeom>
          <a:noFill/>
        </p:spPr>
        <p:txBody>
          <a:bodyPr wrap="none">
            <a:spAutoFit/>
          </a:bodyPr>
          <a:lstStyle/>
          <a:p>
            <a:pPr algn="r"/>
            <a:r>
              <a:rPr sz="1200">
                <a:solidFill>
                  <a:srgbClr val="808080"/>
                </a:solidFill>
              </a:rPr>
              <a:t>1</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Group: OS InW</a:t>
            </a:r>
          </a:p>
        </p:txBody>
      </p:sp>
      <p:sp>
        <p:nvSpPr>
          <p:cNvPr id="3" name="TextBox 2"/>
          <p:cNvSpPr txBox="1"/>
          <p:nvPr/>
        </p:nvSpPr>
        <p:spPr>
          <a:xfrm>
            <a:off x="11247120" y="6400800"/>
            <a:ext cx="731520" cy="365760"/>
          </a:xfrm>
          <a:prstGeom prst="rect">
            <a:avLst/>
          </a:prstGeom>
          <a:noFill/>
        </p:spPr>
        <p:txBody>
          <a:bodyPr wrap="none">
            <a:spAutoFit/>
          </a:bodyPr>
          <a:lstStyle/>
          <a:p>
            <a:pPr algn="r"/>
            <a:r>
              <a:rPr sz="1200">
                <a:solidFill>
                  <a:srgbClr val="808080"/>
                </a:solidFill>
              </a:rPr>
              <a:t>2</a:t>
            </a:r>
          </a:p>
        </p:txBody>
      </p:sp>
      <p:sp>
        <p:nvSpPr>
          <p:cNvPr id="4" name="TextBox 3"/>
          <p:cNvSpPr txBox="1"/>
          <p:nvPr/>
        </p:nvSpPr>
        <p:spPr>
          <a:xfrm>
            <a:off x="457200" y="1737360"/>
            <a:ext cx="3657600" cy="2011680"/>
          </a:xfrm>
          <a:prstGeom prst="rect">
            <a:avLst/>
          </a:prstGeom>
          <a:noFill/>
        </p:spPr>
        <p:txBody>
          <a:bodyPr wrap="square">
            <a:spAutoFit/>
          </a:bodyPr>
          <a:lstStyle/>
          <a:p>
            <a:pPr algn="ctr">
              <a:spcAft>
                <a:spcPts val="0"/>
              </a:spcAft>
            </a:pPr>
            <a:r>
              <a:rPr sz="2000"/>
              <a:t>67070501075</a:t>
            </a:r>
          </a:p>
          <a:p>
            <a:pPr algn="ctr">
              <a:spcAft>
                <a:spcPts val="0"/>
              </a:spcAft>
            </a:pPr>
            <a:r>
              <a:rPr sz="2000"/>
              <a:t>Siriwan Yindeephot</a:t>
            </a:r>
          </a:p>
          <a:p>
            <a:pPr algn="ctr">
              <a:spcAft>
                <a:spcPts val="0"/>
              </a:spcAft>
            </a:pPr>
          </a:p>
          <a:p>
            <a:pPr algn="ctr">
              <a:spcAft>
                <a:spcPts val="0"/>
              </a:spcAft>
            </a:pPr>
            <a:r>
              <a:rPr sz="2000">
                <a:solidFill>
                  <a:srgbClr val="C0392B"/>
                </a:solidFill>
              </a:rPr>
              <a:t>How We Evaluate</a:t>
            </a:r>
          </a:p>
          <a:p>
            <a:pPr algn="ctr">
              <a:spcAft>
                <a:spcPts val="0"/>
              </a:spcAft>
            </a:pPr>
            <a:r>
              <a:rPr sz="2000">
                <a:solidFill>
                  <a:srgbClr val="C0392B"/>
                </a:solidFill>
              </a:rPr>
              <a:t>Conclusion</a:t>
            </a:r>
          </a:p>
        </p:txBody>
      </p:sp>
      <p:sp>
        <p:nvSpPr>
          <p:cNvPr id="5" name="TextBox 4"/>
          <p:cNvSpPr txBox="1"/>
          <p:nvPr/>
        </p:nvSpPr>
        <p:spPr>
          <a:xfrm>
            <a:off x="4251960" y="1737360"/>
            <a:ext cx="3657600" cy="2011680"/>
          </a:xfrm>
          <a:prstGeom prst="rect">
            <a:avLst/>
          </a:prstGeom>
          <a:noFill/>
        </p:spPr>
        <p:txBody>
          <a:bodyPr wrap="square">
            <a:spAutoFit/>
          </a:bodyPr>
          <a:lstStyle/>
          <a:p>
            <a:pPr algn="ctr">
              <a:spcAft>
                <a:spcPts val="0"/>
              </a:spcAft>
            </a:pPr>
            <a:r>
              <a:rPr sz="2000"/>
              <a:t>67070501018</a:t>
            </a:r>
          </a:p>
          <a:p>
            <a:pPr algn="ctr">
              <a:spcAft>
                <a:spcPts val="0"/>
              </a:spcAft>
            </a:pPr>
            <a:r>
              <a:rPr sz="2000"/>
              <a:t>Tithinan Sobking</a:t>
            </a:r>
          </a:p>
          <a:p>
            <a:pPr algn="ctr">
              <a:spcAft>
                <a:spcPts val="0"/>
              </a:spcAft>
            </a:pPr>
          </a:p>
          <a:p>
            <a:pPr algn="ctr">
              <a:spcAft>
                <a:spcPts val="0"/>
              </a:spcAft>
            </a:pPr>
            <a:r>
              <a:rPr sz="2000">
                <a:solidFill>
                  <a:srgbClr val="C0392B"/>
                </a:solidFill>
              </a:rPr>
              <a:t>Peterson's Algorithm</a:t>
            </a:r>
          </a:p>
        </p:txBody>
      </p:sp>
      <p:sp>
        <p:nvSpPr>
          <p:cNvPr id="6" name="TextBox 5"/>
          <p:cNvSpPr txBox="1"/>
          <p:nvPr/>
        </p:nvSpPr>
        <p:spPr>
          <a:xfrm>
            <a:off x="8046720" y="1737360"/>
            <a:ext cx="3657600" cy="2011680"/>
          </a:xfrm>
          <a:prstGeom prst="rect">
            <a:avLst/>
          </a:prstGeom>
          <a:noFill/>
        </p:spPr>
        <p:txBody>
          <a:bodyPr wrap="square">
            <a:spAutoFit/>
          </a:bodyPr>
          <a:lstStyle/>
          <a:p>
            <a:pPr algn="ctr">
              <a:spcAft>
                <a:spcPts val="0"/>
              </a:spcAft>
            </a:pPr>
            <a:r>
              <a:rPr sz="2000"/>
              <a:t>67070501005</a:t>
            </a:r>
          </a:p>
          <a:p>
            <a:pPr algn="ctr">
              <a:spcAft>
                <a:spcPts val="0"/>
              </a:spcAft>
            </a:pPr>
            <a:r>
              <a:rPr sz="2000"/>
              <a:t>Kiatisak Markmeeshap</a:t>
            </a:r>
          </a:p>
          <a:p>
            <a:pPr algn="ctr">
              <a:spcAft>
                <a:spcPts val="0"/>
              </a:spcAft>
            </a:pPr>
          </a:p>
          <a:p>
            <a:pPr algn="ctr">
              <a:spcAft>
                <a:spcPts val="0"/>
              </a:spcAft>
            </a:pPr>
            <a:r>
              <a:rPr sz="2000">
                <a:solidFill>
                  <a:srgbClr val="C0392B"/>
                </a:solidFill>
              </a:rPr>
              <a:t>Load-Linked / Store-Conditional</a:t>
            </a:r>
          </a:p>
        </p:txBody>
      </p:sp>
      <p:sp>
        <p:nvSpPr>
          <p:cNvPr id="7" name="TextBox 6"/>
          <p:cNvSpPr txBox="1"/>
          <p:nvPr/>
        </p:nvSpPr>
        <p:spPr>
          <a:xfrm>
            <a:off x="457200" y="4023360"/>
            <a:ext cx="3657600" cy="2011680"/>
          </a:xfrm>
          <a:prstGeom prst="rect">
            <a:avLst/>
          </a:prstGeom>
          <a:noFill/>
        </p:spPr>
        <p:txBody>
          <a:bodyPr wrap="square">
            <a:spAutoFit/>
          </a:bodyPr>
          <a:lstStyle/>
          <a:p>
            <a:pPr algn="ctr">
              <a:spcAft>
                <a:spcPts val="0"/>
              </a:spcAft>
            </a:pPr>
            <a:r>
              <a:rPr sz="2000"/>
              <a:t>67070501021</a:t>
            </a:r>
          </a:p>
          <a:p>
            <a:pPr algn="ctr">
              <a:spcAft>
                <a:spcPts val="0"/>
              </a:spcAft>
            </a:pPr>
            <a:r>
              <a:rPr sz="2000"/>
              <a:t>Thanaboon Tikaew</a:t>
            </a:r>
          </a:p>
          <a:p>
            <a:pPr algn="ctr">
              <a:spcAft>
                <a:spcPts val="0"/>
              </a:spcAft>
            </a:pPr>
          </a:p>
          <a:p>
            <a:pPr algn="ctr">
              <a:spcAft>
                <a:spcPts val="0"/>
              </a:spcAft>
            </a:pPr>
            <a:r>
              <a:rPr sz="2000">
                <a:solidFill>
                  <a:srgbClr val="C0392B"/>
                </a:solidFill>
              </a:rPr>
              <a:t>MCS Lock</a:t>
            </a:r>
          </a:p>
        </p:txBody>
      </p:sp>
      <p:sp>
        <p:nvSpPr>
          <p:cNvPr id="8" name="TextBox 7"/>
          <p:cNvSpPr txBox="1"/>
          <p:nvPr/>
        </p:nvSpPr>
        <p:spPr>
          <a:xfrm>
            <a:off x="4251960" y="4023360"/>
            <a:ext cx="3657600" cy="2011680"/>
          </a:xfrm>
          <a:prstGeom prst="rect">
            <a:avLst/>
          </a:prstGeom>
          <a:noFill/>
        </p:spPr>
        <p:txBody>
          <a:bodyPr wrap="square">
            <a:spAutoFit/>
          </a:bodyPr>
          <a:lstStyle/>
          <a:p>
            <a:pPr algn="ctr">
              <a:spcAft>
                <a:spcPts val="0"/>
              </a:spcAft>
            </a:pPr>
            <a:r>
              <a:rPr sz="2000"/>
              <a:t>67070501040</a:t>
            </a:r>
          </a:p>
          <a:p>
            <a:pPr algn="ctr">
              <a:spcAft>
                <a:spcPts val="0"/>
              </a:spcAft>
            </a:pPr>
            <a:r>
              <a:rPr sz="2000"/>
              <a:t>Worawut Sereethai</a:t>
            </a:r>
          </a:p>
          <a:p>
            <a:pPr algn="ctr">
              <a:spcAft>
                <a:spcPts val="0"/>
              </a:spcAft>
            </a:pPr>
          </a:p>
          <a:p>
            <a:pPr algn="ctr">
              <a:spcAft>
                <a:spcPts val="0"/>
              </a:spcAft>
            </a:pPr>
            <a:r>
              <a:rPr sz="2000">
                <a:solidFill>
                  <a:srgbClr val="C0392B"/>
                </a:solidFill>
              </a:rPr>
              <a:t>Comparison: Throughput</a:t>
            </a:r>
          </a:p>
        </p:txBody>
      </p:sp>
      <p:sp>
        <p:nvSpPr>
          <p:cNvPr id="9" name="TextBox 8"/>
          <p:cNvSpPr txBox="1"/>
          <p:nvPr/>
        </p:nvSpPr>
        <p:spPr>
          <a:xfrm>
            <a:off x="8046720" y="4023360"/>
            <a:ext cx="3657600" cy="2011680"/>
          </a:xfrm>
          <a:prstGeom prst="rect">
            <a:avLst/>
          </a:prstGeom>
          <a:noFill/>
        </p:spPr>
        <p:txBody>
          <a:bodyPr wrap="square">
            <a:spAutoFit/>
          </a:bodyPr>
          <a:lstStyle/>
          <a:p>
            <a:pPr algn="ctr">
              <a:spcAft>
                <a:spcPts val="0"/>
              </a:spcAft>
            </a:pPr>
            <a:r>
              <a:rPr sz="2000"/>
              <a:t>67070501059</a:t>
            </a:r>
          </a:p>
          <a:p>
            <a:pPr algn="ctr">
              <a:spcAft>
                <a:spcPts val="0"/>
              </a:spcAft>
            </a:pPr>
            <a:r>
              <a:rPr sz="2000"/>
              <a:t>Chanon Lhumsa-ard</a:t>
            </a:r>
          </a:p>
          <a:p>
            <a:pPr algn="ctr">
              <a:spcAft>
                <a:spcPts val="0"/>
              </a:spcAft>
            </a:pPr>
          </a:p>
          <a:p>
            <a:pPr algn="ctr">
              <a:spcAft>
                <a:spcPts val="0"/>
              </a:spcAft>
            </a:pPr>
            <a:r>
              <a:rPr sz="2000">
                <a:solidFill>
                  <a:srgbClr val="C0392B"/>
                </a:solidFill>
              </a:rPr>
              <a:t>Comparison: Summary</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How We Evaluate</a:t>
            </a:r>
          </a:p>
        </p:txBody>
      </p:sp>
      <p:sp>
        <p:nvSpPr>
          <p:cNvPr id="3" name="Text Placeholder 2"/>
          <p:cNvSpPr>
            <a:spLocks noGrp="1"/>
          </p:cNvSpPr>
          <p:nvPr>
            <p:ph type="body" idx="1"/>
          </p:nvPr>
        </p:nvSpPr>
        <p:spPr/>
        <p:txBody>
          <a:bodyPr/>
          <a:lstStyle/>
          <a:p>
            <a:r>
              <a:t>67070501075</a:t>
            </a:r>
          </a:p>
          <a:p>
            <a:r>
              <a:t>Siriwan Yindeephot</a:t>
            </a:r>
          </a:p>
        </p:txBody>
      </p:sp>
      <p:sp>
        <p:nvSpPr>
          <p:cNvPr id="4" name="TextBox 3"/>
          <p:cNvSpPr txBox="1"/>
          <p:nvPr/>
        </p:nvSpPr>
        <p:spPr>
          <a:xfrm>
            <a:off x="11247120" y="6400800"/>
            <a:ext cx="731520" cy="365760"/>
          </a:xfrm>
          <a:prstGeom prst="rect">
            <a:avLst/>
          </a:prstGeom>
          <a:noFill/>
        </p:spPr>
        <p:txBody>
          <a:bodyPr wrap="none">
            <a:spAutoFit/>
          </a:bodyPr>
          <a:lstStyle/>
          <a:p>
            <a:pPr algn="r"/>
            <a:r>
              <a:rPr sz="1200">
                <a:solidFill>
                  <a:srgbClr val="808080"/>
                </a:solidFill>
              </a:rPr>
              <a:t>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Metrics from Lecture 8</a:t>
            </a:r>
          </a:p>
        </p:txBody>
      </p:sp>
      <p:sp>
        <p:nvSpPr>
          <p:cNvPr id="3" name="TextBox 2"/>
          <p:cNvSpPr txBox="1"/>
          <p:nvPr/>
        </p:nvSpPr>
        <p:spPr>
          <a:xfrm>
            <a:off x="11247120" y="6400800"/>
            <a:ext cx="731520" cy="365760"/>
          </a:xfrm>
          <a:prstGeom prst="rect">
            <a:avLst/>
          </a:prstGeom>
          <a:noFill/>
        </p:spPr>
        <p:txBody>
          <a:bodyPr wrap="none">
            <a:spAutoFit/>
          </a:bodyPr>
          <a:lstStyle/>
          <a:p>
            <a:pPr algn="r"/>
            <a:r>
              <a:rPr sz="1200">
                <a:solidFill>
                  <a:srgbClr val="808080"/>
                </a:solidFill>
              </a:rPr>
              <a:t>4</a:t>
            </a:r>
          </a:p>
        </p:txBody>
      </p:sp>
      <p:graphicFrame>
        <p:nvGraphicFramePr>
          <p:cNvPr id="4" name="Table 3"/>
          <p:cNvGraphicFramePr>
            <a:graphicFrameLocks noGrp="1"/>
          </p:cNvGraphicFramePr>
          <p:nvPr/>
        </p:nvGraphicFramePr>
        <p:xfrm>
          <a:off x="548640" y="1554480"/>
          <a:ext cx="11064240" cy="4114800"/>
        </p:xfrm>
        <a:graphic>
          <a:graphicData uri="http://schemas.openxmlformats.org/drawingml/2006/table">
            <a:tbl>
              <a:tblPr firstRow="1" bandRow="1">
                <a:tableStyleId>{5C22544A-7EE6-4342-B048-85BDC9FD1C3A}</a:tableStyleId>
              </a:tblPr>
              <a:tblGrid>
                <a:gridCol w="2377440"/>
                <a:gridCol w="3657600"/>
                <a:gridCol w="5029200"/>
              </a:tblGrid>
              <a:tr h="822960">
                <a:tc>
                  <a:txBody>
                    <a:bodyPr/>
                    <a:lstStyle/>
                    <a:p>
                      <a:r>
                        <a:rPr sz="1600"/>
                        <a:t>Metric (Lecture 8)</a:t>
                      </a:r>
                    </a:p>
                  </a:txBody>
                  <a:tcPr/>
                </a:tc>
                <a:tc>
                  <a:txBody>
                    <a:bodyPr/>
                    <a:lstStyle/>
                    <a:p>
                      <a:r>
                        <a:rPr sz="1600"/>
                        <a:t>Question</a:t>
                      </a:r>
                    </a:p>
                  </a:txBody>
                  <a:tcPr/>
                </a:tc>
                <a:tc>
                  <a:txBody>
                    <a:bodyPr/>
                    <a:lstStyle/>
                    <a:p>
                      <a:r>
                        <a:rPr sz="1600"/>
                        <a:t>What we measure</a:t>
                      </a:r>
                    </a:p>
                  </a:txBody>
                  <a:tcPr/>
                </a:tc>
              </a:tr>
              <a:tr h="822960">
                <a:tc>
                  <a:txBody>
                    <a:bodyPr/>
                    <a:lstStyle/>
                    <a:p>
                      <a:r>
                        <a:rPr sz="1600"/>
                        <a:t>Mutual exclusion</a:t>
                      </a:r>
                    </a:p>
                  </a:txBody>
                  <a:tcPr/>
                </a:tc>
                <a:tc>
                  <a:txBody>
                    <a:bodyPr/>
                    <a:lstStyle/>
                    <a:p>
                      <a:r>
                        <a:rPr sz="1600"/>
                        <a:t>Is only one thread inside at a time?</a:t>
                      </a:r>
                    </a:p>
                  </a:txBody>
                  <a:tcPr/>
                </a:tc>
                <a:tc>
                  <a:txBody>
                    <a:bodyPr/>
                    <a:lstStyle/>
                    <a:p>
                      <a:r>
                        <a:rPr sz="1600"/>
                        <a:t>Shared counter must equal total acquisitions: lost = total − counter, expected 0</a:t>
                      </a:r>
                    </a:p>
                  </a:txBody>
                  <a:tcPr/>
                </a:tc>
              </a:tr>
              <a:tr h="822960">
                <a:tc>
                  <a:txBody>
                    <a:bodyPr/>
                    <a:lstStyle/>
                    <a:p>
                      <a:r>
                        <a:rPr sz="1600"/>
                        <a:t>Absence of deadlock</a:t>
                      </a:r>
                    </a:p>
                  </a:txBody>
                  <a:tcPr/>
                </a:tc>
                <a:tc>
                  <a:txBody>
                    <a:bodyPr/>
                    <a:lstStyle/>
                    <a:p>
                      <a:r>
                        <a:rPr sz="1600"/>
                        <a:t>Does some waiting thread always get in?</a:t>
                      </a:r>
                    </a:p>
                  </a:txBody>
                  <a:tcPr/>
                </a:tc>
                <a:tc>
                  <a:txBody>
                    <a:bodyPr/>
                    <a:lstStyle/>
                    <a:p>
                      <a:r>
                        <a:rPr sz="1600"/>
                        <a:t>Every run must finish when the time is up (a hang would show)</a:t>
                      </a:r>
                    </a:p>
                  </a:txBody>
                  <a:tcPr/>
                </a:tc>
              </a:tr>
              <a:tr h="822960">
                <a:tc>
                  <a:txBody>
                    <a:bodyPr/>
                    <a:lstStyle/>
                    <a:p>
                      <a:r>
                        <a:rPr sz="1600"/>
                        <a:t>Fairness</a:t>
                      </a:r>
                    </a:p>
                  </a:txBody>
                  <a:tcPr/>
                </a:tc>
                <a:tc>
                  <a:txBody>
                    <a:bodyPr/>
                    <a:lstStyle/>
                    <a:p>
                      <a:r>
                        <a:rPr sz="1600"/>
                        <a:t>Does every thread get a fair chance?</a:t>
                      </a:r>
                    </a:p>
                  </a:txBody>
                  <a:tcPr/>
                </a:tc>
                <a:tc>
                  <a:txBody>
                    <a:bodyPr/>
                    <a:lstStyle/>
                    <a:p>
                      <a:r>
                        <a:rPr sz="1600"/>
                        <a:t>Fewest ÷ most acquisitions per thread (1.0 = equal, near 0 = severe imbalance)</a:t>
                      </a:r>
                    </a:p>
                  </a:txBody>
                  <a:tcPr/>
                </a:tc>
              </a:tr>
              <a:tr h="822960">
                <a:tc>
                  <a:txBody>
                    <a:bodyPr/>
                    <a:lstStyle/>
                    <a:p>
                      <a:r>
                        <a:rPr sz="1600"/>
                        <a:t>Performance</a:t>
                      </a:r>
                    </a:p>
                  </a:txBody>
                  <a:tcPr/>
                </a:tc>
                <a:tc>
                  <a:txBody>
                    <a:bodyPr/>
                    <a:lstStyle/>
                    <a:p>
                      <a:r>
                        <a:rPr sz="1600"/>
                        <a:t>How much time does the lock cost?</a:t>
                      </a:r>
                    </a:p>
                  </a:txBody>
                  <a:tcPr/>
                </a:tc>
                <a:tc>
                  <a:txBody>
                    <a:bodyPr/>
                    <a:lstStyle/>
                    <a:p>
                      <a:r>
                        <a:rPr sz="1600"/>
                        <a:t>Acquisitions per second over the measurement window, 1 to 8 threads</a:t>
                      </a:r>
                    </a:p>
                  </a:txBody>
                  <a:tcPr/>
                </a:tc>
              </a:tr>
            </a:tbl>
          </a:graphicData>
        </a:graphic>
      </p:graphicFrame>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Argument vs. Experiment</a:t>
            </a:r>
          </a:p>
        </p:txBody>
      </p:sp>
      <p:sp>
        <p:nvSpPr>
          <p:cNvPr id="3" name="TextBox 2"/>
          <p:cNvSpPr txBox="1"/>
          <p:nvPr/>
        </p:nvSpPr>
        <p:spPr>
          <a:xfrm>
            <a:off x="11247120" y="6400800"/>
            <a:ext cx="731520" cy="365760"/>
          </a:xfrm>
          <a:prstGeom prst="rect">
            <a:avLst/>
          </a:prstGeom>
          <a:noFill/>
        </p:spPr>
        <p:txBody>
          <a:bodyPr wrap="none">
            <a:spAutoFit/>
          </a:bodyPr>
          <a:lstStyle/>
          <a:p>
            <a:pPr algn="r"/>
            <a:r>
              <a:rPr sz="1200">
                <a:solidFill>
                  <a:srgbClr val="808080"/>
                </a:solidFill>
              </a:rPr>
              <a:t>5</a:t>
            </a:r>
          </a:p>
        </p:txBody>
      </p:sp>
      <p:graphicFrame>
        <p:nvGraphicFramePr>
          <p:cNvPr id="4" name="Table 3"/>
          <p:cNvGraphicFramePr>
            <a:graphicFrameLocks noGrp="1"/>
          </p:cNvGraphicFramePr>
          <p:nvPr/>
        </p:nvGraphicFramePr>
        <p:xfrm>
          <a:off x="548640" y="1554480"/>
          <a:ext cx="11064240" cy="2926080"/>
        </p:xfrm>
        <a:graphic>
          <a:graphicData uri="http://schemas.openxmlformats.org/drawingml/2006/table">
            <a:tbl>
              <a:tblPr firstRow="1" bandRow="1">
                <a:tableStyleId>{5C22544A-7EE6-4342-B048-85BDC9FD1C3A}</a:tableStyleId>
              </a:tblPr>
              <a:tblGrid>
                <a:gridCol w="2377440"/>
                <a:gridCol w="4480560"/>
                <a:gridCol w="4206240"/>
              </a:tblGrid>
              <a:tr h="731520">
                <a:tc>
                  <a:txBody>
                    <a:bodyPr/>
                    <a:lstStyle/>
                    <a:p>
                      <a:r>
                        <a:rPr sz="1600"/>
                        <a:t>Property</a:t>
                      </a:r>
                    </a:p>
                  </a:txBody>
                  <a:tcPr/>
                </a:tc>
                <a:tc>
                  <a:txBody>
                    <a:bodyPr/>
                    <a:lstStyle/>
                    <a:p>
                      <a:r>
                        <a:rPr sz="1600"/>
                        <a:t>Argument (why it should hold)</a:t>
                      </a:r>
                    </a:p>
                  </a:txBody>
                  <a:tcPr/>
                </a:tc>
                <a:tc>
                  <a:txBody>
                    <a:bodyPr/>
                    <a:lstStyle/>
                    <a:p>
                      <a:r>
                        <a:rPr sz="1600"/>
                        <a:t>Experiment (what we observed)</a:t>
                      </a:r>
                    </a:p>
                  </a:txBody>
                  <a:tcPr/>
                </a:tc>
              </a:tr>
              <a:tr h="731520">
                <a:tc>
                  <a:txBody>
                    <a:bodyPr/>
                    <a:lstStyle/>
                    <a:p>
                      <a:r>
                        <a:rPr sz="1600"/>
                        <a:t>Mutual exclusion</a:t>
                      </a:r>
                    </a:p>
                  </a:txBody>
                  <a:tcPr/>
                </a:tc>
                <a:tc>
                  <a:txBody>
                    <a:bodyPr/>
                    <a:lstStyle/>
                    <a:p>
                      <a:r>
                        <a:rPr sz="1600"/>
                        <a:t>An invariant: at most one thread is past lock_acquire</a:t>
                      </a:r>
                    </a:p>
                  </a:txBody>
                  <a:tcPr/>
                </a:tc>
                <a:tc>
                  <a:txBody>
                    <a:bodyPr/>
                    <a:lstStyle/>
                    <a:p>
                      <a:r>
                        <a:rPr sz="1600"/>
                        <a:t>No violation observed in 390 runs: lost = 0</a:t>
                      </a:r>
                    </a:p>
                  </a:txBody>
                  <a:tcPr/>
                </a:tc>
              </a:tr>
              <a:tr h="731520">
                <a:tc>
                  <a:txBody>
                    <a:bodyPr/>
                    <a:lstStyle/>
                    <a:p>
                      <a:r>
                        <a:rPr sz="1600"/>
                        <a:t>Absence of deadlock</a:t>
                      </a:r>
                    </a:p>
                  </a:txBody>
                  <a:tcPr/>
                </a:tc>
                <a:tc>
                  <a:txBody>
                    <a:bodyPr/>
                    <a:lstStyle/>
                    <a:p>
                      <a:r>
                        <a:rPr sz="1600"/>
                        <a:t>Some waiting thread can always proceed</a:t>
                      </a:r>
                    </a:p>
                  </a:txBody>
                  <a:tcPr/>
                </a:tc>
                <a:tc>
                  <a:txBody>
                    <a:bodyPr/>
                    <a:lstStyle/>
                    <a:p>
                      <a:r>
                        <a:rPr sz="1600"/>
                        <a:t>No violation observed in 390 runs: every run finished</a:t>
                      </a:r>
                    </a:p>
                  </a:txBody>
                  <a:tcPr/>
                </a:tc>
              </a:tr>
              <a:tr h="731520">
                <a:tc>
                  <a:txBody>
                    <a:bodyPr/>
                    <a:lstStyle/>
                    <a:p>
                      <a:r>
                        <a:rPr sz="1600"/>
                        <a:t>Fairness</a:t>
                      </a:r>
                    </a:p>
                  </a:txBody>
                  <a:tcPr/>
                </a:tc>
                <a:tc>
                  <a:txBody>
                    <a:bodyPr/>
                    <a:lstStyle/>
                    <a:p>
                      <a:r>
                        <a:rPr sz="1600"/>
                        <a:t>Bounded waiting or FIFO order, if the algorithm has it</a:t>
                      </a:r>
                    </a:p>
                  </a:txBody>
                  <a:tcPr/>
                </a:tc>
                <a:tc>
                  <a:txBody>
                    <a:bodyPr/>
                    <a:lstStyle/>
                    <a:p>
                      <a:r>
                        <a:rPr sz="1600"/>
                        <a:t>Acquisition counts per thread in a 1 s window; the scheduler affects them</a:t>
                      </a:r>
                    </a:p>
                  </a:txBody>
                  <a:tcPr/>
                </a:tc>
              </a:tr>
            </a:tbl>
          </a:graphicData>
        </a:graphic>
      </p:graphicFrame>
      <p:sp>
        <p:nvSpPr>
          <p:cNvPr id="5" name="TextBox 4"/>
          <p:cNvSpPr txBox="1"/>
          <p:nvPr/>
        </p:nvSpPr>
        <p:spPr>
          <a:xfrm>
            <a:off x="548640" y="4754880"/>
            <a:ext cx="11064240" cy="1645920"/>
          </a:xfrm>
          <a:prstGeom prst="rect">
            <a:avLst/>
          </a:prstGeom>
          <a:noFill/>
        </p:spPr>
        <p:txBody>
          <a:bodyPr wrap="square">
            <a:spAutoFit/>
          </a:bodyPr>
          <a:lstStyle/>
          <a:p>
            <a:pPr>
              <a:spcAft>
                <a:spcPts val="800"/>
              </a:spcAft>
            </a:pPr>
            <a:r>
              <a:rPr sz="1800"/>
              <a:t>• The arguments assume: sequentially consistent memory (or the right fences), a scheduler that eventually runs every thread, and a holder that calls unlock</a:t>
            </a:r>
          </a:p>
          <a:p>
            <a:pPr>
              <a:spcAft>
                <a:spcPts val="800"/>
              </a:spcAft>
            </a:pPr>
            <a:r>
              <a:rPr sz="1800"/>
              <a:t>• The no-fence Peterson demo is the one build that is expected to fail</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The Benchmark Loop</a:t>
            </a:r>
          </a:p>
        </p:txBody>
      </p:sp>
      <p:sp>
        <p:nvSpPr>
          <p:cNvPr id="3" name="TextBox 2"/>
          <p:cNvSpPr txBox="1"/>
          <p:nvPr/>
        </p:nvSpPr>
        <p:spPr>
          <a:xfrm>
            <a:off x="11247120" y="6400800"/>
            <a:ext cx="731520" cy="365760"/>
          </a:xfrm>
          <a:prstGeom prst="rect">
            <a:avLst/>
          </a:prstGeom>
          <a:noFill/>
        </p:spPr>
        <p:txBody>
          <a:bodyPr wrap="none">
            <a:spAutoFit/>
          </a:bodyPr>
          <a:lstStyle/>
          <a:p>
            <a:pPr algn="r"/>
            <a:r>
              <a:rPr sz="1200">
                <a:solidFill>
                  <a:srgbClr val="808080"/>
                </a:solidFill>
              </a:rPr>
              <a:t>6</a:t>
            </a:r>
          </a:p>
        </p:txBody>
      </p:sp>
      <p:sp>
        <p:nvSpPr>
          <p:cNvPr id="4" name="TextBox 3"/>
          <p:cNvSpPr txBox="1"/>
          <p:nvPr/>
        </p:nvSpPr>
        <p:spPr>
          <a:xfrm>
            <a:off x="548640" y="1554480"/>
            <a:ext cx="4937760" cy="4937760"/>
          </a:xfrm>
          <a:prstGeom prst="rect">
            <a:avLst/>
          </a:prstGeom>
          <a:noFill/>
        </p:spPr>
        <p:txBody>
          <a:bodyPr wrap="square">
            <a:spAutoFit/>
          </a:bodyPr>
          <a:lstStyle/>
          <a:p>
            <a:pPr>
              <a:spcAft>
                <a:spcPts val="800"/>
              </a:spcAft>
            </a:pPr>
            <a:r>
              <a:rPr sz="1900"/>
              <a:t>• All threads start together at a barrier</a:t>
            </a:r>
          </a:p>
          <a:p>
            <a:pPr>
              <a:spcAft>
                <a:spcPts val="800"/>
              </a:spcAft>
            </a:pPr>
            <a:r>
              <a:rPr sz="1900"/>
              <a:t>• Loop until main raises stop after 1 s</a:t>
            </a:r>
          </a:p>
          <a:p>
            <a:pPr>
              <a:spcAft>
                <a:spcPts val="800"/>
              </a:spcAft>
            </a:pPr>
            <a:r>
              <a:rPr sz="1900"/>
              <a:t>• counter is a plain variable: two threads inside together lose an update</a:t>
            </a:r>
          </a:p>
          <a:p>
            <a:pPr>
              <a:spcAft>
                <a:spcPts val="800"/>
              </a:spcAft>
            </a:pPr>
            <a:r>
              <a:rPr sz="1900"/>
              <a:t>• Each thread counts its own acquisitions (n) and timestamps its start and stop</a:t>
            </a:r>
          </a:p>
          <a:p>
            <a:pPr>
              <a:spcAft>
                <a:spcPts val="800"/>
              </a:spcAft>
            </a:pPr>
            <a:r>
              <a:rPr sz="1900"/>
              <a:t>• Window = first thread's start to last thread's stop; creating and joining threads is outside it</a:t>
            </a:r>
          </a:p>
          <a:p>
            <a:pPr>
              <a:spcAft>
                <a:spcPts val="800"/>
              </a:spcAft>
            </a:pPr>
            <a:r>
              <a:rPr sz="1900"/>
              <a:t>• Same loop for every lock: only lock_acquire / lock_release change</a:t>
            </a:r>
          </a:p>
        </p:txBody>
      </p:sp>
      <p:sp>
        <p:nvSpPr>
          <p:cNvPr id="5" name="TextBox 4"/>
          <p:cNvSpPr txBox="1"/>
          <p:nvPr/>
        </p:nvSpPr>
        <p:spPr>
          <a:xfrm>
            <a:off x="5760720" y="1554480"/>
            <a:ext cx="6035040" cy="3291840"/>
          </a:xfrm>
          <a:prstGeom prst="rect">
            <a:avLst/>
          </a:prstGeom>
          <a:solidFill>
            <a:srgbClr val="F4F4F4"/>
          </a:solidFill>
        </p:spPr>
        <p:txBody>
          <a:bodyPr wrap="none">
            <a:spAutoFit/>
          </a:bodyPr>
          <a:lstStyle/>
          <a:p>
            <a:pPr>
              <a:spcAft>
                <a:spcPts val="0"/>
              </a:spcAft>
            </a:pPr>
            <a:r>
              <a:rPr sz="1200">
                <a:latin typeface="Consolas"/>
              </a:rPr>
              <a:t>static void *worker(void *arg)</a:t>
            </a:r>
          </a:p>
          <a:p>
            <a:pPr>
              <a:spcAft>
                <a:spcPts val="0"/>
              </a:spcAft>
            </a:pPr>
            <a:r>
              <a:rPr sz="1200">
                <a:latin typeface="Consolas"/>
              </a:rPr>
              <a:t>{</a:t>
            </a:r>
          </a:p>
          <a:p>
            <a:pPr>
              <a:spcAft>
                <a:spcPts val="0"/>
              </a:spcAft>
            </a:pPr>
            <a:r>
              <a:rPr sz="1200">
                <a:latin typeface="Consolas"/>
              </a:rPr>
              <a:t>    int id = (int)(long)arg;</a:t>
            </a:r>
          </a:p>
          <a:p>
            <a:pPr>
              <a:spcAft>
                <a:spcPts val="0"/>
              </a:spcAft>
            </a:pPr>
            <a:r>
              <a:rPr sz="1200">
                <a:latin typeface="Consolas"/>
              </a:rPr>
              <a:t>    long n = 0;</a:t>
            </a:r>
          </a:p>
          <a:p>
            <a:pPr>
              <a:spcAft>
                <a:spcPts val="0"/>
              </a:spcAft>
            </a:pPr>
          </a:p>
          <a:p>
            <a:pPr>
              <a:spcAft>
                <a:spcPts val="0"/>
              </a:spcAft>
            </a:pPr>
            <a:r>
              <a:rPr sz="1200">
                <a:latin typeface="Consolas"/>
              </a:rPr>
              <a:t>    pthread_barrier_wait(&amp;start);</a:t>
            </a:r>
          </a:p>
          <a:p>
            <a:pPr>
              <a:spcAft>
                <a:spcPts val="0"/>
              </a:spcAft>
            </a:pPr>
            <a:r>
              <a:rPr sz="1200">
                <a:latin typeface="Consolas"/>
              </a:rPr>
              <a:t>    t_begin[id] = now();                /* counting starts here */</a:t>
            </a:r>
          </a:p>
          <a:p>
            <a:pPr>
              <a:spcAft>
                <a:spcPts val="0"/>
              </a:spcAft>
            </a:pPr>
            <a:r>
              <a:rPr sz="1200">
                <a:latin typeface="Consolas"/>
              </a:rPr>
              <a:t>    while (!stop) {</a:t>
            </a:r>
          </a:p>
          <a:p>
            <a:pPr>
              <a:spcAft>
                <a:spcPts val="0"/>
              </a:spcAft>
            </a:pPr>
            <a:r>
              <a:rPr sz="1200">
                <a:latin typeface="Consolas"/>
              </a:rPr>
              <a:t>        lock_acquire(id);</a:t>
            </a:r>
          </a:p>
          <a:p>
            <a:pPr>
              <a:spcAft>
                <a:spcPts val="0"/>
              </a:spcAft>
            </a:pPr>
            <a:r>
              <a:rPr sz="1200">
                <a:latin typeface="Consolas"/>
              </a:rPr>
              <a:t>        counter = counter + 1;          /* critical section */</a:t>
            </a:r>
          </a:p>
          <a:p>
            <a:pPr>
              <a:spcAft>
                <a:spcPts val="0"/>
              </a:spcAft>
            </a:pPr>
            <a:r>
              <a:rPr sz="1200">
                <a:latin typeface="Consolas"/>
              </a:rPr>
              <a:t>        lock_release(id);</a:t>
            </a:r>
          </a:p>
          <a:p>
            <a:pPr>
              <a:spcAft>
                <a:spcPts val="0"/>
              </a:spcAft>
            </a:pPr>
            <a:r>
              <a:rPr sz="1200">
                <a:latin typeface="Consolas"/>
              </a:rPr>
              <a:t>        n++;</a:t>
            </a:r>
          </a:p>
          <a:p>
            <a:pPr>
              <a:spcAft>
                <a:spcPts val="0"/>
              </a:spcAft>
            </a:pPr>
            <a:r>
              <a:rPr sz="1200">
                <a:latin typeface="Consolas"/>
              </a:rPr>
              <a:t>    }</a:t>
            </a:r>
          </a:p>
          <a:p>
            <a:pPr>
              <a:spcAft>
                <a:spcPts val="0"/>
              </a:spcAft>
            </a:pPr>
            <a:r>
              <a:rPr sz="1200">
                <a:latin typeface="Consolas"/>
              </a:rPr>
              <a:t>    t_end[id] = now();                  /* ... and stops here */</a:t>
            </a:r>
          </a:p>
          <a:p>
            <a:pPr>
              <a:spcAft>
                <a:spcPts val="0"/>
              </a:spcAft>
            </a:pPr>
            <a:r>
              <a:rPr sz="1200">
                <a:latin typeface="Consolas"/>
              </a:rPr>
              <a:t>    acquired[id] = n;</a:t>
            </a:r>
          </a:p>
          <a:p>
            <a:pPr>
              <a:spcAft>
                <a:spcPts val="0"/>
              </a:spcAft>
            </a:pPr>
            <a:r>
              <a:rPr sz="1200">
                <a:latin typeface="Consolas"/>
              </a:rPr>
              <a:t>    return NULL;</a:t>
            </a:r>
          </a:p>
          <a:p>
            <a:pPr>
              <a:spcAft>
                <a:spcPts val="0"/>
              </a:spcAft>
            </a:pPr>
            <a:r>
              <a:rPr sz="1200">
                <a:latin typeface="Consolas"/>
              </a:rPr>
              <a:t>}</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Reading One Run</a:t>
            </a:r>
          </a:p>
        </p:txBody>
      </p:sp>
      <p:sp>
        <p:nvSpPr>
          <p:cNvPr id="3" name="TextBox 2"/>
          <p:cNvSpPr txBox="1"/>
          <p:nvPr/>
        </p:nvSpPr>
        <p:spPr>
          <a:xfrm>
            <a:off x="11247120" y="6400800"/>
            <a:ext cx="731520" cy="365760"/>
          </a:xfrm>
          <a:prstGeom prst="rect">
            <a:avLst/>
          </a:prstGeom>
          <a:noFill/>
        </p:spPr>
        <p:txBody>
          <a:bodyPr wrap="none">
            <a:spAutoFit/>
          </a:bodyPr>
          <a:lstStyle/>
          <a:p>
            <a:pPr algn="r"/>
            <a:r>
              <a:rPr sz="1200">
                <a:solidFill>
                  <a:srgbClr val="808080"/>
                </a:solidFill>
              </a:rPr>
              <a:t>7</a:t>
            </a:r>
          </a:p>
        </p:txBody>
      </p:sp>
      <p:sp>
        <p:nvSpPr>
          <p:cNvPr id="4" name="TextBox 3"/>
          <p:cNvSpPr txBox="1"/>
          <p:nvPr/>
        </p:nvSpPr>
        <p:spPr>
          <a:xfrm>
            <a:off x="548640" y="1554480"/>
            <a:ext cx="6035040" cy="1897380"/>
          </a:xfrm>
          <a:prstGeom prst="rect">
            <a:avLst/>
          </a:prstGeom>
          <a:solidFill>
            <a:srgbClr val="F4F4F4"/>
          </a:solidFill>
        </p:spPr>
        <p:txBody>
          <a:bodyPr wrap="none">
            <a:spAutoFit/>
          </a:bodyPr>
          <a:lstStyle/>
          <a:p>
            <a:pPr>
              <a:spcAft>
                <a:spcPts val="0"/>
              </a:spcAft>
            </a:pPr>
            <a:r>
              <a:rPr sz="1250">
                <a:latin typeface="Consolas"/>
              </a:rPr>
              <a:t>--- tas threads=4 all-cpus run 1 ---</a:t>
            </a:r>
          </a:p>
          <a:p>
            <a:pPr>
              <a:spcAft>
                <a:spcPts val="0"/>
              </a:spcAft>
            </a:pPr>
            <a:r>
              <a:rPr sz="1250">
                <a:latin typeface="Consolas"/>
              </a:rPr>
              <a:t>$ bin/tas 4 1</a:t>
            </a:r>
          </a:p>
          <a:p>
            <a:pPr>
              <a:spcAft>
                <a:spcPts val="0"/>
              </a:spcAft>
            </a:pPr>
            <a:r>
              <a:rPr sz="1250">
                <a:latin typeface="Consolas"/>
              </a:rPr>
              <a:t>lock=tas threads=4 cpus=8</a:t>
            </a:r>
          </a:p>
          <a:p>
            <a:pPr>
              <a:spcAft>
                <a:spcPts val="0"/>
              </a:spcAft>
            </a:pPr>
            <a:r>
              <a:rPr sz="1250">
                <a:latin typeface="Consolas"/>
              </a:rPr>
              <a:t>  thread 0: 1049655 acquisitions</a:t>
            </a:r>
          </a:p>
          <a:p>
            <a:pPr>
              <a:spcAft>
                <a:spcPts val="0"/>
              </a:spcAft>
            </a:pPr>
            <a:r>
              <a:rPr sz="1250">
                <a:latin typeface="Consolas"/>
              </a:rPr>
              <a:t>  thread 1: 4181859 acquisitions</a:t>
            </a:r>
          </a:p>
          <a:p>
            <a:pPr>
              <a:spcAft>
                <a:spcPts val="0"/>
              </a:spcAft>
            </a:pPr>
            <a:r>
              <a:rPr sz="1250">
                <a:latin typeface="Consolas"/>
              </a:rPr>
              <a:t>  thread 2: 2232569 acquisitions</a:t>
            </a:r>
          </a:p>
          <a:p>
            <a:pPr>
              <a:spcAft>
                <a:spcPts val="0"/>
              </a:spcAft>
            </a:pPr>
            <a:r>
              <a:rPr sz="1250">
                <a:latin typeface="Consolas"/>
              </a:rPr>
              <a:t>  thread 3: 856272 acquisitions</a:t>
            </a:r>
          </a:p>
          <a:p>
            <a:pPr>
              <a:spcAft>
                <a:spcPts val="0"/>
              </a:spcAft>
            </a:pPr>
            <a:r>
              <a:rPr sz="1250">
                <a:latin typeface="Consolas"/>
              </a:rPr>
              <a:t>total=8320355 counter=8320355 lost=0</a:t>
            </a:r>
          </a:p>
          <a:p>
            <a:pPr>
              <a:spcAft>
                <a:spcPts val="0"/>
              </a:spcAft>
            </a:pPr>
            <a:r>
              <a:rPr sz="1250">
                <a:latin typeface="Consolas"/>
              </a:rPr>
              <a:t>window=1.000 s  throughput=8318015 acq/s  fairness(min/max)=0.205</a:t>
            </a:r>
          </a:p>
        </p:txBody>
      </p:sp>
      <p:sp>
        <p:nvSpPr>
          <p:cNvPr id="5" name="TextBox 4"/>
          <p:cNvSpPr txBox="1"/>
          <p:nvPr/>
        </p:nvSpPr>
        <p:spPr>
          <a:xfrm>
            <a:off x="6858000" y="1554480"/>
            <a:ext cx="4937760" cy="4937760"/>
          </a:xfrm>
          <a:prstGeom prst="rect">
            <a:avLst/>
          </a:prstGeom>
          <a:noFill/>
        </p:spPr>
        <p:txBody>
          <a:bodyPr wrap="square">
            <a:spAutoFit/>
          </a:bodyPr>
          <a:lstStyle/>
          <a:p>
            <a:pPr>
              <a:spcAft>
                <a:spcPts val="800"/>
              </a:spcAft>
            </a:pPr>
            <a:r>
              <a:rPr sz="1800"/>
              <a:t>• Mutual exclusion: total 8,320,355 = counter 8,320,355 → lost = 0</a:t>
            </a:r>
          </a:p>
          <a:p>
            <a:pPr>
              <a:spcAft>
                <a:spcPts val="800"/>
              </a:spcAft>
            </a:pPr>
            <a:r>
              <a:rPr sz="1800"/>
              <a:t>• Absence of deadlock: the run finished</a:t>
            </a:r>
          </a:p>
          <a:p>
            <a:pPr>
              <a:spcAft>
                <a:spcPts val="800"/>
              </a:spcAft>
            </a:pPr>
            <a:r>
              <a:rPr sz="1800"/>
              <a:t>• Fairness: 856,272 ÷ 4,181,859 = 0.205</a:t>
            </a:r>
          </a:p>
          <a:p>
            <a:pPr>
              <a:spcAft>
                <a:spcPts val="800"/>
              </a:spcAft>
            </a:pPr>
            <a:r>
              <a:rPr sz="1800"/>
              <a:t>• Performance: 8.3 M acquisitions per second</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Experiment Setup</a:t>
            </a:r>
          </a:p>
        </p:txBody>
      </p:sp>
      <p:sp>
        <p:nvSpPr>
          <p:cNvPr id="3" name="TextBox 2"/>
          <p:cNvSpPr txBox="1"/>
          <p:nvPr/>
        </p:nvSpPr>
        <p:spPr>
          <a:xfrm>
            <a:off x="11247120" y="6400800"/>
            <a:ext cx="731520" cy="365760"/>
          </a:xfrm>
          <a:prstGeom prst="rect">
            <a:avLst/>
          </a:prstGeom>
          <a:noFill/>
        </p:spPr>
        <p:txBody>
          <a:bodyPr wrap="none">
            <a:spAutoFit/>
          </a:bodyPr>
          <a:lstStyle/>
          <a:p>
            <a:pPr algn="r"/>
            <a:r>
              <a:rPr sz="1200">
                <a:solidFill>
                  <a:srgbClr val="808080"/>
                </a:solidFill>
              </a:rPr>
              <a:t>8</a:t>
            </a:r>
          </a:p>
        </p:txBody>
      </p:sp>
      <p:graphicFrame>
        <p:nvGraphicFramePr>
          <p:cNvPr id="4" name="Table 3"/>
          <p:cNvGraphicFramePr>
            <a:graphicFrameLocks noGrp="1"/>
          </p:cNvGraphicFramePr>
          <p:nvPr/>
        </p:nvGraphicFramePr>
        <p:xfrm>
          <a:off x="548640" y="1554480"/>
          <a:ext cx="6583680" cy="3291839"/>
        </p:xfrm>
        <a:graphic>
          <a:graphicData uri="http://schemas.openxmlformats.org/drawingml/2006/table">
            <a:tbl>
              <a:tblPr firstRow="1" bandRow="1">
                <a:tableStyleId>{5C22544A-7EE6-4342-B048-85BDC9FD1C3A}</a:tableStyleId>
              </a:tblPr>
              <a:tblGrid>
                <a:gridCol w="2743200"/>
                <a:gridCol w="3840480"/>
              </a:tblGrid>
              <a:tr h="548639">
                <a:tc>
                  <a:txBody>
                    <a:bodyPr/>
                    <a:lstStyle/>
                    <a:p>
                      <a:r>
                        <a:rPr sz="1600"/>
                        <a:t>Setting</a:t>
                      </a:r>
                    </a:p>
                  </a:txBody>
                  <a:tcPr/>
                </a:tc>
                <a:tc>
                  <a:txBody>
                    <a:bodyPr/>
                    <a:lstStyle/>
                    <a:p>
                      <a:r>
                        <a:rPr sz="1600"/>
                        <a:t>Values</a:t>
                      </a:r>
                    </a:p>
                  </a:txBody>
                  <a:tcPr/>
                </a:tc>
              </a:tr>
              <a:tr h="548639">
                <a:tc>
                  <a:txBody>
                    <a:bodyPr/>
                    <a:lstStyle/>
                    <a:p>
                      <a:r>
                        <a:rPr sz="1600"/>
                        <a:t>Locks</a:t>
                      </a:r>
                    </a:p>
                  </a:txBody>
                  <a:tcPr/>
                </a:tc>
                <a:tc>
                  <a:txBody>
                    <a:bodyPr/>
                    <a:lstStyle/>
                    <a:p>
                      <a:r>
                        <a:rPr sz="1600"/>
                        <a:t>Peterson, LL/SC, MCS</a:t>
                      </a:r>
                    </a:p>
                  </a:txBody>
                  <a:tcPr/>
                </a:tc>
              </a:tr>
              <a:tr h="548639">
                <a:tc>
                  <a:txBody>
                    <a:bodyPr/>
                    <a:lstStyle/>
                    <a:p>
                      <a:r>
                        <a:rPr sz="1600"/>
                        <a:t>References (Lecture 8)</a:t>
                      </a:r>
                    </a:p>
                  </a:txBody>
                  <a:tcPr/>
                </a:tc>
                <a:tc>
                  <a:txBody>
                    <a:bodyPr/>
                    <a:lstStyle/>
                    <a:p>
                      <a:r>
                        <a:rPr sz="1600"/>
                        <a:t>TAS spin lock, pthread_mutex</a:t>
                      </a:r>
                    </a:p>
                  </a:txBody>
                  <a:tcPr/>
                </a:tc>
              </a:tr>
              <a:tr h="548639">
                <a:tc>
                  <a:txBody>
                    <a:bodyPr/>
                    <a:lstStyle/>
                    <a:p>
                      <a:r>
                        <a:rPr sz="1600"/>
                        <a:t>Threads</a:t>
                      </a:r>
                    </a:p>
                  </a:txBody>
                  <a:tcPr/>
                </a:tc>
                <a:tc>
                  <a:txBody>
                    <a:bodyPr/>
                    <a:lstStyle/>
                    <a:p>
                      <a:r>
                        <a:rPr sz="1600"/>
                        <a:t>1, 2, 4, 8 (Peterson: 1, 2)</a:t>
                      </a:r>
                    </a:p>
                  </a:txBody>
                  <a:tcPr/>
                </a:tc>
              </a:tr>
              <a:tr h="548639">
                <a:tc>
                  <a:txBody>
                    <a:bodyPr/>
                    <a:lstStyle/>
                    <a:p>
                      <a:r>
                        <a:rPr sz="1600"/>
                        <a:t>CPUs</a:t>
                      </a:r>
                    </a:p>
                  </a:txBody>
                  <a:tcPr/>
                </a:tc>
                <a:tc>
                  <a:txBody>
                    <a:bodyPr/>
                    <a:lstStyle/>
                    <a:p>
                      <a:r>
                        <a:rPr sz="1600"/>
                        <a:t>all 8, and one (taskset -c 0)</a:t>
                      </a:r>
                    </a:p>
                  </a:txBody>
                  <a:tcPr/>
                </a:tc>
              </a:tr>
              <a:tr h="548644">
                <a:tc>
                  <a:txBody>
                    <a:bodyPr/>
                    <a:lstStyle/>
                    <a:p>
                      <a:r>
                        <a:rPr sz="1600"/>
                        <a:t>Runs</a:t>
                      </a:r>
                    </a:p>
                  </a:txBody>
                  <a:tcPr/>
                </a:tc>
                <a:tc>
                  <a:txBody>
                    <a:bodyPr/>
                    <a:lstStyle/>
                    <a:p>
                      <a:r>
                        <a:rPr sz="1600"/>
                        <a:t>10 × 1 s per setting, median shown (spread: Run-to-Run slide)</a:t>
                      </a:r>
                    </a:p>
                  </a:txBody>
                  <a:tcPr/>
                </a:tc>
              </a:tr>
            </a:tbl>
          </a:graphicData>
        </a:graphic>
      </p:graphicFrame>
      <p:sp>
        <p:nvSpPr>
          <p:cNvPr id="5" name="TextBox 4"/>
          <p:cNvSpPr txBox="1"/>
          <p:nvPr/>
        </p:nvSpPr>
        <p:spPr>
          <a:xfrm>
            <a:off x="7498079" y="1554480"/>
            <a:ext cx="4297680" cy="4937760"/>
          </a:xfrm>
          <a:prstGeom prst="rect">
            <a:avLst/>
          </a:prstGeom>
          <a:noFill/>
        </p:spPr>
        <p:txBody>
          <a:bodyPr wrap="square">
            <a:spAutoFit/>
          </a:bodyPr>
          <a:lstStyle/>
          <a:p>
            <a:pPr>
              <a:spcAft>
                <a:spcPts val="800"/>
              </a:spcAft>
            </a:pPr>
            <a:r>
              <a:rPr sz="1600"/>
              <a:t>• WSL2 Ubuntu, kernel 6.18.33.2-microsoft-standard-WSL2</a:t>
            </a:r>
          </a:p>
          <a:p>
            <a:pPr>
              <a:spcAft>
                <a:spcPts val="800"/>
              </a:spcAft>
            </a:pPr>
            <a:r>
              <a:rPr sz="1600"/>
              <a:t>• 8 CPUs</a:t>
            </a:r>
          </a:p>
          <a:p>
            <a:pPr>
              <a:spcAft>
                <a:spcPts val="800"/>
              </a:spcAft>
            </a:pPr>
            <a:r>
              <a:rPr sz="1600"/>
              <a:t>• gcc 15.2.0 -O2</a:t>
            </a:r>
          </a:p>
          <a:p>
            <a:pPr>
              <a:spcAft>
                <a:spcPts val="800"/>
              </a:spcAft>
            </a:pPr>
            <a:r>
              <a:rPr sz="1600"/>
              <a:t>• LL/SC on AArch64: qemu-aarch64 10.2.1</a:t>
            </a:r>
          </a:p>
          <a:p>
            <a:pPr>
              <a:spcAft>
                <a:spcPts val="800"/>
              </a:spcAft>
            </a:pPr>
            <a:r>
              <a:rPr sz="1600"/>
              <a:t>• WSL2 vCPUs are scheduled by Windows too, so absolute numbers will differ on other machines</a:t>
            </a:r>
          </a:p>
          <a:p>
            <a:pPr>
              <a:spcAft>
                <a:spcPts val="800"/>
              </a:spcAft>
            </a:pPr>
            <a:r>
              <a:rPr sz="1600"/>
              <a:t>• Tiny critical section, no work outside it, 1 s runs, 10 repetitions: compare locks with each other, not with other machines</a:t>
            </a:r>
          </a:p>
          <a:p>
            <a:pPr>
              <a:spcAft>
                <a:spcPts val="800"/>
              </a:spcAft>
            </a:pPr>
            <a:r>
              <a:rPr sz="1600">
                <a:solidFill>
                  <a:srgbClr val="C0392B"/>
                </a:solidFill>
              </a:rPr>
              <a:t>• One CPU shows what spinning costs when the lock holder cannot run</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Peterson's Algorithm</a:t>
            </a:r>
          </a:p>
        </p:txBody>
      </p:sp>
      <p:sp>
        <p:nvSpPr>
          <p:cNvPr id="3" name="Text Placeholder 2"/>
          <p:cNvSpPr>
            <a:spLocks noGrp="1"/>
          </p:cNvSpPr>
          <p:nvPr>
            <p:ph type="body" idx="1"/>
          </p:nvPr>
        </p:nvSpPr>
        <p:spPr/>
        <p:txBody>
          <a:bodyPr/>
          <a:lstStyle/>
          <a:p>
            <a:r>
              <a:t>67070501018</a:t>
            </a:r>
          </a:p>
          <a:p>
            <a:r>
              <a:t>Tithinan Sobking</a:t>
            </a:r>
          </a:p>
        </p:txBody>
      </p:sp>
      <p:sp>
        <p:nvSpPr>
          <p:cNvPr id="4" name="TextBox 3"/>
          <p:cNvSpPr txBox="1"/>
          <p:nvPr/>
        </p:nvSpPr>
        <p:spPr>
          <a:xfrm>
            <a:off x="11247120" y="6400800"/>
            <a:ext cx="731520" cy="365760"/>
          </a:xfrm>
          <a:prstGeom prst="rect">
            <a:avLst/>
          </a:prstGeom>
          <a:noFill/>
        </p:spPr>
        <p:txBody>
          <a:bodyPr wrap="none">
            <a:spAutoFit/>
          </a:bodyPr>
          <a:lstStyle/>
          <a:p>
            <a:pPr algn="r"/>
            <a:r>
              <a:rPr sz="1200">
                <a:solidFill>
                  <a:srgbClr val="808080"/>
                </a:solidFill>
              </a:rPr>
              <a:t>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Peterson's Algorithm: Idea</a:t>
            </a:r>
          </a:p>
        </p:txBody>
      </p:sp>
      <p:sp>
        <p:nvSpPr>
          <p:cNvPr id="3" name="TextBox 2"/>
          <p:cNvSpPr txBox="1"/>
          <p:nvPr/>
        </p:nvSpPr>
        <p:spPr>
          <a:xfrm>
            <a:off x="11247120" y="6400800"/>
            <a:ext cx="731520" cy="365760"/>
          </a:xfrm>
          <a:prstGeom prst="rect">
            <a:avLst/>
          </a:prstGeom>
          <a:noFill/>
        </p:spPr>
        <p:txBody>
          <a:bodyPr wrap="none">
            <a:spAutoFit/>
          </a:bodyPr>
          <a:lstStyle/>
          <a:p>
            <a:pPr algn="r"/>
            <a:r>
              <a:rPr sz="1200">
                <a:solidFill>
                  <a:srgbClr val="808080"/>
                </a:solidFill>
              </a:rPr>
              <a:t>10</a:t>
            </a:r>
          </a:p>
        </p:txBody>
      </p:sp>
      <p:sp>
        <p:nvSpPr>
          <p:cNvPr id="4" name="TextBox 3"/>
          <p:cNvSpPr txBox="1"/>
          <p:nvPr/>
        </p:nvSpPr>
        <p:spPr>
          <a:xfrm>
            <a:off x="548640" y="1554480"/>
            <a:ext cx="4389120" cy="4937760"/>
          </a:xfrm>
          <a:prstGeom prst="rect">
            <a:avLst/>
          </a:prstGeom>
          <a:noFill/>
        </p:spPr>
        <p:txBody>
          <a:bodyPr wrap="square">
            <a:spAutoFit/>
          </a:bodyPr>
          <a:lstStyle/>
          <a:p>
            <a:pPr>
              <a:spcAft>
                <a:spcPts val="800"/>
              </a:spcAft>
            </a:pPr>
            <a:r>
              <a:rPr sz="2000"/>
              <a:t>• Pure software lock for two threads: only loads and stores</a:t>
            </a:r>
          </a:p>
          <a:p>
            <a:pPr>
              <a:spcAft>
                <a:spcPts val="800"/>
              </a:spcAft>
            </a:pPr>
            <a:r>
              <a:rPr sz="2000"/>
              <a:t>• flag[i] = 1 — “thread i wants to enter”</a:t>
            </a:r>
          </a:p>
          <a:p>
            <a:pPr>
              <a:spcAft>
                <a:spcPts val="800"/>
              </a:spcAft>
            </a:pPr>
            <a:r>
              <a:rPr sz="2000"/>
              <a:t>• turn = other — “you go first”</a:t>
            </a:r>
          </a:p>
          <a:p>
            <a:pPr>
              <a:spcAft>
                <a:spcPts val="800"/>
              </a:spcAft>
            </a:pPr>
            <a:r>
              <a:rPr sz="2000"/>
              <a:t>• Wait while the other wants in and it is the other's turn</a:t>
            </a:r>
          </a:p>
          <a:p>
            <a:pPr>
              <a:spcAft>
                <a:spcPts val="800"/>
              </a:spcAft>
            </a:pPr>
            <a:r>
              <a:rPr sz="2000"/>
              <a:t>• The thread that wrote turn last waits</a:t>
            </a:r>
          </a:p>
          <a:p>
            <a:pPr>
              <a:spcAft>
                <a:spcPts val="800"/>
              </a:spcAft>
            </a:pPr>
            <a:r>
              <a:rPr sz="2000"/>
              <a:t>• Reference build: _Atomic ints, seq_cst; FENCE() is empty there (the seq_cst stores order the loads)</a:t>
            </a:r>
          </a:p>
        </p:txBody>
      </p:sp>
      <p:sp>
        <p:nvSpPr>
          <p:cNvPr id="5" name="TextBox 4"/>
          <p:cNvSpPr txBox="1"/>
          <p:nvPr/>
        </p:nvSpPr>
        <p:spPr>
          <a:xfrm>
            <a:off x="5120640" y="1463040"/>
            <a:ext cx="6675120" cy="3749039"/>
          </a:xfrm>
          <a:prstGeom prst="rect">
            <a:avLst/>
          </a:prstGeom>
          <a:solidFill>
            <a:srgbClr val="F4F4F4"/>
          </a:solidFill>
        </p:spPr>
        <p:txBody>
          <a:bodyPr wrap="none">
            <a:spAutoFit/>
          </a:bodyPr>
          <a:lstStyle/>
          <a:p>
            <a:pPr>
              <a:spcAft>
                <a:spcPts val="0"/>
              </a:spcAft>
            </a:pPr>
            <a:r>
              <a:rPr sz="1300">
                <a:latin typeface="Consolas"/>
              </a:rPr>
              <a:t>typedef _Atomic int shared_t;</a:t>
            </a:r>
          </a:p>
          <a:p>
            <a:pPr>
              <a:spcAft>
                <a:spcPts val="0"/>
              </a:spcAft>
            </a:pPr>
            <a:r>
              <a:rPr sz="1300">
                <a:latin typeface="Consolas"/>
              </a:rPr>
              <a:t>static shared_t flag[2];        /* flag[i] = 1: thread i wants in */</a:t>
            </a:r>
          </a:p>
          <a:p>
            <a:pPr>
              <a:spcAft>
                <a:spcPts val="0"/>
              </a:spcAft>
            </a:pPr>
            <a:r>
              <a:rPr sz="1300">
                <a:latin typeface="Consolas"/>
              </a:rPr>
              <a:t>static shared_t turn;           /* whose turn it is to wait */</a:t>
            </a:r>
          </a:p>
          <a:p>
            <a:pPr>
              <a:spcAft>
                <a:spcPts val="0"/>
              </a:spcAft>
            </a:pPr>
          </a:p>
          <a:p>
            <a:pPr>
              <a:spcAft>
                <a:spcPts val="0"/>
              </a:spcAft>
            </a:pPr>
            <a:r>
              <a:rPr sz="1300">
                <a:latin typeface="Consolas"/>
              </a:rPr>
              <a:t>void lock_acquire(int self)</a:t>
            </a:r>
          </a:p>
          <a:p>
            <a:pPr>
              <a:spcAft>
                <a:spcPts val="0"/>
              </a:spcAft>
            </a:pPr>
            <a:r>
              <a:rPr sz="1300">
                <a:latin typeface="Consolas"/>
              </a:rPr>
              <a:t>{</a:t>
            </a:r>
          </a:p>
          <a:p>
            <a:pPr>
              <a:spcAft>
                <a:spcPts val="0"/>
              </a:spcAft>
            </a:pPr>
            <a:r>
              <a:rPr sz="1300">
                <a:latin typeface="Consolas"/>
              </a:rPr>
              <a:t>    int other = 1 - self;</a:t>
            </a:r>
          </a:p>
          <a:p>
            <a:pPr>
              <a:spcAft>
                <a:spcPts val="0"/>
              </a:spcAft>
            </a:pPr>
            <a:r>
              <a:rPr sz="1300">
                <a:latin typeface="Consolas"/>
              </a:rPr>
              <a:t>    flag[self] = 1;            /* I want to enter ...        */</a:t>
            </a:r>
          </a:p>
          <a:p>
            <a:pPr>
              <a:spcAft>
                <a:spcPts val="0"/>
              </a:spcAft>
            </a:pPr>
            <a:r>
              <a:rPr sz="1300">
                <a:latin typeface="Consolas"/>
              </a:rPr>
              <a:t>    turn = other;              /* ... but you go first       */</a:t>
            </a:r>
          </a:p>
          <a:p>
            <a:pPr>
              <a:spcAft>
                <a:spcPts val="0"/>
              </a:spcAft>
            </a:pPr>
            <a:r>
              <a:rPr sz="1300">
                <a:latin typeface="Consolas"/>
              </a:rPr>
              <a:t>    FENCE();                   /* stores done before the loads */</a:t>
            </a:r>
          </a:p>
          <a:p>
            <a:pPr>
              <a:spcAft>
                <a:spcPts val="0"/>
              </a:spcAft>
            </a:pPr>
            <a:r>
              <a:rPr sz="1300">
                <a:latin typeface="Consolas"/>
              </a:rPr>
              <a:t>    while (flag[other] == 1 &amp;&amp; turn == other)</a:t>
            </a:r>
          </a:p>
          <a:p>
            <a:pPr>
              <a:spcAft>
                <a:spcPts val="0"/>
              </a:spcAft>
            </a:pPr>
            <a:r>
              <a:rPr sz="1300">
                <a:latin typeface="Consolas"/>
              </a:rPr>
              <a:t>        ;                      /* spin: you want in, your turn */</a:t>
            </a:r>
          </a:p>
          <a:p>
            <a:pPr>
              <a:spcAft>
                <a:spcPts val="0"/>
              </a:spcAft>
            </a:pPr>
            <a:r>
              <a:rPr sz="1300">
                <a:latin typeface="Consolas"/>
              </a:rPr>
              <a:t>}</a:t>
            </a:r>
          </a:p>
          <a:p>
            <a:pPr>
              <a:spcAft>
                <a:spcPts val="0"/>
              </a:spcAft>
            </a:pPr>
          </a:p>
          <a:p>
            <a:pPr>
              <a:spcAft>
                <a:spcPts val="0"/>
              </a:spcAft>
            </a:pPr>
            <a:r>
              <a:rPr sz="1300">
                <a:latin typeface="Consolas"/>
              </a:rPr>
              <a:t>void lock_release(int self)</a:t>
            </a:r>
          </a:p>
          <a:p>
            <a:pPr>
              <a:spcAft>
                <a:spcPts val="0"/>
              </a:spcAft>
            </a:pPr>
            <a:r>
              <a:rPr sz="1300">
                <a:latin typeface="Consolas"/>
              </a:rPr>
              <a:t>{</a:t>
            </a:r>
          </a:p>
          <a:p>
            <a:pPr>
              <a:spcAft>
                <a:spcPts val="0"/>
              </a:spcAft>
            </a:pPr>
            <a:r>
              <a:rPr sz="1300">
                <a:latin typeface="Consolas"/>
              </a:rPr>
              <a:t>    flag[self] = 0;</a:t>
            </a:r>
          </a:p>
          <a:p>
            <a:pPr>
              <a:spcAft>
                <a:spcPts val="0"/>
              </a:spcAft>
            </a:pPr>
            <a:r>
              <a:rPr sz="1300">
                <a:latin typeface="Consolas"/>
              </a:rPr>
              <a:t>}</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Peterson: Mutual Exclusion and Deadlock</a:t>
            </a:r>
          </a:p>
        </p:txBody>
      </p:sp>
      <p:sp>
        <p:nvSpPr>
          <p:cNvPr id="3" name="TextBox 2"/>
          <p:cNvSpPr txBox="1"/>
          <p:nvPr/>
        </p:nvSpPr>
        <p:spPr>
          <a:xfrm>
            <a:off x="11247120" y="6400800"/>
            <a:ext cx="731520" cy="365760"/>
          </a:xfrm>
          <a:prstGeom prst="rect">
            <a:avLst/>
          </a:prstGeom>
          <a:noFill/>
        </p:spPr>
        <p:txBody>
          <a:bodyPr wrap="none">
            <a:spAutoFit/>
          </a:bodyPr>
          <a:lstStyle/>
          <a:p>
            <a:pPr algn="r"/>
            <a:r>
              <a:rPr sz="1200">
                <a:solidFill>
                  <a:srgbClr val="808080"/>
                </a:solidFill>
              </a:rPr>
              <a:t>11</a:t>
            </a:r>
          </a:p>
        </p:txBody>
      </p:sp>
      <p:sp>
        <p:nvSpPr>
          <p:cNvPr id="4" name="TextBox 3"/>
          <p:cNvSpPr txBox="1"/>
          <p:nvPr/>
        </p:nvSpPr>
        <p:spPr>
          <a:xfrm>
            <a:off x="640080" y="1417320"/>
            <a:ext cx="10972800" cy="2286000"/>
          </a:xfrm>
          <a:prstGeom prst="rect">
            <a:avLst/>
          </a:prstGeom>
          <a:noFill/>
        </p:spPr>
        <p:txBody>
          <a:bodyPr wrap="square">
            <a:spAutoFit/>
          </a:bodyPr>
          <a:lstStyle/>
          <a:p>
            <a:pPr>
              <a:spcAft>
                <a:spcPts val="800"/>
              </a:spcAft>
            </a:pPr>
            <a:r>
              <a:rPr sz="1700"/>
              <a:t>• Mutual exclusion (assuming sequential consistency): if both were inside, take the thread P that wrote turn last; the other thread's flag[] = 1 came before its own turn write, so P reads flag[other] == 1 and turn == other, and waits — contradiction</a:t>
            </a:r>
          </a:p>
          <a:p>
            <a:pPr>
              <a:spcAft>
                <a:spcPts val="800"/>
              </a:spcAft>
            </a:pPr>
            <a:r>
              <a:rPr sz="1700"/>
              <a:t>• No deadlock: both waiting would need turn == 1 and turn == 0 at once; and the holder must call unlock</a:t>
            </a:r>
          </a:p>
          <a:p>
            <a:pPr>
              <a:spcAft>
                <a:spcPts val="800"/>
              </a:spcAft>
            </a:pPr>
            <a:r>
              <a:rPr sz="1700">
                <a:solidFill>
                  <a:srgbClr val="C0392B"/>
                </a:solidFill>
              </a:rPr>
              <a:t>• x86 lets a load pass an earlier store (store buffer): both can read flag[other] == 0 and both enter. That breaks the assumption, not the logic</a:t>
            </a:r>
          </a:p>
        </p:txBody>
      </p:sp>
      <p:graphicFrame>
        <p:nvGraphicFramePr>
          <p:cNvPr id="5" name="Table 4"/>
          <p:cNvGraphicFramePr>
            <a:graphicFrameLocks noGrp="1"/>
          </p:cNvGraphicFramePr>
          <p:nvPr/>
        </p:nvGraphicFramePr>
        <p:xfrm>
          <a:off x="640080" y="3840480"/>
          <a:ext cx="10972800" cy="2057400"/>
        </p:xfrm>
        <a:graphic>
          <a:graphicData uri="http://schemas.openxmlformats.org/drawingml/2006/table">
            <a:tbl>
              <a:tblPr firstRow="1" bandRow="1">
                <a:tableStyleId>{5C22544A-7EE6-4342-B048-85BDC9FD1C3A}</a:tableStyleId>
              </a:tblPr>
              <a:tblGrid>
                <a:gridCol w="3474720"/>
                <a:gridCol w="1371600"/>
                <a:gridCol w="2926080"/>
                <a:gridCol w="3200400"/>
              </a:tblGrid>
              <a:tr h="411480">
                <a:tc>
                  <a:txBody>
                    <a:bodyPr/>
                    <a:lstStyle/>
                    <a:p>
                      <a:r>
                        <a:rPr sz="1500"/>
                        <a:t>Build (2 threads)</a:t>
                      </a:r>
                    </a:p>
                  </a:txBody>
                  <a:tcPr/>
                </a:tc>
                <a:tc>
                  <a:txBody>
                    <a:bodyPr/>
                    <a:lstStyle/>
                    <a:p>
                      <a:r>
                        <a:rPr sz="1500"/>
                        <a:t>CPUs</a:t>
                      </a:r>
                    </a:p>
                  </a:txBody>
                  <a:tcPr/>
                </a:tc>
                <a:tc>
                  <a:txBody>
                    <a:bodyPr/>
                    <a:lstStyle/>
                    <a:p>
                      <a:r>
                        <a:rPr sz="1500"/>
                        <a:t>Runs with lost updates</a:t>
                      </a:r>
                    </a:p>
                  </a:txBody>
                  <a:tcPr/>
                </a:tc>
                <a:tc>
                  <a:txBody>
                    <a:bodyPr/>
                    <a:lstStyle/>
                    <a:p>
                      <a:r>
                        <a:rPr sz="1500"/>
                        <a:t>Lost updates per run</a:t>
                      </a:r>
                    </a:p>
                  </a:txBody>
                  <a:tcPr/>
                </a:tc>
              </a:tr>
              <a:tr h="411480">
                <a:tc>
                  <a:txBody>
                    <a:bodyPr/>
                    <a:lstStyle/>
                    <a:p>
                      <a:r>
                        <a:rPr sz="1500"/>
                        <a:t>volatile, no fence</a:t>
                      </a:r>
                    </a:p>
                  </a:txBody>
                  <a:tcPr/>
                </a:tc>
                <a:tc>
                  <a:txBody>
                    <a:bodyPr/>
                    <a:lstStyle/>
                    <a:p>
                      <a:r>
                        <a:rPr sz="1500"/>
                        <a:t>all 8</a:t>
                      </a:r>
                    </a:p>
                  </a:txBody>
                  <a:tcPr/>
                </a:tc>
                <a:tc>
                  <a:txBody>
                    <a:bodyPr/>
                    <a:lstStyle/>
                    <a:p>
                      <a:r>
                        <a:rPr sz="1500"/>
                        <a:t>10 / 10</a:t>
                      </a:r>
                    </a:p>
                  </a:txBody>
                  <a:tcPr/>
                </a:tc>
                <a:tc>
                  <a:txBody>
                    <a:bodyPr/>
                    <a:lstStyle/>
                    <a:p>
                      <a:r>
                        <a:rPr sz="1500"/>
                        <a:t>17,178 – 237,149</a:t>
                      </a:r>
                    </a:p>
                  </a:txBody>
                  <a:tcPr/>
                </a:tc>
              </a:tr>
              <a:tr h="411480">
                <a:tc>
                  <a:txBody>
                    <a:bodyPr/>
                    <a:lstStyle/>
                    <a:p>
                      <a:r>
                        <a:rPr sz="1500"/>
                        <a:t>volatile, no fence</a:t>
                      </a:r>
                    </a:p>
                  </a:txBody>
                  <a:tcPr/>
                </a:tc>
                <a:tc>
                  <a:txBody>
                    <a:bodyPr/>
                    <a:lstStyle/>
                    <a:p>
                      <a:r>
                        <a:rPr sz="1500"/>
                        <a:t>one</a:t>
                      </a:r>
                    </a:p>
                  </a:txBody>
                  <a:tcPr/>
                </a:tc>
                <a:tc>
                  <a:txBody>
                    <a:bodyPr/>
                    <a:lstStyle/>
                    <a:p>
                      <a:r>
                        <a:rPr sz="1500"/>
                        <a:t>0 / 10</a:t>
                      </a:r>
                    </a:p>
                  </a:txBody>
                  <a:tcPr/>
                </a:tc>
                <a:tc>
                  <a:txBody>
                    <a:bodyPr/>
                    <a:lstStyle/>
                    <a:p>
                      <a:r>
                        <a:rPr sz="1500"/>
                        <a:t>0</a:t>
                      </a:r>
                    </a:p>
                  </a:txBody>
                  <a:tcPr/>
                </a:tc>
              </a:tr>
              <a:tr h="411480">
                <a:tc>
                  <a:txBody>
                    <a:bodyPr/>
                    <a:lstStyle/>
                    <a:p>
                      <a:r>
                        <a:rPr sz="1500"/>
                        <a:t>volatile + FENCE()</a:t>
                      </a:r>
                    </a:p>
                  </a:txBody>
                  <a:tcPr/>
                </a:tc>
                <a:tc>
                  <a:txBody>
                    <a:bodyPr/>
                    <a:lstStyle/>
                    <a:p>
                      <a:r>
                        <a:rPr sz="1500"/>
                        <a:t>all 8</a:t>
                      </a:r>
                    </a:p>
                  </a:txBody>
                  <a:tcPr/>
                </a:tc>
                <a:tc>
                  <a:txBody>
                    <a:bodyPr/>
                    <a:lstStyle/>
                    <a:p>
                      <a:r>
                        <a:rPr sz="1500"/>
                        <a:t>0 / 10</a:t>
                      </a:r>
                    </a:p>
                  </a:txBody>
                  <a:tcPr/>
                </a:tc>
                <a:tc>
                  <a:txBody>
                    <a:bodyPr/>
                    <a:lstStyle/>
                    <a:p>
                      <a:r>
                        <a:rPr sz="1500"/>
                        <a:t>0</a:t>
                      </a:r>
                    </a:p>
                  </a:txBody>
                  <a:tcPr/>
                </a:tc>
              </a:tr>
              <a:tr h="411480">
                <a:tc>
                  <a:txBody>
                    <a:bodyPr/>
                    <a:lstStyle/>
                    <a:p>
                      <a:r>
                        <a:rPr sz="1500"/>
                        <a:t>_Atomic, seq_cst (reference)</a:t>
                      </a:r>
                    </a:p>
                  </a:txBody>
                  <a:tcPr/>
                </a:tc>
                <a:tc>
                  <a:txBody>
                    <a:bodyPr/>
                    <a:lstStyle/>
                    <a:p>
                      <a:r>
                        <a:rPr sz="1500"/>
                        <a:t>all 8</a:t>
                      </a:r>
                    </a:p>
                  </a:txBody>
                  <a:tcPr/>
                </a:tc>
                <a:tc>
                  <a:txBody>
                    <a:bodyPr/>
                    <a:lstStyle/>
                    <a:p>
                      <a:r>
                        <a:rPr sz="1500"/>
                        <a:t>0 / 10</a:t>
                      </a:r>
                    </a:p>
                  </a:txBody>
                  <a:tcPr/>
                </a:tc>
                <a:tc>
                  <a:txBody>
                    <a:bodyPr/>
                    <a:lstStyle/>
                    <a:p>
                      <a:r>
                        <a:rPr sz="1500"/>
                        <a:t>0</a:t>
                      </a:r>
                    </a:p>
                  </a:txBody>
                  <a:tcPr/>
                </a:tc>
              </a:tr>
            </a:tbl>
          </a:graphicData>
        </a:graphic>
      </p:graphicFrame>
      <p:sp>
        <p:nvSpPr>
          <p:cNvPr id="6" name="TextBox 5"/>
          <p:cNvSpPr txBox="1"/>
          <p:nvPr/>
        </p:nvSpPr>
        <p:spPr>
          <a:xfrm>
            <a:off x="640080" y="5989320"/>
            <a:ext cx="10972800" cy="640080"/>
          </a:xfrm>
          <a:prstGeom prst="rect">
            <a:avLst/>
          </a:prstGeom>
          <a:noFill/>
        </p:spPr>
        <p:txBody>
          <a:bodyPr wrap="square">
            <a:spAutoFit/>
          </a:bodyPr>
          <a:lstStyle/>
          <a:p>
            <a:pPr>
              <a:spcAft>
                <a:spcPts val="800"/>
              </a:spcAft>
            </a:pPr>
            <a:r>
              <a:rPr sz="1400"/>
              <a:t>• FENCE() = lock orq $0x0,(%rsp), a full barrier. The volatile builds are data races in C11: they show GCC on x86 only</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Peterson: Performance</a:t>
            </a:r>
          </a:p>
        </p:txBody>
      </p:sp>
      <p:sp>
        <p:nvSpPr>
          <p:cNvPr id="3" name="TextBox 2"/>
          <p:cNvSpPr txBox="1"/>
          <p:nvPr/>
        </p:nvSpPr>
        <p:spPr>
          <a:xfrm>
            <a:off x="11247120" y="6400800"/>
            <a:ext cx="731520" cy="365760"/>
          </a:xfrm>
          <a:prstGeom prst="rect">
            <a:avLst/>
          </a:prstGeom>
          <a:noFill/>
        </p:spPr>
        <p:txBody>
          <a:bodyPr wrap="none">
            <a:spAutoFit/>
          </a:bodyPr>
          <a:lstStyle/>
          <a:p>
            <a:pPr algn="r"/>
            <a:r>
              <a:rPr sz="1200">
                <a:solidFill>
                  <a:srgbClr val="808080"/>
                </a:solidFill>
              </a:rPr>
              <a:t>12</a:t>
            </a:r>
          </a:p>
        </p:txBody>
      </p:sp>
      <p:graphicFrame>
        <p:nvGraphicFramePr>
          <p:cNvPr id="4" name="Chart 3"/>
          <p:cNvGraphicFramePr>
            <a:graphicFrameLocks noGrp="1"/>
          </p:cNvGraphicFramePr>
          <p:nvPr/>
        </p:nvGraphicFramePr>
        <p:xfrm>
          <a:off x="548640" y="1463040"/>
          <a:ext cx="6035040" cy="4937760"/>
        </p:xfrm>
        <a:graphic>
          <a:graphicData uri="http://schemas.openxmlformats.org/drawingml/2006/chart">
            <c:chart xmlns:c="http://schemas.openxmlformats.org/drawingml/2006/chart" r:id="rId3"/>
          </a:graphicData>
        </a:graphic>
      </p:graphicFrame>
      <p:sp>
        <p:nvSpPr>
          <p:cNvPr id="5" name="TextBox 4"/>
          <p:cNvSpPr txBox="1"/>
          <p:nvPr/>
        </p:nvSpPr>
        <p:spPr>
          <a:xfrm>
            <a:off x="6858000" y="1645920"/>
            <a:ext cx="4937760" cy="4572000"/>
          </a:xfrm>
          <a:prstGeom prst="rect">
            <a:avLst/>
          </a:prstGeom>
          <a:noFill/>
        </p:spPr>
        <p:txBody>
          <a:bodyPr wrap="square">
            <a:spAutoFit/>
          </a:bodyPr>
          <a:lstStyle/>
          <a:p>
            <a:pPr>
              <a:spcAft>
                <a:spcPts val="800"/>
              </a:spcAft>
            </a:pPr>
            <a:r>
              <a:rPr sz="1900"/>
              <a:t>• 1 thread: 36 M acq/s — no contention</a:t>
            </a:r>
          </a:p>
          <a:p>
            <a:pPr>
              <a:spcAft>
                <a:spcPts val="800"/>
              </a:spcAft>
            </a:pPr>
            <a:r>
              <a:rPr sz="1900"/>
              <a:t>• 2 threads, all CPUs: 11 M acq/s — flag and turn move between cores</a:t>
            </a:r>
          </a:p>
          <a:p>
            <a:pPr>
              <a:spcAft>
                <a:spcPts val="800"/>
              </a:spcAft>
            </a:pPr>
            <a:r>
              <a:rPr sz="1900">
                <a:solidFill>
                  <a:srgbClr val="C0392B"/>
                </a:solidFill>
              </a:rPr>
              <a:t>• 2 threads, one CPU: 107 k acq/s — the waiter spins until the scheduler switches</a:t>
            </a:r>
          </a:p>
          <a:p>
            <a:pPr>
              <a:spcAft>
                <a:spcPts val="800"/>
              </a:spcAft>
            </a:pPr>
            <a:r>
              <a:rPr sz="1900"/>
              <a:t>• Busy-waiting costs a whole time slice when the other thread is not running</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Peterson: Fairness and Limitations</a:t>
            </a:r>
          </a:p>
        </p:txBody>
      </p:sp>
      <p:sp>
        <p:nvSpPr>
          <p:cNvPr id="3" name="TextBox 2"/>
          <p:cNvSpPr txBox="1"/>
          <p:nvPr/>
        </p:nvSpPr>
        <p:spPr>
          <a:xfrm>
            <a:off x="11247120" y="6400800"/>
            <a:ext cx="731520" cy="365760"/>
          </a:xfrm>
          <a:prstGeom prst="rect">
            <a:avLst/>
          </a:prstGeom>
          <a:noFill/>
        </p:spPr>
        <p:txBody>
          <a:bodyPr wrap="none">
            <a:spAutoFit/>
          </a:bodyPr>
          <a:lstStyle/>
          <a:p>
            <a:pPr algn="r"/>
            <a:r>
              <a:rPr sz="1200">
                <a:solidFill>
                  <a:srgbClr val="808080"/>
                </a:solidFill>
              </a:rPr>
              <a:t>13</a:t>
            </a:r>
          </a:p>
        </p:txBody>
      </p:sp>
      <p:sp>
        <p:nvSpPr>
          <p:cNvPr id="4" name="TextBox 3"/>
          <p:cNvSpPr txBox="1"/>
          <p:nvPr/>
        </p:nvSpPr>
        <p:spPr>
          <a:xfrm>
            <a:off x="822960" y="1554480"/>
            <a:ext cx="10789920" cy="4937760"/>
          </a:xfrm>
          <a:prstGeom prst="rect">
            <a:avLst/>
          </a:prstGeom>
          <a:noFill/>
        </p:spPr>
        <p:txBody>
          <a:bodyPr wrap="square">
            <a:spAutoFit/>
          </a:bodyPr>
          <a:lstStyle/>
          <a:p>
            <a:pPr>
              <a:spcAft>
                <a:spcPts val="800"/>
              </a:spcAft>
            </a:pPr>
            <a:r>
              <a:rPr sz="2000"/>
              <a:t>• All CPUs, 2 threads: fairness 1.00 — turn gives way to the other thread, so a waiter enters after at most one entry by the other (bounded waiting)</a:t>
            </a:r>
          </a:p>
          <a:p>
            <a:pPr>
              <a:spcAft>
                <a:spcPts val="800"/>
              </a:spcAft>
            </a:pPr>
            <a:r>
              <a:rPr sz="2000"/>
              <a:t>• One CPU, 2 threads: fairness 0.001 (run 1: 126 vs 103,221) — the imbalance comes from the scheduler's time slices; bounded waiting is a property of the algorithm, not of this window</a:t>
            </a:r>
          </a:p>
          <a:p>
            <a:pPr>
              <a:spcAft>
                <a:spcPts val="800"/>
              </a:spcAft>
            </a:pPr>
            <a:r>
              <a:rPr sz="2000"/>
              <a:t>• Limitations:</a:t>
            </a:r>
          </a:p>
          <a:p>
            <a:pPr lvl="1">
              <a:spcAft>
                <a:spcPts val="800"/>
              </a:spcAft>
            </a:pPr>
            <a:r>
              <a:rPr sz="1800"/>
              <a:t>– Two threads only (N threads need a tournament of Peterson locks or the filter lock)</a:t>
            </a:r>
          </a:p>
          <a:p>
            <a:pPr lvl="1">
              <a:spcAft>
                <a:spcPts val="800"/>
              </a:spcAft>
            </a:pPr>
            <a:r>
              <a:rPr sz="1800"/>
              <a:t>– Needs sequential consistency: a full fence on x86 — the textbook volatile version is broken there</a:t>
            </a:r>
          </a:p>
          <a:p>
            <a:pPr lvl="1">
              <a:spcAft>
                <a:spcPts val="800"/>
              </a:spcAft>
            </a:pPr>
            <a:r>
              <a:rPr sz="1800"/>
              <a:t>– Spins instead of sleeping</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Load-Linked / Store-Conditional</a:t>
            </a:r>
          </a:p>
        </p:txBody>
      </p:sp>
      <p:sp>
        <p:nvSpPr>
          <p:cNvPr id="3" name="Text Placeholder 2"/>
          <p:cNvSpPr>
            <a:spLocks noGrp="1"/>
          </p:cNvSpPr>
          <p:nvPr>
            <p:ph type="body" idx="1"/>
          </p:nvPr>
        </p:nvSpPr>
        <p:spPr/>
        <p:txBody>
          <a:bodyPr/>
          <a:lstStyle/>
          <a:p>
            <a:r>
              <a:t>67070501005</a:t>
            </a:r>
          </a:p>
          <a:p>
            <a:r>
              <a:t>Kiatisak Markmeeshap</a:t>
            </a:r>
          </a:p>
        </p:txBody>
      </p:sp>
      <p:sp>
        <p:nvSpPr>
          <p:cNvPr id="4" name="TextBox 3"/>
          <p:cNvSpPr txBox="1"/>
          <p:nvPr/>
        </p:nvSpPr>
        <p:spPr>
          <a:xfrm>
            <a:off x="11247120" y="6400800"/>
            <a:ext cx="731520" cy="365760"/>
          </a:xfrm>
          <a:prstGeom prst="rect">
            <a:avLst/>
          </a:prstGeom>
          <a:noFill/>
        </p:spPr>
        <p:txBody>
          <a:bodyPr wrap="none">
            <a:spAutoFit/>
          </a:bodyPr>
          <a:lstStyle/>
          <a:p>
            <a:pPr algn="r"/>
            <a:r>
              <a:rPr sz="1200">
                <a:solidFill>
                  <a:srgbClr val="808080"/>
                </a:solidFill>
              </a:rPr>
              <a:t>14</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LL/SC: Idea</a:t>
            </a:r>
          </a:p>
        </p:txBody>
      </p:sp>
      <p:sp>
        <p:nvSpPr>
          <p:cNvPr id="3" name="TextBox 2"/>
          <p:cNvSpPr txBox="1"/>
          <p:nvPr/>
        </p:nvSpPr>
        <p:spPr>
          <a:xfrm>
            <a:off x="11247120" y="6400800"/>
            <a:ext cx="731520" cy="365760"/>
          </a:xfrm>
          <a:prstGeom prst="rect">
            <a:avLst/>
          </a:prstGeom>
          <a:noFill/>
        </p:spPr>
        <p:txBody>
          <a:bodyPr wrap="none">
            <a:spAutoFit/>
          </a:bodyPr>
          <a:lstStyle/>
          <a:p>
            <a:pPr algn="r"/>
            <a:r>
              <a:rPr sz="1200">
                <a:solidFill>
                  <a:srgbClr val="808080"/>
                </a:solidFill>
              </a:rPr>
              <a:t>15</a:t>
            </a:r>
          </a:p>
        </p:txBody>
      </p:sp>
      <p:sp>
        <p:nvSpPr>
          <p:cNvPr id="4" name="TextBox 3"/>
          <p:cNvSpPr txBox="1"/>
          <p:nvPr/>
        </p:nvSpPr>
        <p:spPr>
          <a:xfrm>
            <a:off x="548640" y="1554480"/>
            <a:ext cx="4389120" cy="4937760"/>
          </a:xfrm>
          <a:prstGeom prst="rect">
            <a:avLst/>
          </a:prstGeom>
          <a:noFill/>
        </p:spPr>
        <p:txBody>
          <a:bodyPr wrap="square">
            <a:spAutoFit/>
          </a:bodyPr>
          <a:lstStyle/>
          <a:p>
            <a:pPr>
              <a:spcAft>
                <a:spcPts val="800"/>
              </a:spcAft>
            </a:pPr>
            <a:r>
              <a:rPr sz="1900"/>
              <a:t>• LoadLinked(p): load *p and watch the address</a:t>
            </a:r>
          </a:p>
          <a:p>
            <a:pPr>
              <a:spcAft>
                <a:spcPts val="800"/>
              </a:spcAft>
            </a:pPr>
            <a:r>
              <a:rPr sz="1900"/>
              <a:t>• StoreConditional(p, v): store only if nobody stored to p since the LoadLinked</a:t>
            </a:r>
          </a:p>
          <a:p>
            <a:pPr>
              <a:spcAft>
                <a:spcPts val="800"/>
              </a:spcAft>
            </a:pPr>
            <a:r>
              <a:rPr sz="1900"/>
              <a:t>• Lock: spin on LL until 0, then SC 1; if SC fails, start over</a:t>
            </a:r>
          </a:p>
          <a:p>
            <a:pPr>
              <a:spcAft>
                <a:spcPts val="800"/>
              </a:spcAft>
            </a:pPr>
            <a:r>
              <a:rPr sz="1900"/>
              <a:t>• MIPS, Alpha, PowerPC, ARM (AArch64: LDXR/STXR)</a:t>
            </a:r>
          </a:p>
          <a:p>
            <a:pPr>
              <a:spcAft>
                <a:spcPts val="800"/>
              </a:spcAft>
            </a:pPr>
            <a:r>
              <a:rPr sz="1900">
                <a:solidFill>
                  <a:srgbClr val="C0392B"/>
                </a:solidFill>
              </a:rPr>
              <a:t>• x86 has no LL/SC — it offers CAS (lock cmpxchg)</a:t>
            </a:r>
          </a:p>
        </p:txBody>
      </p:sp>
      <p:sp>
        <p:nvSpPr>
          <p:cNvPr id="5" name="TextBox 4"/>
          <p:cNvSpPr txBox="1"/>
          <p:nvPr/>
        </p:nvSpPr>
        <p:spPr>
          <a:xfrm>
            <a:off x="5120640" y="1463040"/>
            <a:ext cx="6675120" cy="4914900"/>
          </a:xfrm>
          <a:prstGeom prst="rect">
            <a:avLst/>
          </a:prstGeom>
          <a:solidFill>
            <a:srgbClr val="F4F4F4"/>
          </a:solidFill>
        </p:spPr>
        <p:txBody>
          <a:bodyPr wrap="none">
            <a:spAutoFit/>
          </a:bodyPr>
          <a:lstStyle/>
          <a:p>
            <a:pPr>
              <a:spcAft>
                <a:spcPts val="0"/>
              </a:spcAft>
            </a:pPr>
            <a:r>
              <a:rPr sz="1150">
                <a:latin typeface="Consolas"/>
              </a:rPr>
              <a:t>static inline int LoadLinked(volatile int *p)</a:t>
            </a:r>
          </a:p>
          <a:p>
            <a:pPr>
              <a:spcAft>
                <a:spcPts val="0"/>
              </a:spcAft>
            </a:pPr>
            <a:r>
              <a:rPr sz="1150">
                <a:latin typeface="Consolas"/>
              </a:rPr>
              <a:t>{</a:t>
            </a:r>
          </a:p>
          <a:p>
            <a:pPr>
              <a:spcAft>
                <a:spcPts val="0"/>
              </a:spcAft>
            </a:pPr>
            <a:r>
              <a:rPr sz="1150">
                <a:latin typeface="Consolas"/>
              </a:rPr>
              <a:t>    int v;</a:t>
            </a:r>
          </a:p>
          <a:p>
            <a:pPr>
              <a:spcAft>
                <a:spcPts val="0"/>
              </a:spcAft>
            </a:pPr>
            <a:r>
              <a:rPr sz="1150">
                <a:latin typeface="Consolas"/>
              </a:rPr>
              <a:t>    __asm__ volatile("ldaxr %w0, [%1]"</a:t>
            </a:r>
          </a:p>
          <a:p>
            <a:pPr>
              <a:spcAft>
                <a:spcPts val="0"/>
              </a:spcAft>
            </a:pPr>
            <a:r>
              <a:rPr sz="1150">
                <a:latin typeface="Consolas"/>
              </a:rPr>
              <a:t>                     : "=r"(v) : "r"(p) : "memory");</a:t>
            </a:r>
          </a:p>
          <a:p>
            <a:pPr>
              <a:spcAft>
                <a:spcPts val="0"/>
              </a:spcAft>
            </a:pPr>
            <a:r>
              <a:rPr sz="1150">
                <a:latin typeface="Consolas"/>
              </a:rPr>
              <a:t>    return v;</a:t>
            </a:r>
          </a:p>
          <a:p>
            <a:pPr>
              <a:spcAft>
                <a:spcPts val="0"/>
              </a:spcAft>
            </a:pPr>
            <a:r>
              <a:rPr sz="1150">
                <a:latin typeface="Consolas"/>
              </a:rPr>
              <a:t>}</a:t>
            </a:r>
          </a:p>
          <a:p>
            <a:pPr>
              <a:spcAft>
                <a:spcPts val="0"/>
              </a:spcAft>
            </a:pPr>
          </a:p>
          <a:p>
            <a:pPr>
              <a:spcAft>
                <a:spcPts val="0"/>
              </a:spcAft>
            </a:pPr>
            <a:r>
              <a:rPr sz="1150">
                <a:latin typeface="Consolas"/>
              </a:rPr>
              <a:t>static inline int StoreConditional(volatile int *p, int v)</a:t>
            </a:r>
          </a:p>
          <a:p>
            <a:pPr>
              <a:spcAft>
                <a:spcPts val="0"/>
              </a:spcAft>
            </a:pPr>
            <a:r>
              <a:rPr sz="1150">
                <a:latin typeface="Consolas"/>
              </a:rPr>
              <a:t>{</a:t>
            </a:r>
          </a:p>
          <a:p>
            <a:pPr>
              <a:spcAft>
                <a:spcPts val="0"/>
              </a:spcAft>
            </a:pPr>
            <a:r>
              <a:rPr sz="1150">
                <a:latin typeface="Consolas"/>
              </a:rPr>
              <a:t>    int fail;                  /* stxr: 0 = stored, 1 = failed */</a:t>
            </a:r>
          </a:p>
          <a:p>
            <a:pPr>
              <a:spcAft>
                <a:spcPts val="0"/>
              </a:spcAft>
            </a:pPr>
            <a:r>
              <a:rPr sz="1150">
                <a:latin typeface="Consolas"/>
              </a:rPr>
              <a:t>    __asm__ volatile("stxr %w0, %w2, [%1]"</a:t>
            </a:r>
          </a:p>
          <a:p>
            <a:pPr>
              <a:spcAft>
                <a:spcPts val="0"/>
              </a:spcAft>
            </a:pPr>
            <a:r>
              <a:rPr sz="1150">
                <a:latin typeface="Consolas"/>
              </a:rPr>
              <a:t>                     : "=&amp;r"(fail) : "r"(p), "r"(v) : "memory");</a:t>
            </a:r>
          </a:p>
          <a:p>
            <a:pPr>
              <a:spcAft>
                <a:spcPts val="0"/>
              </a:spcAft>
            </a:pPr>
            <a:r>
              <a:rPr sz="1150">
                <a:latin typeface="Consolas"/>
              </a:rPr>
              <a:t>    return !fail;</a:t>
            </a:r>
          </a:p>
          <a:p>
            <a:pPr>
              <a:spcAft>
                <a:spcPts val="0"/>
              </a:spcAft>
            </a:pPr>
            <a:r>
              <a:rPr sz="1150">
                <a:latin typeface="Consolas"/>
              </a:rPr>
              <a:t>}</a:t>
            </a:r>
          </a:p>
          <a:p>
            <a:pPr>
              <a:spcAft>
                <a:spcPts val="0"/>
              </a:spcAft>
            </a:pPr>
          </a:p>
          <a:p>
            <a:pPr>
              <a:spcAft>
                <a:spcPts val="0"/>
              </a:spcAft>
            </a:pPr>
            <a:r>
              <a:rPr sz="1150">
                <a:latin typeface="Consolas"/>
              </a:rPr>
              <a:t>void lock_acquire(int id)</a:t>
            </a:r>
          </a:p>
          <a:p>
            <a:pPr>
              <a:spcAft>
                <a:spcPts val="0"/>
              </a:spcAft>
            </a:pPr>
            <a:r>
              <a:rPr sz="1150">
                <a:latin typeface="Consolas"/>
              </a:rPr>
              <a:t>{</a:t>
            </a:r>
          </a:p>
          <a:p>
            <a:pPr>
              <a:spcAft>
                <a:spcPts val="0"/>
              </a:spcAft>
            </a:pPr>
            <a:r>
              <a:rPr sz="1150">
                <a:latin typeface="Consolas"/>
              </a:rPr>
              <a:t>    (void)id;</a:t>
            </a:r>
          </a:p>
          <a:p>
            <a:pPr>
              <a:spcAft>
                <a:spcPts val="0"/>
              </a:spcAft>
            </a:pPr>
            <a:r>
              <a:rPr sz="1150">
                <a:latin typeface="Consolas"/>
              </a:rPr>
              <a:t>    while (1) {</a:t>
            </a:r>
          </a:p>
          <a:p>
            <a:pPr>
              <a:spcAft>
                <a:spcPts val="0"/>
              </a:spcAft>
            </a:pPr>
            <a:r>
              <a:rPr sz="1150">
                <a:latin typeface="Consolas"/>
              </a:rPr>
              <a:t>        while (LoadLinked(&amp;flag))</a:t>
            </a:r>
          </a:p>
          <a:p>
            <a:pPr>
              <a:spcAft>
                <a:spcPts val="0"/>
              </a:spcAft>
            </a:pPr>
            <a:r>
              <a:rPr sz="1150">
                <a:latin typeface="Consolas"/>
              </a:rPr>
              <a:t>            ;                  /* spin until it is zero */</a:t>
            </a:r>
          </a:p>
          <a:p>
            <a:pPr>
              <a:spcAft>
                <a:spcPts val="0"/>
              </a:spcAft>
            </a:pPr>
            <a:r>
              <a:rPr sz="1150">
                <a:latin typeface="Consolas"/>
              </a:rPr>
              <a:t>        if (StoreConditional(&amp;flag, 1))</a:t>
            </a:r>
          </a:p>
          <a:p>
            <a:pPr>
              <a:spcAft>
                <a:spcPts val="0"/>
              </a:spcAft>
            </a:pPr>
            <a:r>
              <a:rPr sz="1150">
                <a:latin typeface="Consolas"/>
              </a:rPr>
              <a:t>            return;            /* no store in between: ours */</a:t>
            </a:r>
          </a:p>
          <a:p>
            <a:pPr>
              <a:spcAft>
                <a:spcPts val="0"/>
              </a:spcAft>
            </a:pPr>
            <a:r>
              <a:rPr sz="1150">
                <a:latin typeface="Consolas"/>
              </a:rPr>
              <a:t>        /* else another thread won: try again */</a:t>
            </a:r>
          </a:p>
          <a:p>
            <a:pPr>
              <a:spcAft>
                <a:spcPts val="0"/>
              </a:spcAft>
            </a:pPr>
            <a:r>
              <a:rPr sz="1150">
                <a:latin typeface="Consolas"/>
              </a:rPr>
              <a:t>    }</a:t>
            </a:r>
          </a:p>
          <a:p>
            <a:pPr>
              <a:spcAft>
                <a:spcPts val="0"/>
              </a:spcAft>
            </a:pPr>
            <a:r>
              <a:rPr sz="1150">
                <a:latin typeface="Consolas"/>
              </a:rPr>
              <a:t>}</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LL/SC: Mutual Exclusion and Deadlock</a:t>
            </a:r>
          </a:p>
        </p:txBody>
      </p:sp>
      <p:sp>
        <p:nvSpPr>
          <p:cNvPr id="3" name="TextBox 2"/>
          <p:cNvSpPr txBox="1"/>
          <p:nvPr/>
        </p:nvSpPr>
        <p:spPr>
          <a:xfrm>
            <a:off x="11247120" y="6400800"/>
            <a:ext cx="731520" cy="365760"/>
          </a:xfrm>
          <a:prstGeom prst="rect">
            <a:avLst/>
          </a:prstGeom>
          <a:noFill/>
        </p:spPr>
        <p:txBody>
          <a:bodyPr wrap="none">
            <a:spAutoFit/>
          </a:bodyPr>
          <a:lstStyle/>
          <a:p>
            <a:pPr algn="r"/>
            <a:r>
              <a:rPr sz="1200">
                <a:solidFill>
                  <a:srgbClr val="808080"/>
                </a:solidFill>
              </a:rPr>
              <a:t>16</a:t>
            </a:r>
          </a:p>
        </p:txBody>
      </p:sp>
      <p:sp>
        <p:nvSpPr>
          <p:cNvPr id="4" name="TextBox 3"/>
          <p:cNvSpPr txBox="1"/>
          <p:nvPr/>
        </p:nvSpPr>
        <p:spPr>
          <a:xfrm>
            <a:off x="822960" y="1463040"/>
            <a:ext cx="5760720" cy="5029200"/>
          </a:xfrm>
          <a:prstGeom prst="rect">
            <a:avLst/>
          </a:prstGeom>
          <a:noFill/>
        </p:spPr>
        <p:txBody>
          <a:bodyPr wrap="square">
            <a:spAutoFit/>
          </a:bodyPr>
          <a:lstStyle/>
          <a:p>
            <a:pPr>
              <a:spcAft>
                <a:spcPts val="800"/>
              </a:spcAft>
            </a:pPr>
            <a:r>
              <a:rPr sz="1900"/>
              <a:t>• Mutual exclusion: two threads may both LL a 0, but the first SC writes the flag, so the second SC fails</a:t>
            </a:r>
          </a:p>
          <a:p>
            <a:pPr>
              <a:spcAft>
                <a:spcPts val="800"/>
              </a:spcAft>
            </a:pPr>
            <a:r>
              <a:rPr sz="1900"/>
              <a:t>• No deadlock: an SC fails only if another store got in (that thread now holds the lock) or spuriously (e.g. an interrupt) — the loop retries</a:t>
            </a:r>
          </a:p>
          <a:p>
            <a:pPr>
              <a:spcAft>
                <a:spcPts val="800"/>
              </a:spcAft>
            </a:pPr>
            <a:r>
              <a:rPr sz="1900"/>
              <a:t>• AArch64 build under qemu-aarch64 10.2.1, 4 threads: no violation observed in 10 / 10 runs (lost = 0, 5,107,705+ acquisitions each)</a:t>
            </a:r>
          </a:p>
        </p:txBody>
      </p:sp>
      <p:sp>
        <p:nvSpPr>
          <p:cNvPr id="5" name="TextBox 4"/>
          <p:cNvSpPr txBox="1"/>
          <p:nvPr/>
        </p:nvSpPr>
        <p:spPr>
          <a:xfrm>
            <a:off x="6858000" y="1554480"/>
            <a:ext cx="4937760" cy="2865120"/>
          </a:xfrm>
          <a:prstGeom prst="rect">
            <a:avLst/>
          </a:prstGeom>
          <a:solidFill>
            <a:srgbClr val="F4F4F4"/>
          </a:solidFill>
        </p:spPr>
        <p:txBody>
          <a:bodyPr wrap="none">
            <a:spAutoFit/>
          </a:bodyPr>
          <a:lstStyle/>
          <a:p>
            <a:pPr>
              <a:spcAft>
                <a:spcPts val="0"/>
              </a:spcAft>
            </a:pPr>
            <a:r>
              <a:rPr sz="1600">
                <a:latin typeface="Consolas"/>
              </a:rPr>
              <a:t>0000000000400bcc &lt;lock_acquire&gt;:</a:t>
            </a:r>
          </a:p>
          <a:p>
            <a:pPr>
              <a:spcAft>
                <a:spcPts val="0"/>
              </a:spcAft>
            </a:pPr>
            <a:r>
              <a:rPr sz="1600">
                <a:latin typeface="Consolas"/>
              </a:rPr>
              <a:t>adrp x1, 4b1000</a:t>
            </a:r>
          </a:p>
          <a:p>
            <a:pPr>
              <a:spcAft>
                <a:spcPts val="0"/>
              </a:spcAft>
            </a:pPr>
            <a:r>
              <a:rPr sz="1600">
                <a:latin typeface="Consolas"/>
              </a:rPr>
              <a:t>add x1, x1, #0xf40</a:t>
            </a:r>
          </a:p>
          <a:p>
            <a:pPr>
              <a:spcAft>
                <a:spcPts val="0"/>
              </a:spcAft>
            </a:pPr>
            <a:r>
              <a:rPr sz="1600">
                <a:latin typeface="Consolas"/>
              </a:rPr>
              <a:t>mov w2, #0x1</a:t>
            </a:r>
          </a:p>
          <a:p>
            <a:pPr>
              <a:spcAft>
                <a:spcPts val="0"/>
              </a:spcAft>
            </a:pPr>
            <a:r>
              <a:rPr sz="1600">
                <a:latin typeface="Consolas"/>
              </a:rPr>
              <a:t>nop</a:t>
            </a:r>
          </a:p>
          <a:p>
            <a:pPr>
              <a:spcAft>
                <a:spcPts val="0"/>
              </a:spcAft>
            </a:pPr>
            <a:r>
              <a:rPr sz="1600">
                <a:latin typeface="Consolas"/>
              </a:rPr>
              <a:t>nop</a:t>
            </a:r>
          </a:p>
          <a:p>
            <a:pPr>
              <a:spcAft>
                <a:spcPts val="0"/>
              </a:spcAft>
            </a:pPr>
            <a:r>
              <a:rPr sz="1600">
                <a:latin typeface="Consolas"/>
              </a:rPr>
              <a:t>ldaxr w0, [x1]</a:t>
            </a:r>
          </a:p>
          <a:p>
            <a:pPr>
              <a:spcAft>
                <a:spcPts val="0"/>
              </a:spcAft>
            </a:pPr>
            <a:r>
              <a:rPr sz="1600">
                <a:latin typeface="Consolas"/>
              </a:rPr>
              <a:t>cbnz w0, 400be0 &lt;lock_acquire+0x14&gt;</a:t>
            </a:r>
          </a:p>
          <a:p>
            <a:pPr>
              <a:spcAft>
                <a:spcPts val="0"/>
              </a:spcAft>
            </a:pPr>
            <a:r>
              <a:rPr sz="1600">
                <a:latin typeface="Consolas"/>
              </a:rPr>
              <a:t>stxr w0, w2, [x1]</a:t>
            </a:r>
          </a:p>
          <a:p>
            <a:pPr>
              <a:spcAft>
                <a:spcPts val="0"/>
              </a:spcAft>
            </a:pPr>
            <a:r>
              <a:rPr sz="1600">
                <a:latin typeface="Consolas"/>
              </a:rPr>
              <a:t>cbnz w0, 400be0 &lt;lock_acquire+0x14&gt;</a:t>
            </a:r>
          </a:p>
          <a:p>
            <a:pPr>
              <a:spcAft>
                <a:spcPts val="0"/>
              </a:spcAft>
            </a:pPr>
            <a:r>
              <a:rPr sz="1600">
                <a:latin typeface="Consolas"/>
              </a:rPr>
              <a:t>ret</a:t>
            </a:r>
          </a:p>
        </p:txBody>
      </p:sp>
      <p:sp>
        <p:nvSpPr>
          <p:cNvPr id="6" name="TextBox 5"/>
          <p:cNvSpPr txBox="1"/>
          <p:nvPr/>
        </p:nvSpPr>
        <p:spPr>
          <a:xfrm>
            <a:off x="6858000" y="4556760"/>
            <a:ext cx="4937760" cy="914400"/>
          </a:xfrm>
          <a:prstGeom prst="rect">
            <a:avLst/>
          </a:prstGeom>
          <a:noFill/>
        </p:spPr>
        <p:txBody>
          <a:bodyPr wrap="square">
            <a:spAutoFit/>
          </a:bodyPr>
          <a:lstStyle/>
          <a:p>
            <a:pPr>
              <a:spcAft>
                <a:spcPts val="800"/>
              </a:spcAft>
            </a:pPr>
            <a:r>
              <a:rPr sz="1500">
                <a:solidFill>
                  <a:srgbClr val="C0392B"/>
                </a:solidFill>
              </a:rPr>
              <a:t>ldaxr = Load-Linked, stxr = Store-Conditional (writes 0 to w0 on success)</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LL/SC: Performance</a:t>
            </a:r>
          </a:p>
        </p:txBody>
      </p:sp>
      <p:sp>
        <p:nvSpPr>
          <p:cNvPr id="3" name="TextBox 2"/>
          <p:cNvSpPr txBox="1"/>
          <p:nvPr/>
        </p:nvSpPr>
        <p:spPr>
          <a:xfrm>
            <a:off x="11247120" y="6400800"/>
            <a:ext cx="731520" cy="365760"/>
          </a:xfrm>
          <a:prstGeom prst="rect">
            <a:avLst/>
          </a:prstGeom>
          <a:noFill/>
        </p:spPr>
        <p:txBody>
          <a:bodyPr wrap="none">
            <a:spAutoFit/>
          </a:bodyPr>
          <a:lstStyle/>
          <a:p>
            <a:pPr algn="r"/>
            <a:r>
              <a:rPr sz="1200">
                <a:solidFill>
                  <a:srgbClr val="808080"/>
                </a:solidFill>
              </a:rPr>
              <a:t>17</a:t>
            </a:r>
          </a:p>
        </p:txBody>
      </p:sp>
      <p:graphicFrame>
        <p:nvGraphicFramePr>
          <p:cNvPr id="4" name="Chart 3"/>
          <p:cNvGraphicFramePr>
            <a:graphicFrameLocks noGrp="1"/>
          </p:cNvGraphicFramePr>
          <p:nvPr/>
        </p:nvGraphicFramePr>
        <p:xfrm>
          <a:off x="548640" y="1463040"/>
          <a:ext cx="6400800" cy="4937760"/>
        </p:xfrm>
        <a:graphic>
          <a:graphicData uri="http://schemas.openxmlformats.org/drawingml/2006/chart">
            <c:chart xmlns:c="http://schemas.openxmlformats.org/drawingml/2006/chart" r:id="rId3"/>
          </a:graphicData>
        </a:graphic>
      </p:graphicFrame>
      <p:sp>
        <p:nvSpPr>
          <p:cNvPr id="5" name="TextBox 4"/>
          <p:cNvSpPr txBox="1"/>
          <p:nvPr/>
        </p:nvSpPr>
        <p:spPr>
          <a:xfrm>
            <a:off x="7223760" y="1554480"/>
            <a:ext cx="4572000" cy="4846320"/>
          </a:xfrm>
          <a:prstGeom prst="rect">
            <a:avLst/>
          </a:prstGeom>
          <a:noFill/>
        </p:spPr>
        <p:txBody>
          <a:bodyPr wrap="square">
            <a:spAutoFit/>
          </a:bodyPr>
          <a:lstStyle/>
          <a:p>
            <a:pPr>
              <a:spcAft>
                <a:spcPts val="800"/>
              </a:spcAft>
            </a:pPr>
            <a:r>
              <a:rPr sz="1800">
                <a:solidFill>
                  <a:srgbClr val="C0392B"/>
                </a:solidFill>
              </a:rPr>
              <a:t>• Timed on x86: a CAS spin lock, NOT hardware LL/SC (qemu speed is meaningless)</a:t>
            </a:r>
          </a:p>
          <a:p>
            <a:pPr>
              <a:spcAft>
                <a:spcPts val="800"/>
              </a:spcAft>
            </a:pPr>
            <a:r>
              <a:rPr sz="1800"/>
              <a:t>• All CPUs: 109 M acq/s with 1 thread → 5.2 M with 8 — every try pulls the flag's cache line</a:t>
            </a:r>
          </a:p>
          <a:p>
            <a:pPr>
              <a:spcAft>
                <a:spcPts val="800"/>
              </a:spcAft>
            </a:pPr>
            <a:r>
              <a:rPr sz="1800"/>
              <a:t>• One CPU, 8 threads: 12 M acq/s</a:t>
            </a:r>
          </a:p>
          <a:p>
            <a:pPr>
              <a:spcAft>
                <a:spcPts val="800"/>
              </a:spcAft>
            </a:pPr>
            <a:r>
              <a:rPr sz="1800"/>
              <a:t>• Waiters only read until the flag looks free, then try once (the LL/SC pair on Arm)</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LL/SC: Fairness and Limitations</a:t>
            </a:r>
          </a:p>
        </p:txBody>
      </p:sp>
      <p:sp>
        <p:nvSpPr>
          <p:cNvPr id="3" name="TextBox 2"/>
          <p:cNvSpPr txBox="1"/>
          <p:nvPr/>
        </p:nvSpPr>
        <p:spPr>
          <a:xfrm>
            <a:off x="11247120" y="6400800"/>
            <a:ext cx="731520" cy="365760"/>
          </a:xfrm>
          <a:prstGeom prst="rect">
            <a:avLst/>
          </a:prstGeom>
          <a:noFill/>
        </p:spPr>
        <p:txBody>
          <a:bodyPr wrap="none">
            <a:spAutoFit/>
          </a:bodyPr>
          <a:lstStyle/>
          <a:p>
            <a:pPr algn="r"/>
            <a:r>
              <a:rPr sz="1200">
                <a:solidFill>
                  <a:srgbClr val="808080"/>
                </a:solidFill>
              </a:rPr>
              <a:t>18</a:t>
            </a:r>
          </a:p>
        </p:txBody>
      </p:sp>
      <p:sp>
        <p:nvSpPr>
          <p:cNvPr id="4" name="TextBox 3"/>
          <p:cNvSpPr txBox="1"/>
          <p:nvPr/>
        </p:nvSpPr>
        <p:spPr>
          <a:xfrm>
            <a:off x="822960" y="1554480"/>
            <a:ext cx="10789920" cy="4937760"/>
          </a:xfrm>
          <a:prstGeom prst="rect">
            <a:avLst/>
          </a:prstGeom>
          <a:noFill/>
        </p:spPr>
        <p:txBody>
          <a:bodyPr wrap="square">
            <a:spAutoFit/>
          </a:bodyPr>
          <a:lstStyle/>
          <a:p>
            <a:pPr>
              <a:spcAft>
                <a:spcPts val="800"/>
              </a:spcAft>
            </a:pPr>
            <a:r>
              <a:rPr sz="2000"/>
              <a:t>• No queue: the first SC to land wins — fairness at 8 threads 0.55 (all CPUs), 0.00 (one CPU; run 1: the unluckiest thread got 1 of 13,150,964)</a:t>
            </a:r>
          </a:p>
          <a:p>
            <a:pPr>
              <a:spcAft>
                <a:spcPts val="800"/>
              </a:spcAft>
            </a:pPr>
            <a:r>
              <a:rPr sz="2000"/>
              <a:t>• A thread preempted while holding the lock makes every other thread spin out its time slice</a:t>
            </a:r>
          </a:p>
          <a:p>
            <a:pPr>
              <a:spcAft>
                <a:spcPts val="800"/>
              </a:spcAft>
            </a:pPr>
            <a:r>
              <a:rPr sz="2000"/>
              <a:t>• Limitations:</a:t>
            </a:r>
          </a:p>
          <a:p>
            <a:pPr lvl="1">
              <a:spcAft>
                <a:spcPts val="800"/>
              </a:spcAft>
            </a:pPr>
            <a:r>
              <a:rPr sz="1800"/>
              <a:t>– Starvation is possible; spins instead of sleeping</a:t>
            </a:r>
          </a:p>
          <a:p>
            <a:pPr lvl="1">
              <a:spcAft>
                <a:spcPts val="800"/>
              </a:spcAft>
            </a:pPr>
            <a:r>
              <a:rPr sz="1800"/>
              <a:t>– Hardware-specific: not on x86; SC may fail spuriously</a:t>
            </a:r>
          </a:p>
          <a:p>
            <a:pPr lvl="1">
              <a:spcAft>
                <a:spcPts val="800"/>
              </a:spcAft>
            </a:pPr>
            <a:r>
              <a:rPr sz="1800"/>
              <a:t>– Little may run between LL and SC, or the reservation is lost</a:t>
            </a:r>
          </a:p>
          <a:p>
            <a:pPr>
              <a:spcAft>
                <a:spcPts val="800"/>
              </a:spcAft>
            </a:pPr>
            <a:r>
              <a:rPr sz="2000"/>
              <a:t>• Advantage over CAS: SC fails on any store, even one that writes back the same value (no ABA problem)</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MCS Lock</a:t>
            </a:r>
          </a:p>
        </p:txBody>
      </p:sp>
      <p:sp>
        <p:nvSpPr>
          <p:cNvPr id="3" name="Text Placeholder 2"/>
          <p:cNvSpPr>
            <a:spLocks noGrp="1"/>
          </p:cNvSpPr>
          <p:nvPr>
            <p:ph type="body" idx="1"/>
          </p:nvPr>
        </p:nvSpPr>
        <p:spPr/>
        <p:txBody>
          <a:bodyPr/>
          <a:lstStyle/>
          <a:p>
            <a:r>
              <a:t>67070501021</a:t>
            </a:r>
          </a:p>
          <a:p>
            <a:r>
              <a:t>Thanaboon Tikaew</a:t>
            </a:r>
          </a:p>
        </p:txBody>
      </p:sp>
      <p:sp>
        <p:nvSpPr>
          <p:cNvPr id="4" name="TextBox 3"/>
          <p:cNvSpPr txBox="1"/>
          <p:nvPr/>
        </p:nvSpPr>
        <p:spPr>
          <a:xfrm>
            <a:off x="11247120" y="6400800"/>
            <a:ext cx="731520" cy="365760"/>
          </a:xfrm>
          <a:prstGeom prst="rect">
            <a:avLst/>
          </a:prstGeom>
          <a:noFill/>
        </p:spPr>
        <p:txBody>
          <a:bodyPr wrap="none">
            <a:spAutoFit/>
          </a:bodyPr>
          <a:lstStyle/>
          <a:p>
            <a:pPr algn="r"/>
            <a:r>
              <a:rPr sz="1200">
                <a:solidFill>
                  <a:srgbClr val="808080"/>
                </a:solidFill>
              </a:rPr>
              <a:t>19</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MCS Lock: Idea</a:t>
            </a:r>
          </a:p>
        </p:txBody>
      </p:sp>
      <p:sp>
        <p:nvSpPr>
          <p:cNvPr id="3" name="TextBox 2"/>
          <p:cNvSpPr txBox="1"/>
          <p:nvPr/>
        </p:nvSpPr>
        <p:spPr>
          <a:xfrm>
            <a:off x="11247120" y="6400800"/>
            <a:ext cx="731520" cy="365760"/>
          </a:xfrm>
          <a:prstGeom prst="rect">
            <a:avLst/>
          </a:prstGeom>
          <a:noFill/>
        </p:spPr>
        <p:txBody>
          <a:bodyPr wrap="none">
            <a:spAutoFit/>
          </a:bodyPr>
          <a:lstStyle/>
          <a:p>
            <a:pPr algn="r"/>
            <a:r>
              <a:rPr sz="1200">
                <a:solidFill>
                  <a:srgbClr val="808080"/>
                </a:solidFill>
              </a:rPr>
              <a:t>20</a:t>
            </a:r>
          </a:p>
        </p:txBody>
      </p:sp>
      <p:sp>
        <p:nvSpPr>
          <p:cNvPr id="4" name="TextBox 3"/>
          <p:cNvSpPr txBox="1"/>
          <p:nvPr/>
        </p:nvSpPr>
        <p:spPr>
          <a:xfrm>
            <a:off x="548640" y="1554480"/>
            <a:ext cx="4389120" cy="4937760"/>
          </a:xfrm>
          <a:prstGeom prst="rect">
            <a:avLst/>
          </a:prstGeom>
          <a:noFill/>
        </p:spPr>
        <p:txBody>
          <a:bodyPr wrap="square">
            <a:spAutoFit/>
          </a:bodyPr>
          <a:lstStyle/>
          <a:p>
            <a:pPr>
              <a:spcAft>
                <a:spcPts val="800"/>
              </a:spcAft>
            </a:pPr>
            <a:r>
              <a:rPr sz="1800"/>
              <a:t>• Mellor-Crummey and Scott, 1991; Dijkstra Prize 2006</a:t>
            </a:r>
          </a:p>
          <a:p>
            <a:pPr>
              <a:spcAft>
                <a:spcPts val="800"/>
              </a:spcAft>
            </a:pPr>
            <a:r>
              <a:rPr sz="1800"/>
              <a:t>• Waiters form a queue: a linked list of nodes, tail points to the last</a:t>
            </a:r>
          </a:p>
          <a:p>
            <a:pPr>
              <a:spcAft>
                <a:spcPts val="800"/>
              </a:spcAft>
            </a:pPr>
            <a:r>
              <a:rPr sz="1800"/>
              <a:t>• Join: one atomic exchange on tail, then link in behind the previous node</a:t>
            </a:r>
          </a:p>
          <a:p>
            <a:pPr>
              <a:spcAft>
                <a:spcPts val="800"/>
              </a:spcAft>
            </a:pPr>
            <a:r>
              <a:rPr sz="1800"/>
              <a:t>• Each thread spins on its OWN node; the one ahead clears it on release</a:t>
            </a:r>
          </a:p>
          <a:p>
            <a:pPr>
              <a:spcAft>
                <a:spcPts val="800"/>
              </a:spcAft>
            </a:pPr>
            <a:r>
              <a:rPr sz="1800">
                <a:solidFill>
                  <a:srgbClr val="C0392B"/>
                </a:solidFill>
              </a:rPr>
              <a:t>• Linux's spinlock (qspinlock, since v4.2) is built on MCS</a:t>
            </a:r>
          </a:p>
        </p:txBody>
      </p:sp>
      <p:sp>
        <p:nvSpPr>
          <p:cNvPr id="5" name="TextBox 4"/>
          <p:cNvSpPr txBox="1"/>
          <p:nvPr/>
        </p:nvSpPr>
        <p:spPr>
          <a:xfrm>
            <a:off x="5120640" y="1463040"/>
            <a:ext cx="6675120" cy="3291840"/>
          </a:xfrm>
          <a:prstGeom prst="rect">
            <a:avLst/>
          </a:prstGeom>
          <a:solidFill>
            <a:srgbClr val="F4F4F4"/>
          </a:solidFill>
        </p:spPr>
        <p:txBody>
          <a:bodyPr wrap="none">
            <a:spAutoFit/>
          </a:bodyPr>
          <a:lstStyle/>
          <a:p>
            <a:pPr>
              <a:spcAft>
                <a:spcPts val="0"/>
              </a:spcAft>
            </a:pPr>
            <a:r>
              <a:rPr sz="1200">
                <a:latin typeface="Consolas"/>
              </a:rPr>
              <a:t>struct node {</a:t>
            </a:r>
          </a:p>
          <a:p>
            <a:pPr>
              <a:spcAft>
                <a:spcPts val="0"/>
              </a:spcAft>
            </a:pPr>
            <a:r>
              <a:rPr sz="1200">
                <a:latin typeface="Consolas"/>
              </a:rPr>
              <a:t>    struct node *next;          /* the thread queued behind me */</a:t>
            </a:r>
          </a:p>
          <a:p>
            <a:pPr>
              <a:spcAft>
                <a:spcPts val="0"/>
              </a:spcAft>
            </a:pPr>
            <a:r>
              <a:rPr sz="1200">
                <a:latin typeface="Consolas"/>
              </a:rPr>
              <a:t>    int locked;                 /* 1 = keep waiting */</a:t>
            </a:r>
          </a:p>
          <a:p>
            <a:pPr>
              <a:spcAft>
                <a:spcPts val="0"/>
              </a:spcAft>
            </a:pPr>
            <a:r>
              <a:rPr sz="1200">
                <a:latin typeface="Consolas"/>
              </a:rPr>
              <a:t>} __attribute__((aligned(64)));  /* one cache line per node */</a:t>
            </a:r>
          </a:p>
          <a:p>
            <a:pPr>
              <a:spcAft>
                <a:spcPts val="0"/>
              </a:spcAft>
            </a:pPr>
          </a:p>
          <a:p>
            <a:pPr>
              <a:spcAft>
                <a:spcPts val="0"/>
              </a:spcAft>
            </a:pPr>
            <a:r>
              <a:rPr sz="1200">
                <a:latin typeface="Consolas"/>
              </a:rPr>
              <a:t>void lock_acquire(int id)</a:t>
            </a:r>
          </a:p>
          <a:p>
            <a:pPr>
              <a:spcAft>
                <a:spcPts val="0"/>
              </a:spcAft>
            </a:pPr>
            <a:r>
              <a:rPr sz="1200">
                <a:latin typeface="Consolas"/>
              </a:rPr>
              <a:t>{</a:t>
            </a:r>
          </a:p>
          <a:p>
            <a:pPr>
              <a:spcAft>
                <a:spcPts val="0"/>
              </a:spcAft>
            </a:pPr>
            <a:r>
              <a:rPr sz="1200">
                <a:latin typeface="Consolas"/>
              </a:rPr>
              <a:t>    struct node *me = &amp;qnode[id];</a:t>
            </a:r>
          </a:p>
          <a:p>
            <a:pPr>
              <a:spcAft>
                <a:spcPts val="0"/>
              </a:spcAft>
            </a:pPr>
            <a:r>
              <a:rPr sz="1200">
                <a:latin typeface="Consolas"/>
              </a:rPr>
              <a:t>    me-&gt;next = NULL;</a:t>
            </a:r>
          </a:p>
          <a:p>
            <a:pPr>
              <a:spcAft>
                <a:spcPts val="0"/>
              </a:spcAft>
            </a:pPr>
            <a:r>
              <a:rPr sz="1200">
                <a:latin typeface="Consolas"/>
              </a:rPr>
              <a:t>    me-&gt;locked = 1;</a:t>
            </a:r>
          </a:p>
          <a:p>
            <a:pPr>
              <a:spcAft>
                <a:spcPts val="0"/>
              </a:spcAft>
            </a:pPr>
            <a:r>
              <a:rPr sz="1200">
                <a:latin typeface="Consolas"/>
              </a:rPr>
              <a:t>    struct node *prev = __atomic_exchange_n(&amp;tail, me, __ATOMIC_ACQ_REL);</a:t>
            </a:r>
          </a:p>
          <a:p>
            <a:pPr>
              <a:spcAft>
                <a:spcPts val="0"/>
              </a:spcAft>
            </a:pPr>
            <a:r>
              <a:rPr sz="1200">
                <a:latin typeface="Consolas"/>
              </a:rPr>
              <a:t>    if (prev != NULL) {         /* queue not empty: */</a:t>
            </a:r>
          </a:p>
          <a:p>
            <a:pPr>
              <a:spcAft>
                <a:spcPts val="0"/>
              </a:spcAft>
            </a:pPr>
            <a:r>
              <a:rPr sz="1200">
                <a:latin typeface="Consolas"/>
              </a:rPr>
              <a:t>        STORE(&amp;prev-&gt;next, me); /* link in behind prev */</a:t>
            </a:r>
          </a:p>
          <a:p>
            <a:pPr>
              <a:spcAft>
                <a:spcPts val="0"/>
              </a:spcAft>
            </a:pPr>
            <a:r>
              <a:rPr sz="1200">
                <a:latin typeface="Consolas"/>
              </a:rPr>
              <a:t>        while (LOAD(&amp;me-&gt;locked))</a:t>
            </a:r>
          </a:p>
          <a:p>
            <a:pPr>
              <a:spcAft>
                <a:spcPts val="0"/>
              </a:spcAft>
            </a:pPr>
            <a:r>
              <a:rPr sz="1200">
                <a:latin typeface="Consolas"/>
              </a:rPr>
              <a:t>            ;                   /* spin on MY node only */</a:t>
            </a:r>
          </a:p>
          <a:p>
            <a:pPr>
              <a:spcAft>
                <a:spcPts val="0"/>
              </a:spcAft>
            </a:pPr>
            <a:r>
              <a:rPr sz="1200">
                <a:latin typeface="Consolas"/>
              </a:rPr>
              <a:t>    }</a:t>
            </a:r>
          </a:p>
          <a:p>
            <a:pPr>
              <a:spcAft>
                <a:spcPts val="0"/>
              </a:spcAft>
            </a:pPr>
            <a:r>
              <a:rPr sz="1200">
                <a:latin typeface="Consolas"/>
              </a:rPr>
              <a:t>}</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MCS: Mutual Exclusion and Deadlock</a:t>
            </a:r>
          </a:p>
        </p:txBody>
      </p:sp>
      <p:sp>
        <p:nvSpPr>
          <p:cNvPr id="3" name="TextBox 2"/>
          <p:cNvSpPr txBox="1"/>
          <p:nvPr/>
        </p:nvSpPr>
        <p:spPr>
          <a:xfrm>
            <a:off x="11247120" y="6400800"/>
            <a:ext cx="731520" cy="365760"/>
          </a:xfrm>
          <a:prstGeom prst="rect">
            <a:avLst/>
          </a:prstGeom>
          <a:noFill/>
        </p:spPr>
        <p:txBody>
          <a:bodyPr wrap="none">
            <a:spAutoFit/>
          </a:bodyPr>
          <a:lstStyle/>
          <a:p>
            <a:pPr algn="r"/>
            <a:r>
              <a:rPr sz="1200">
                <a:solidFill>
                  <a:srgbClr val="808080"/>
                </a:solidFill>
              </a:rPr>
              <a:t>21</a:t>
            </a:r>
          </a:p>
        </p:txBody>
      </p:sp>
      <p:sp>
        <p:nvSpPr>
          <p:cNvPr id="4" name="TextBox 3"/>
          <p:cNvSpPr txBox="1"/>
          <p:nvPr/>
        </p:nvSpPr>
        <p:spPr>
          <a:xfrm>
            <a:off x="548640" y="1554480"/>
            <a:ext cx="4389120" cy="4937760"/>
          </a:xfrm>
          <a:prstGeom prst="rect">
            <a:avLst/>
          </a:prstGeom>
          <a:noFill/>
        </p:spPr>
        <p:txBody>
          <a:bodyPr wrap="square">
            <a:spAutoFit/>
          </a:bodyPr>
          <a:lstStyle/>
          <a:p>
            <a:pPr>
              <a:spcAft>
                <a:spcPts val="800"/>
              </a:spcAft>
            </a:pPr>
            <a:r>
              <a:rPr sz="1700"/>
              <a:t>• Mutual exclusion: the exchange gives every thread one place in one queue; only the head is inside, and it wakes exactly one node</a:t>
            </a:r>
          </a:p>
          <a:p>
            <a:pPr>
              <a:spcAft>
                <a:spcPts val="800"/>
              </a:spcAft>
            </a:pPr>
            <a:r>
              <a:rPr sz="1700"/>
              <a:t>• No deadlock: the holder always hands over — to the next node, or resets tail when nobody waits</a:t>
            </a:r>
          </a:p>
          <a:p>
            <a:pPr>
              <a:spcAft>
                <a:spcPts val="800"/>
              </a:spcAft>
            </a:pPr>
            <a:r>
              <a:rPr sz="1700"/>
              <a:t>• release() waits for a waiter that has swapped tail but not linked in yet</a:t>
            </a:r>
          </a:p>
          <a:p>
            <a:pPr>
              <a:spcAft>
                <a:spcPts val="800"/>
              </a:spcAft>
            </a:pPr>
            <a:r>
              <a:rPr sz="1700"/>
              <a:t>• No violation observed in 80 runs (1–8 threads, all CPUs and one CPU): lost = 0, every run finished</a:t>
            </a:r>
          </a:p>
        </p:txBody>
      </p:sp>
      <p:sp>
        <p:nvSpPr>
          <p:cNvPr id="5" name="TextBox 4"/>
          <p:cNvSpPr txBox="1"/>
          <p:nvPr/>
        </p:nvSpPr>
        <p:spPr>
          <a:xfrm>
            <a:off x="5120640" y="1463040"/>
            <a:ext cx="6675120" cy="2636520"/>
          </a:xfrm>
          <a:prstGeom prst="rect">
            <a:avLst/>
          </a:prstGeom>
          <a:solidFill>
            <a:srgbClr val="F4F4F4"/>
          </a:solidFill>
        </p:spPr>
        <p:txBody>
          <a:bodyPr wrap="none">
            <a:spAutoFit/>
          </a:bodyPr>
          <a:lstStyle/>
          <a:p>
            <a:pPr>
              <a:spcAft>
                <a:spcPts val="0"/>
              </a:spcAft>
            </a:pPr>
            <a:r>
              <a:rPr sz="1150">
                <a:latin typeface="Consolas"/>
              </a:rPr>
              <a:t>void lock_release(int id)</a:t>
            </a:r>
          </a:p>
          <a:p>
            <a:pPr>
              <a:spcAft>
                <a:spcPts val="0"/>
              </a:spcAft>
            </a:pPr>
            <a:r>
              <a:rPr sz="1150">
                <a:latin typeface="Consolas"/>
              </a:rPr>
              <a:t>{</a:t>
            </a:r>
          </a:p>
          <a:p>
            <a:pPr>
              <a:spcAft>
                <a:spcPts val="0"/>
              </a:spcAft>
            </a:pPr>
            <a:r>
              <a:rPr sz="1150">
                <a:latin typeface="Consolas"/>
              </a:rPr>
              <a:t>    struct node *me = &amp;qnode[id];</a:t>
            </a:r>
          </a:p>
          <a:p>
            <a:pPr>
              <a:spcAft>
                <a:spcPts val="0"/>
              </a:spcAft>
            </a:pPr>
            <a:r>
              <a:rPr sz="1150">
                <a:latin typeface="Consolas"/>
              </a:rPr>
              <a:t>    struct node *next = LOAD(&amp;me-&gt;next);</a:t>
            </a:r>
          </a:p>
          <a:p>
            <a:pPr>
              <a:spcAft>
                <a:spcPts val="0"/>
              </a:spcAft>
            </a:pPr>
            <a:r>
              <a:rPr sz="1150">
                <a:latin typeface="Consolas"/>
              </a:rPr>
              <a:t>    if (next == NULL) {</a:t>
            </a:r>
          </a:p>
          <a:p>
            <a:pPr>
              <a:spcAft>
                <a:spcPts val="0"/>
              </a:spcAft>
            </a:pPr>
            <a:r>
              <a:rPr sz="1150">
                <a:latin typeface="Consolas"/>
              </a:rPr>
              <a:t>        struct node *expect = me;</a:t>
            </a:r>
          </a:p>
          <a:p>
            <a:pPr>
              <a:spcAft>
                <a:spcPts val="0"/>
              </a:spcAft>
            </a:pPr>
            <a:r>
              <a:rPr sz="1150">
                <a:latin typeface="Consolas"/>
              </a:rPr>
              <a:t>        if (__atomic_compare_exchange_n(&amp;tail, &amp;expect, NULL, 0,</a:t>
            </a:r>
          </a:p>
          <a:p>
            <a:pPr>
              <a:spcAft>
                <a:spcPts val="0"/>
              </a:spcAft>
            </a:pPr>
            <a:r>
              <a:rPr sz="1150">
                <a:latin typeface="Consolas"/>
              </a:rPr>
              <a:t>                                        __ATOMIC_RELEASE, __ATOMIC_RELAXED))</a:t>
            </a:r>
          </a:p>
          <a:p>
            <a:pPr>
              <a:spcAft>
                <a:spcPts val="0"/>
              </a:spcAft>
            </a:pPr>
            <a:r>
              <a:rPr sz="1150">
                <a:latin typeface="Consolas"/>
              </a:rPr>
              <a:t>            return;             /* nobody waiting: lock is free */</a:t>
            </a:r>
          </a:p>
          <a:p>
            <a:pPr>
              <a:spcAft>
                <a:spcPts val="0"/>
              </a:spcAft>
            </a:pPr>
            <a:r>
              <a:rPr sz="1150">
                <a:latin typeface="Consolas"/>
              </a:rPr>
              <a:t>        while ((next = LOAD(&amp;me-&gt;next)) == NULL)</a:t>
            </a:r>
          </a:p>
          <a:p>
            <a:pPr>
              <a:spcAft>
                <a:spcPts val="0"/>
              </a:spcAft>
            </a:pPr>
            <a:r>
              <a:rPr sz="1150">
                <a:latin typeface="Consolas"/>
              </a:rPr>
              <a:t>            ;                   /* a waiter is still linking in */</a:t>
            </a:r>
          </a:p>
          <a:p>
            <a:pPr>
              <a:spcAft>
                <a:spcPts val="0"/>
              </a:spcAft>
            </a:pPr>
            <a:r>
              <a:rPr sz="1150">
                <a:latin typeface="Consolas"/>
              </a:rPr>
              <a:t>    }</a:t>
            </a:r>
          </a:p>
          <a:p>
            <a:pPr>
              <a:spcAft>
                <a:spcPts val="0"/>
              </a:spcAft>
            </a:pPr>
            <a:r>
              <a:rPr sz="1150">
                <a:latin typeface="Consolas"/>
              </a:rPr>
              <a:t>    STORE(&amp;next-&gt;locked, 0);    /* hand the lock to the next thread */</a:t>
            </a:r>
          </a:p>
          <a:p>
            <a:pPr>
              <a:spcAft>
                <a:spcPts val="0"/>
              </a:spcAft>
            </a:pPr>
            <a:r>
              <a:rPr sz="1150">
                <a:latin typeface="Consolas"/>
              </a:rPr>
              <a:t>}</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MCS: Performance</a:t>
            </a:r>
          </a:p>
        </p:txBody>
      </p:sp>
      <p:sp>
        <p:nvSpPr>
          <p:cNvPr id="3" name="TextBox 2"/>
          <p:cNvSpPr txBox="1"/>
          <p:nvPr/>
        </p:nvSpPr>
        <p:spPr>
          <a:xfrm>
            <a:off x="11247120" y="6400800"/>
            <a:ext cx="731520" cy="365760"/>
          </a:xfrm>
          <a:prstGeom prst="rect">
            <a:avLst/>
          </a:prstGeom>
          <a:noFill/>
        </p:spPr>
        <p:txBody>
          <a:bodyPr wrap="none">
            <a:spAutoFit/>
          </a:bodyPr>
          <a:lstStyle/>
          <a:p>
            <a:pPr algn="r"/>
            <a:r>
              <a:rPr sz="1200">
                <a:solidFill>
                  <a:srgbClr val="808080"/>
                </a:solidFill>
              </a:rPr>
              <a:t>22</a:t>
            </a:r>
          </a:p>
        </p:txBody>
      </p:sp>
      <p:graphicFrame>
        <p:nvGraphicFramePr>
          <p:cNvPr id="4" name="Chart 3"/>
          <p:cNvGraphicFramePr>
            <a:graphicFrameLocks noGrp="1"/>
          </p:cNvGraphicFramePr>
          <p:nvPr/>
        </p:nvGraphicFramePr>
        <p:xfrm>
          <a:off x="548640" y="1463040"/>
          <a:ext cx="6400800" cy="4937760"/>
        </p:xfrm>
        <a:graphic>
          <a:graphicData uri="http://schemas.openxmlformats.org/drawingml/2006/chart">
            <c:chart xmlns:c="http://schemas.openxmlformats.org/drawingml/2006/chart" r:id="rId3"/>
          </a:graphicData>
        </a:graphic>
      </p:graphicFrame>
      <p:sp>
        <p:nvSpPr>
          <p:cNvPr id="5" name="TextBox 4"/>
          <p:cNvSpPr txBox="1"/>
          <p:nvPr/>
        </p:nvSpPr>
        <p:spPr>
          <a:xfrm>
            <a:off x="7223760" y="1554480"/>
            <a:ext cx="4572000" cy="4846320"/>
          </a:xfrm>
          <a:prstGeom prst="rect">
            <a:avLst/>
          </a:prstGeom>
          <a:noFill/>
        </p:spPr>
        <p:txBody>
          <a:bodyPr wrap="square">
            <a:spAutoFit/>
          </a:bodyPr>
          <a:lstStyle/>
          <a:p>
            <a:pPr>
              <a:spcAft>
                <a:spcPts val="800"/>
              </a:spcAft>
            </a:pPr>
            <a:r>
              <a:rPr sz="1800"/>
              <a:t>• Each waiter spins on its own cache line; a handover touches one line</a:t>
            </a:r>
          </a:p>
          <a:p>
            <a:pPr>
              <a:spcAft>
                <a:spcPts val="800"/>
              </a:spcAft>
            </a:pPr>
            <a:r>
              <a:rPr sz="1800"/>
              <a:t>• All CPUs, 8 threads: 309 k acq/s (TAS: 5.0 M)</a:t>
            </a:r>
          </a:p>
          <a:p>
            <a:pPr>
              <a:spcAft>
                <a:spcPts val="800"/>
              </a:spcAft>
            </a:pPr>
            <a:r>
              <a:rPr sz="1800">
                <a:solidFill>
                  <a:srgbClr val="C0392B"/>
                </a:solidFill>
              </a:rPr>
              <a:t>• One CPU, 8 threads: 262 k acq/s — the next in the queue is not running</a:t>
            </a:r>
          </a:p>
          <a:p>
            <a:pPr>
              <a:spcAft>
                <a:spcPts val="800"/>
              </a:spcAft>
            </a:pPr>
            <a:r>
              <a:rPr sz="1800"/>
              <a:t>• In the kernel, spinlocks run with preemption disabled, so a queued waiter is never descheduled</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MCS: Fairness and Limitations</a:t>
            </a:r>
          </a:p>
        </p:txBody>
      </p:sp>
      <p:sp>
        <p:nvSpPr>
          <p:cNvPr id="3" name="TextBox 2"/>
          <p:cNvSpPr txBox="1"/>
          <p:nvPr/>
        </p:nvSpPr>
        <p:spPr>
          <a:xfrm>
            <a:off x="11247120" y="6400800"/>
            <a:ext cx="731520" cy="365760"/>
          </a:xfrm>
          <a:prstGeom prst="rect">
            <a:avLst/>
          </a:prstGeom>
          <a:noFill/>
        </p:spPr>
        <p:txBody>
          <a:bodyPr wrap="none">
            <a:spAutoFit/>
          </a:bodyPr>
          <a:lstStyle/>
          <a:p>
            <a:pPr algn="r"/>
            <a:r>
              <a:rPr sz="1200">
                <a:solidFill>
                  <a:srgbClr val="808080"/>
                </a:solidFill>
              </a:rPr>
              <a:t>23</a:t>
            </a:r>
          </a:p>
        </p:txBody>
      </p:sp>
      <p:sp>
        <p:nvSpPr>
          <p:cNvPr id="4" name="TextBox 3"/>
          <p:cNvSpPr txBox="1"/>
          <p:nvPr/>
        </p:nvSpPr>
        <p:spPr>
          <a:xfrm>
            <a:off x="822960" y="1554480"/>
            <a:ext cx="10789920" cy="4937760"/>
          </a:xfrm>
          <a:prstGeom prst="rect">
            <a:avLst/>
          </a:prstGeom>
          <a:noFill/>
        </p:spPr>
        <p:txBody>
          <a:bodyPr wrap="square">
            <a:spAutoFit/>
          </a:bodyPr>
          <a:lstStyle/>
          <a:p>
            <a:pPr>
              <a:spcAft>
                <a:spcPts val="800"/>
              </a:spcAft>
            </a:pPr>
            <a:r>
              <a:rPr sz="2000"/>
              <a:t>• First-come, first-served through the queue: fairness 1.00 / 1.00 / 0.96 at 2/4/8 threads (all CPUs) — the fairest lock at 8 threads</a:t>
            </a:r>
          </a:p>
          <a:p>
            <a:pPr>
              <a:spcAft>
                <a:spcPts val="800"/>
              </a:spcAft>
            </a:pPr>
            <a:r>
              <a:rPr sz="2000"/>
              <a:t>• Limitations:</a:t>
            </a:r>
          </a:p>
          <a:p>
            <a:pPr lvl="1">
              <a:spcAft>
                <a:spcPts val="800"/>
              </a:spcAft>
            </a:pPr>
            <a:r>
              <a:rPr sz="1800"/>
              <a:t>– Needs an atomic exchange (and CAS for release) from the hardware</a:t>
            </a:r>
          </a:p>
          <a:p>
            <a:pPr lvl="1">
              <a:spcAft>
                <a:spcPts val="800"/>
              </a:spcAft>
            </a:pPr>
            <a:r>
              <a:rPr sz="1800"/>
              <a:t>– One queue node per waiting thread, passed in or kept per thread</a:t>
            </a:r>
          </a:p>
          <a:p>
            <a:pPr lvl="1">
              <a:spcAft>
                <a:spcPts val="800"/>
              </a:spcAft>
            </a:pPr>
            <a:r>
              <a:rPr sz="1800"/>
              <a:t>– A preempted waiter stalls everyone behind it — the kernel disables preemption</a:t>
            </a:r>
          </a:p>
          <a:p>
            <a:pPr lvl="1">
              <a:spcAft>
                <a:spcPts val="800"/>
              </a:spcAft>
            </a:pPr>
            <a:r>
              <a:rPr sz="1800"/>
              <a:t>– On one CPU here: 262 k acq/s at 8 threads, fairness 0.00 (run 1: 10 vs 146,478) — the scheduler, not the queue order</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Comparison: Throughput</a:t>
            </a:r>
          </a:p>
        </p:txBody>
      </p:sp>
      <p:sp>
        <p:nvSpPr>
          <p:cNvPr id="3" name="Text Placeholder 2"/>
          <p:cNvSpPr>
            <a:spLocks noGrp="1"/>
          </p:cNvSpPr>
          <p:nvPr>
            <p:ph type="body" idx="1"/>
          </p:nvPr>
        </p:nvSpPr>
        <p:spPr/>
        <p:txBody>
          <a:bodyPr/>
          <a:lstStyle/>
          <a:p>
            <a:r>
              <a:t>67070501040</a:t>
            </a:r>
          </a:p>
          <a:p>
            <a:r>
              <a:t>Worawut Sereethai</a:t>
            </a:r>
          </a:p>
        </p:txBody>
      </p:sp>
      <p:sp>
        <p:nvSpPr>
          <p:cNvPr id="4" name="TextBox 3"/>
          <p:cNvSpPr txBox="1"/>
          <p:nvPr/>
        </p:nvSpPr>
        <p:spPr>
          <a:xfrm>
            <a:off x="11247120" y="6400800"/>
            <a:ext cx="731520" cy="365760"/>
          </a:xfrm>
          <a:prstGeom prst="rect">
            <a:avLst/>
          </a:prstGeom>
          <a:noFill/>
        </p:spPr>
        <p:txBody>
          <a:bodyPr wrap="none">
            <a:spAutoFit/>
          </a:bodyPr>
          <a:lstStyle/>
          <a:p>
            <a:pPr algn="r"/>
            <a:r>
              <a:rPr sz="1200">
                <a:solidFill>
                  <a:srgbClr val="808080"/>
                </a:solidFill>
              </a:rPr>
              <a:t>24</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Throughput on All 8 CPUs</a:t>
            </a:r>
          </a:p>
        </p:txBody>
      </p:sp>
      <p:sp>
        <p:nvSpPr>
          <p:cNvPr id="3" name="TextBox 2"/>
          <p:cNvSpPr txBox="1"/>
          <p:nvPr/>
        </p:nvSpPr>
        <p:spPr>
          <a:xfrm>
            <a:off x="11247120" y="6400800"/>
            <a:ext cx="731520" cy="365760"/>
          </a:xfrm>
          <a:prstGeom prst="rect">
            <a:avLst/>
          </a:prstGeom>
          <a:noFill/>
        </p:spPr>
        <p:txBody>
          <a:bodyPr wrap="none">
            <a:spAutoFit/>
          </a:bodyPr>
          <a:lstStyle/>
          <a:p>
            <a:pPr algn="r"/>
            <a:r>
              <a:rPr sz="1200">
                <a:solidFill>
                  <a:srgbClr val="808080"/>
                </a:solidFill>
              </a:rPr>
              <a:t>25</a:t>
            </a:r>
          </a:p>
        </p:txBody>
      </p:sp>
      <p:graphicFrame>
        <p:nvGraphicFramePr>
          <p:cNvPr id="4" name="Chart 3"/>
          <p:cNvGraphicFramePr>
            <a:graphicFrameLocks noGrp="1"/>
          </p:cNvGraphicFramePr>
          <p:nvPr/>
        </p:nvGraphicFramePr>
        <p:xfrm>
          <a:off x="457200" y="1371600"/>
          <a:ext cx="6949440" cy="5120640"/>
        </p:xfrm>
        <a:graphic>
          <a:graphicData uri="http://schemas.openxmlformats.org/drawingml/2006/chart">
            <c:chart xmlns:c="http://schemas.openxmlformats.org/drawingml/2006/chart" r:id="rId3"/>
          </a:graphicData>
        </a:graphic>
      </p:graphicFrame>
      <p:sp>
        <p:nvSpPr>
          <p:cNvPr id="5" name="TextBox 4"/>
          <p:cNvSpPr txBox="1"/>
          <p:nvPr/>
        </p:nvSpPr>
        <p:spPr>
          <a:xfrm>
            <a:off x="7680960" y="1554480"/>
            <a:ext cx="4114800" cy="4846320"/>
          </a:xfrm>
          <a:prstGeom prst="rect">
            <a:avLst/>
          </a:prstGeom>
          <a:noFill/>
        </p:spPr>
        <p:txBody>
          <a:bodyPr wrap="square">
            <a:spAutoFit/>
          </a:bodyPr>
          <a:lstStyle/>
          <a:p>
            <a:pPr>
              <a:spcAft>
                <a:spcPts val="800"/>
              </a:spcAft>
            </a:pPr>
            <a:r>
              <a:rPr sz="1700"/>
              <a:t>• Medians of 10 runs. 1 thread, no contention: CAS spin lock 109 M and TAS 98 M acq/s are fastest</a:t>
            </a:r>
          </a:p>
          <a:p>
            <a:pPr>
              <a:spcAft>
                <a:spcPts val="800"/>
              </a:spcAft>
            </a:pPr>
            <a:r>
              <a:rPr sz="1700"/>
              <a:t>• More threads: every spin lock slows down as threads fight over cache lines</a:t>
            </a:r>
          </a:p>
          <a:p>
            <a:pPr>
              <a:spcAft>
                <a:spcPts val="800"/>
              </a:spcAft>
            </a:pPr>
            <a:r>
              <a:rPr sz="1700"/>
              <a:t>• 8 threads: MCS 309 k, CAS spin 5.2 M, TAS 5.0 M acq/s</a:t>
            </a:r>
          </a:p>
          <a:p>
            <a:pPr>
              <a:spcAft>
                <a:spcPts val="800"/>
              </a:spcAft>
            </a:pPr>
            <a:r>
              <a:rPr sz="1700">
                <a:solidFill>
                  <a:srgbClr val="C0392B"/>
                </a:solidFill>
              </a:rPr>
              <a:t>• Fastest at 8 threads: pthread_mutex, 18 M acq/s</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Throughput on One CPU</a:t>
            </a:r>
          </a:p>
        </p:txBody>
      </p:sp>
      <p:sp>
        <p:nvSpPr>
          <p:cNvPr id="3" name="TextBox 2"/>
          <p:cNvSpPr txBox="1"/>
          <p:nvPr/>
        </p:nvSpPr>
        <p:spPr>
          <a:xfrm>
            <a:off x="11247120" y="6400800"/>
            <a:ext cx="731520" cy="365760"/>
          </a:xfrm>
          <a:prstGeom prst="rect">
            <a:avLst/>
          </a:prstGeom>
          <a:noFill/>
        </p:spPr>
        <p:txBody>
          <a:bodyPr wrap="none">
            <a:spAutoFit/>
          </a:bodyPr>
          <a:lstStyle/>
          <a:p>
            <a:pPr algn="r"/>
            <a:r>
              <a:rPr sz="1200">
                <a:solidFill>
                  <a:srgbClr val="808080"/>
                </a:solidFill>
              </a:rPr>
              <a:t>26</a:t>
            </a:r>
          </a:p>
        </p:txBody>
      </p:sp>
      <p:graphicFrame>
        <p:nvGraphicFramePr>
          <p:cNvPr id="4" name="Chart 3"/>
          <p:cNvGraphicFramePr>
            <a:graphicFrameLocks noGrp="1"/>
          </p:cNvGraphicFramePr>
          <p:nvPr/>
        </p:nvGraphicFramePr>
        <p:xfrm>
          <a:off x="457200" y="1371600"/>
          <a:ext cx="6949440" cy="5120640"/>
        </p:xfrm>
        <a:graphic>
          <a:graphicData uri="http://schemas.openxmlformats.org/drawingml/2006/chart">
            <c:chart xmlns:c="http://schemas.openxmlformats.org/drawingml/2006/chart" r:id="rId3"/>
          </a:graphicData>
        </a:graphic>
      </p:graphicFrame>
      <p:sp>
        <p:nvSpPr>
          <p:cNvPr id="5" name="TextBox 4"/>
          <p:cNvSpPr txBox="1"/>
          <p:nvPr/>
        </p:nvSpPr>
        <p:spPr>
          <a:xfrm>
            <a:off x="7680960" y="1554480"/>
            <a:ext cx="4114800" cy="4846320"/>
          </a:xfrm>
          <a:prstGeom prst="rect">
            <a:avLst/>
          </a:prstGeom>
          <a:noFill/>
        </p:spPr>
        <p:txBody>
          <a:bodyPr wrap="square">
            <a:spAutoFit/>
          </a:bodyPr>
          <a:lstStyle/>
          <a:p>
            <a:pPr>
              <a:spcAft>
                <a:spcPts val="800"/>
              </a:spcAft>
            </a:pPr>
            <a:r>
              <a:rPr sz="1700"/>
              <a:t>• TAS / CAS spin stay fast (14 M / 12 M at 8 threads), but one thread holds on while the others get almost nothing</a:t>
            </a:r>
          </a:p>
          <a:p>
            <a:pPr>
              <a:spcAft>
                <a:spcPts val="800"/>
              </a:spcAft>
            </a:pPr>
            <a:r>
              <a:rPr sz="1700"/>
              <a:t>• Peterson and MCS hand the lock to a thread that is not running: 107 k (Peterson, 2 thr), 262 k (MCS, 8 thr)</a:t>
            </a:r>
          </a:p>
          <a:p>
            <a:pPr>
              <a:spcAft>
                <a:spcPts val="800"/>
              </a:spcAft>
            </a:pPr>
            <a:r>
              <a:rPr sz="1700">
                <a:solidFill>
                  <a:srgbClr val="C0392B"/>
                </a:solidFill>
              </a:rPr>
              <a:t>• pthread_mutex sleeps instead of spinning: 54 M → 57 M acq/s from 1 to 8 threads</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Comparison: Summary</a:t>
            </a:r>
          </a:p>
        </p:txBody>
      </p:sp>
      <p:sp>
        <p:nvSpPr>
          <p:cNvPr id="3" name="Text Placeholder 2"/>
          <p:cNvSpPr>
            <a:spLocks noGrp="1"/>
          </p:cNvSpPr>
          <p:nvPr>
            <p:ph type="body" idx="1"/>
          </p:nvPr>
        </p:nvSpPr>
        <p:spPr/>
        <p:txBody>
          <a:bodyPr/>
          <a:lstStyle/>
          <a:p>
            <a:r>
              <a:t>67070501059</a:t>
            </a:r>
          </a:p>
          <a:p>
            <a:r>
              <a:t>Chanon Lhumsa-ard</a:t>
            </a:r>
          </a:p>
        </p:txBody>
      </p:sp>
      <p:sp>
        <p:nvSpPr>
          <p:cNvPr id="4" name="TextBox 3"/>
          <p:cNvSpPr txBox="1"/>
          <p:nvPr/>
        </p:nvSpPr>
        <p:spPr>
          <a:xfrm>
            <a:off x="11247120" y="6400800"/>
            <a:ext cx="731520" cy="365760"/>
          </a:xfrm>
          <a:prstGeom prst="rect">
            <a:avLst/>
          </a:prstGeom>
          <a:noFill/>
        </p:spPr>
        <p:txBody>
          <a:bodyPr wrap="none">
            <a:spAutoFit/>
          </a:bodyPr>
          <a:lstStyle/>
          <a:p>
            <a:pPr algn="r"/>
            <a:r>
              <a:rPr sz="1200">
                <a:solidFill>
                  <a:srgbClr val="808080"/>
                </a:solidFill>
              </a:rPr>
              <a:t>27</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Correctness: Mutual Exclusion and Deadlock</a:t>
            </a:r>
          </a:p>
        </p:txBody>
      </p:sp>
      <p:sp>
        <p:nvSpPr>
          <p:cNvPr id="3" name="TextBox 2"/>
          <p:cNvSpPr txBox="1"/>
          <p:nvPr/>
        </p:nvSpPr>
        <p:spPr>
          <a:xfrm>
            <a:off x="11247120" y="6400800"/>
            <a:ext cx="731520" cy="365760"/>
          </a:xfrm>
          <a:prstGeom prst="rect">
            <a:avLst/>
          </a:prstGeom>
          <a:noFill/>
        </p:spPr>
        <p:txBody>
          <a:bodyPr wrap="none">
            <a:spAutoFit/>
          </a:bodyPr>
          <a:lstStyle/>
          <a:p>
            <a:pPr algn="r"/>
            <a:r>
              <a:rPr sz="1200">
                <a:solidFill>
                  <a:srgbClr val="808080"/>
                </a:solidFill>
              </a:rPr>
              <a:t>28</a:t>
            </a:r>
          </a:p>
        </p:txBody>
      </p:sp>
      <p:graphicFrame>
        <p:nvGraphicFramePr>
          <p:cNvPr id="4" name="Table 3"/>
          <p:cNvGraphicFramePr>
            <a:graphicFrameLocks noGrp="1"/>
          </p:cNvGraphicFramePr>
          <p:nvPr/>
        </p:nvGraphicFramePr>
        <p:xfrm>
          <a:off x="457200" y="1554480"/>
          <a:ext cx="11247120" cy="3017520"/>
        </p:xfrm>
        <a:graphic>
          <a:graphicData uri="http://schemas.openxmlformats.org/drawingml/2006/table">
            <a:tbl>
              <a:tblPr firstRow="1" bandRow="1">
                <a:tableStyleId>{5C22544A-7EE6-4342-B048-85BDC9FD1C3A}</a:tableStyleId>
              </a:tblPr>
              <a:tblGrid>
                <a:gridCol w="2926080"/>
                <a:gridCol w="822960"/>
                <a:gridCol w="1371600"/>
                <a:gridCol w="1463040"/>
                <a:gridCol w="4663440"/>
              </a:tblGrid>
              <a:tr h="502920">
                <a:tc>
                  <a:txBody>
                    <a:bodyPr/>
                    <a:lstStyle/>
                    <a:p>
                      <a:r>
                        <a:rPr sz="1400"/>
                        <a:t>Lock</a:t>
                      </a:r>
                    </a:p>
                  </a:txBody>
                  <a:tcPr/>
                </a:tc>
                <a:tc>
                  <a:txBody>
                    <a:bodyPr/>
                    <a:lstStyle/>
                    <a:p>
                      <a:r>
                        <a:rPr sz="1400"/>
                        <a:t>Runs</a:t>
                      </a:r>
                    </a:p>
                  </a:txBody>
                  <a:tcPr/>
                </a:tc>
                <a:tc>
                  <a:txBody>
                    <a:bodyPr/>
                    <a:lstStyle/>
                    <a:p>
                      <a:r>
                        <a:rPr sz="1400"/>
                        <a:t>Lost updates</a:t>
                      </a:r>
                    </a:p>
                  </a:txBody>
                  <a:tcPr/>
                </a:tc>
                <a:tc>
                  <a:txBody>
                    <a:bodyPr/>
                    <a:lstStyle/>
                    <a:p>
                      <a:r>
                        <a:rPr sz="1400"/>
                        <a:t>Runs finished</a:t>
                      </a:r>
                    </a:p>
                  </a:txBody>
                  <a:tcPr/>
                </a:tc>
                <a:tc>
                  <a:txBody>
                    <a:bodyPr/>
                    <a:lstStyle/>
                    <a:p>
                      <a:r>
                        <a:rPr sz="1400"/>
                        <a:t>Also tested</a:t>
                      </a:r>
                    </a:p>
                  </a:txBody>
                  <a:tcPr/>
                </a:tc>
              </a:tr>
              <a:tr h="502920">
                <a:tc>
                  <a:txBody>
                    <a:bodyPr/>
                    <a:lstStyle/>
                    <a:p>
                      <a:r>
                        <a:rPr sz="1400"/>
                        <a:t>Peterson</a:t>
                      </a:r>
                    </a:p>
                  </a:txBody>
                  <a:tcPr/>
                </a:tc>
                <a:tc>
                  <a:txBody>
                    <a:bodyPr/>
                    <a:lstStyle/>
                    <a:p>
                      <a:r>
                        <a:rPr sz="1400"/>
                        <a:t>60</a:t>
                      </a:r>
                    </a:p>
                  </a:txBody>
                  <a:tcPr/>
                </a:tc>
                <a:tc>
                  <a:txBody>
                    <a:bodyPr/>
                    <a:lstStyle/>
                    <a:p>
                      <a:r>
                        <a:rPr sz="1400"/>
                        <a:t>0</a:t>
                      </a:r>
                    </a:p>
                  </a:txBody>
                  <a:tcPr/>
                </a:tc>
                <a:tc>
                  <a:txBody>
                    <a:bodyPr/>
                    <a:lstStyle/>
                    <a:p>
                      <a:r>
                        <a:rPr sz="1400"/>
                        <a:t>60 / 60</a:t>
                      </a:r>
                    </a:p>
                  </a:txBody>
                  <a:tcPr/>
                </a:tc>
                <a:tc>
                  <a:txBody>
                    <a:bodyPr/>
                    <a:lstStyle/>
                    <a:p>
                      <a:r>
                        <a:rPr sz="1400"/>
                        <a:t>volatile, no fence: lost updates in 10 / 10 runs</a:t>
                      </a:r>
                    </a:p>
                  </a:txBody>
                  <a:tcPr/>
                </a:tc>
              </a:tr>
              <a:tr h="502920">
                <a:tc>
                  <a:txBody>
                    <a:bodyPr/>
                    <a:lstStyle/>
                    <a:p>
                      <a:r>
                        <a:rPr sz="1400"/>
                        <a:t>CAS spin lock</a:t>
                      </a:r>
                    </a:p>
                  </a:txBody>
                  <a:tcPr/>
                </a:tc>
                <a:tc>
                  <a:txBody>
                    <a:bodyPr/>
                    <a:lstStyle/>
                    <a:p>
                      <a:r>
                        <a:rPr sz="1400"/>
                        <a:t>80</a:t>
                      </a:r>
                    </a:p>
                  </a:txBody>
                  <a:tcPr/>
                </a:tc>
                <a:tc>
                  <a:txBody>
                    <a:bodyPr/>
                    <a:lstStyle/>
                    <a:p>
                      <a:r>
                        <a:rPr sz="1400"/>
                        <a:t>0</a:t>
                      </a:r>
                    </a:p>
                  </a:txBody>
                  <a:tcPr/>
                </a:tc>
                <a:tc>
                  <a:txBody>
                    <a:bodyPr/>
                    <a:lstStyle/>
                    <a:p>
                      <a:r>
                        <a:rPr sz="1400"/>
                        <a:t>80 / 80</a:t>
                      </a:r>
                    </a:p>
                  </a:txBody>
                  <a:tcPr/>
                </a:tc>
                <a:tc>
                  <a:txBody>
                    <a:bodyPr/>
                    <a:lstStyle/>
                    <a:p>
                      <a:r>
                        <a:rPr sz="1400"/>
                        <a:t>x86 = CAS proxy; real ldaxr/stxr under qemu: lost = 0 in 10 / 10 runs</a:t>
                      </a:r>
                    </a:p>
                  </a:txBody>
                  <a:tcPr/>
                </a:tc>
              </a:tr>
              <a:tr h="502920">
                <a:tc>
                  <a:txBody>
                    <a:bodyPr/>
                    <a:lstStyle/>
                    <a:p>
                      <a:r>
                        <a:rPr sz="1400"/>
                        <a:t>MCS</a:t>
                      </a:r>
                    </a:p>
                  </a:txBody>
                  <a:tcPr/>
                </a:tc>
                <a:tc>
                  <a:txBody>
                    <a:bodyPr/>
                    <a:lstStyle/>
                    <a:p>
                      <a:r>
                        <a:rPr sz="1400"/>
                        <a:t>80</a:t>
                      </a:r>
                    </a:p>
                  </a:txBody>
                  <a:tcPr/>
                </a:tc>
                <a:tc>
                  <a:txBody>
                    <a:bodyPr/>
                    <a:lstStyle/>
                    <a:p>
                      <a:r>
                        <a:rPr sz="1400"/>
                        <a:t>0</a:t>
                      </a:r>
                    </a:p>
                  </a:txBody>
                  <a:tcPr/>
                </a:tc>
                <a:tc>
                  <a:txBody>
                    <a:bodyPr/>
                    <a:lstStyle/>
                    <a:p>
                      <a:r>
                        <a:rPr sz="1400"/>
                        <a:t>80 / 80</a:t>
                      </a:r>
                    </a:p>
                  </a:txBody>
                  <a:tcPr/>
                </a:tc>
                <a:tc>
                  <a:txBody>
                    <a:bodyPr/>
                    <a:lstStyle/>
                    <a:p/>
                  </a:txBody>
                  <a:tcPr/>
                </a:tc>
              </a:tr>
              <a:tr h="502920">
                <a:tc>
                  <a:txBody>
                    <a:bodyPr/>
                    <a:lstStyle/>
                    <a:p>
                      <a:r>
                        <a:rPr sz="1400"/>
                        <a:t>TAS</a:t>
                      </a:r>
                    </a:p>
                  </a:txBody>
                  <a:tcPr/>
                </a:tc>
                <a:tc>
                  <a:txBody>
                    <a:bodyPr/>
                    <a:lstStyle/>
                    <a:p>
                      <a:r>
                        <a:rPr sz="1400"/>
                        <a:t>80</a:t>
                      </a:r>
                    </a:p>
                  </a:txBody>
                  <a:tcPr/>
                </a:tc>
                <a:tc>
                  <a:txBody>
                    <a:bodyPr/>
                    <a:lstStyle/>
                    <a:p>
                      <a:r>
                        <a:rPr sz="1400"/>
                        <a:t>0</a:t>
                      </a:r>
                    </a:p>
                  </a:txBody>
                  <a:tcPr/>
                </a:tc>
                <a:tc>
                  <a:txBody>
                    <a:bodyPr/>
                    <a:lstStyle/>
                    <a:p>
                      <a:r>
                        <a:rPr sz="1400"/>
                        <a:t>80 / 80</a:t>
                      </a:r>
                    </a:p>
                  </a:txBody>
                  <a:tcPr/>
                </a:tc>
                <a:tc>
                  <a:txBody>
                    <a:bodyPr/>
                    <a:lstStyle/>
                    <a:p/>
                  </a:txBody>
                  <a:tcPr/>
                </a:tc>
              </a:tr>
              <a:tr h="502920">
                <a:tc>
                  <a:txBody>
                    <a:bodyPr/>
                    <a:lstStyle/>
                    <a:p>
                      <a:r>
                        <a:rPr sz="1400"/>
                        <a:t>pthread_mutex</a:t>
                      </a:r>
                    </a:p>
                  </a:txBody>
                  <a:tcPr/>
                </a:tc>
                <a:tc>
                  <a:txBody>
                    <a:bodyPr/>
                    <a:lstStyle/>
                    <a:p>
                      <a:r>
                        <a:rPr sz="1400"/>
                        <a:t>80</a:t>
                      </a:r>
                    </a:p>
                  </a:txBody>
                  <a:tcPr/>
                </a:tc>
                <a:tc>
                  <a:txBody>
                    <a:bodyPr/>
                    <a:lstStyle/>
                    <a:p>
                      <a:r>
                        <a:rPr sz="1400"/>
                        <a:t>0</a:t>
                      </a:r>
                    </a:p>
                  </a:txBody>
                  <a:tcPr/>
                </a:tc>
                <a:tc>
                  <a:txBody>
                    <a:bodyPr/>
                    <a:lstStyle/>
                    <a:p>
                      <a:r>
                        <a:rPr sz="1400"/>
                        <a:t>80 / 80</a:t>
                      </a:r>
                    </a:p>
                  </a:txBody>
                  <a:tcPr/>
                </a:tc>
                <a:tc>
                  <a:txBody>
                    <a:bodyPr/>
                    <a:lstStyle/>
                    <a:p/>
                  </a:txBody>
                  <a:tcPr/>
                </a:tc>
              </a:tr>
            </a:tbl>
          </a:graphicData>
        </a:graphic>
      </p:graphicFrame>
      <p:sp>
        <p:nvSpPr>
          <p:cNvPr id="5" name="TextBox 4"/>
          <p:cNvSpPr txBox="1"/>
          <p:nvPr/>
        </p:nvSpPr>
        <p:spPr>
          <a:xfrm>
            <a:off x="457200" y="4937760"/>
            <a:ext cx="11247120" cy="1371600"/>
          </a:xfrm>
          <a:prstGeom prst="rect">
            <a:avLst/>
          </a:prstGeom>
          <a:noFill/>
        </p:spPr>
        <p:txBody>
          <a:bodyPr wrap="square">
            <a:spAutoFit/>
          </a:bodyPr>
          <a:lstStyle/>
          <a:p>
            <a:pPr>
              <a:spcAft>
                <a:spcPts val="800"/>
              </a:spcAft>
            </a:pPr>
            <a:r>
              <a:rPr sz="1600"/>
              <a:t>• Mutual exclusion: lost = total acquisitions − counter, summed over all runs of the correct builds</a:t>
            </a:r>
          </a:p>
          <a:p>
            <a:pPr>
              <a:spcAft>
                <a:spcPts val="800"/>
              </a:spcAft>
            </a:pPr>
            <a:r>
              <a:rPr sz="1600">
                <a:solidFill>
                  <a:srgbClr val="C0392B"/>
                </a:solidFill>
              </a:rPr>
              <a:t>• Peterson held on x86 only with the fence (or _Atomic seq_cst)</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Fairness</a:t>
            </a:r>
          </a:p>
        </p:txBody>
      </p:sp>
      <p:sp>
        <p:nvSpPr>
          <p:cNvPr id="3" name="TextBox 2"/>
          <p:cNvSpPr txBox="1"/>
          <p:nvPr/>
        </p:nvSpPr>
        <p:spPr>
          <a:xfrm>
            <a:off x="11247120" y="6400800"/>
            <a:ext cx="731520" cy="365760"/>
          </a:xfrm>
          <a:prstGeom prst="rect">
            <a:avLst/>
          </a:prstGeom>
          <a:noFill/>
        </p:spPr>
        <p:txBody>
          <a:bodyPr wrap="none">
            <a:spAutoFit/>
          </a:bodyPr>
          <a:lstStyle/>
          <a:p>
            <a:pPr algn="r"/>
            <a:r>
              <a:rPr sz="1200">
                <a:solidFill>
                  <a:srgbClr val="808080"/>
                </a:solidFill>
              </a:rPr>
              <a:t>29</a:t>
            </a:r>
          </a:p>
        </p:txBody>
      </p:sp>
      <p:graphicFrame>
        <p:nvGraphicFramePr>
          <p:cNvPr id="4" name="Chart 3"/>
          <p:cNvGraphicFramePr>
            <a:graphicFrameLocks noGrp="1"/>
          </p:cNvGraphicFramePr>
          <p:nvPr/>
        </p:nvGraphicFramePr>
        <p:xfrm>
          <a:off x="457200" y="1371600"/>
          <a:ext cx="6949440" cy="5120640"/>
        </p:xfrm>
        <a:graphic>
          <a:graphicData uri="http://schemas.openxmlformats.org/drawingml/2006/chart">
            <c:chart xmlns:c="http://schemas.openxmlformats.org/drawingml/2006/chart" r:id="rId3"/>
          </a:graphicData>
        </a:graphic>
      </p:graphicFrame>
      <p:sp>
        <p:nvSpPr>
          <p:cNvPr id="5" name="TextBox 4"/>
          <p:cNvSpPr txBox="1"/>
          <p:nvPr/>
        </p:nvSpPr>
        <p:spPr>
          <a:xfrm>
            <a:off x="7680960" y="1554480"/>
            <a:ext cx="4114800" cy="4846320"/>
          </a:xfrm>
          <a:prstGeom prst="rect">
            <a:avLst/>
          </a:prstGeom>
          <a:noFill/>
        </p:spPr>
        <p:txBody>
          <a:bodyPr wrap="square">
            <a:spAutoFit/>
          </a:bodyPr>
          <a:lstStyle/>
          <a:p>
            <a:pPr>
              <a:spcAft>
                <a:spcPts val="800"/>
              </a:spcAft>
            </a:pPr>
            <a:r>
              <a:rPr sz="1600"/>
              <a:t>• All CPUs: MCS 0.96 is the fairest at 8 threads — its queue is first-come, first-served</a:t>
            </a:r>
          </a:p>
          <a:p>
            <a:pPr>
              <a:spcAft>
                <a:spcPts val="800"/>
              </a:spcAft>
            </a:pPr>
            <a:r>
              <a:rPr sz="1600"/>
              <a:t>• TAS 0.78, CAS spin 0.55: whoever wins the race gets in</a:t>
            </a:r>
          </a:p>
          <a:p>
            <a:pPr>
              <a:spcAft>
                <a:spcPts val="800"/>
              </a:spcAft>
            </a:pPr>
            <a:r>
              <a:rPr sz="1600">
                <a:solidFill>
                  <a:srgbClr val="C0392B"/>
                </a:solidFill>
              </a:rPr>
              <a:t>• One CPU: severe imbalance for every spin lock — the scheduler decides who runs, e.g. MCS 10 vs 146,478, TAS 1 vs 6,834,831 acquisitions (run 1, fewest vs most)</a:t>
            </a:r>
          </a:p>
          <a:p>
            <a:pPr>
              <a:spcAft>
                <a:spcPts val="800"/>
              </a:spcAft>
            </a:pPr>
            <a:r>
              <a:rPr sz="1600"/>
              <a:t>• Only pthread_mutex stays balanced on one CPU: 0.83</a:t>
            </a:r>
          </a:p>
          <a:p>
            <a:pPr>
              <a:spcAft>
                <a:spcPts val="800"/>
              </a:spcAft>
            </a:pPr>
            <a:r>
              <a:rPr sz="1600"/>
              <a:t>• Thread-runs with zero acquisitions: 0 of 1260</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Run-to-Run Variation</a:t>
            </a:r>
          </a:p>
        </p:txBody>
      </p:sp>
      <p:sp>
        <p:nvSpPr>
          <p:cNvPr id="3" name="TextBox 2"/>
          <p:cNvSpPr txBox="1"/>
          <p:nvPr/>
        </p:nvSpPr>
        <p:spPr>
          <a:xfrm>
            <a:off x="11247120" y="6400800"/>
            <a:ext cx="731520" cy="365760"/>
          </a:xfrm>
          <a:prstGeom prst="rect">
            <a:avLst/>
          </a:prstGeom>
          <a:noFill/>
        </p:spPr>
        <p:txBody>
          <a:bodyPr wrap="none">
            <a:spAutoFit/>
          </a:bodyPr>
          <a:lstStyle/>
          <a:p>
            <a:pPr algn="r"/>
            <a:r>
              <a:rPr sz="1200">
                <a:solidFill>
                  <a:srgbClr val="808080"/>
                </a:solidFill>
              </a:rPr>
              <a:t>30</a:t>
            </a:r>
          </a:p>
        </p:txBody>
      </p:sp>
      <p:graphicFrame>
        <p:nvGraphicFramePr>
          <p:cNvPr id="4" name="Table 3"/>
          <p:cNvGraphicFramePr>
            <a:graphicFrameLocks noGrp="1"/>
          </p:cNvGraphicFramePr>
          <p:nvPr/>
        </p:nvGraphicFramePr>
        <p:xfrm>
          <a:off x="457200" y="1371600"/>
          <a:ext cx="11247120" cy="4325112"/>
        </p:xfrm>
        <a:graphic>
          <a:graphicData uri="http://schemas.openxmlformats.org/drawingml/2006/table">
            <a:tbl>
              <a:tblPr firstRow="1" bandRow="1">
                <a:tableStyleId>{5C22544A-7EE6-4342-B048-85BDC9FD1C3A}</a:tableStyleId>
              </a:tblPr>
              <a:tblGrid>
                <a:gridCol w="3931920"/>
                <a:gridCol w="1280160"/>
                <a:gridCol w="1463040"/>
                <a:gridCol w="1463040"/>
                <a:gridCol w="1463040"/>
                <a:gridCol w="1645920"/>
              </a:tblGrid>
              <a:tr h="393192">
                <a:tc>
                  <a:txBody>
                    <a:bodyPr/>
                    <a:lstStyle/>
                    <a:p>
                      <a:r>
                        <a:rPr sz="1300"/>
                        <a:t>Lock (threads)</a:t>
                      </a:r>
                    </a:p>
                  </a:txBody>
                  <a:tcPr/>
                </a:tc>
                <a:tc>
                  <a:txBody>
                    <a:bodyPr/>
                    <a:lstStyle/>
                    <a:p>
                      <a:r>
                        <a:rPr sz="1300"/>
                        <a:t>CPUs</a:t>
                      </a:r>
                    </a:p>
                  </a:txBody>
                  <a:tcPr/>
                </a:tc>
                <a:tc>
                  <a:txBody>
                    <a:bodyPr/>
                    <a:lstStyle/>
                    <a:p>
                      <a:r>
                        <a:rPr sz="1300"/>
                        <a:t>slowest run</a:t>
                      </a:r>
                    </a:p>
                  </a:txBody>
                  <a:tcPr/>
                </a:tc>
                <a:tc>
                  <a:txBody>
                    <a:bodyPr/>
                    <a:lstStyle/>
                    <a:p>
                      <a:r>
                        <a:rPr sz="1300"/>
                        <a:t>median</a:t>
                      </a:r>
                    </a:p>
                  </a:txBody>
                  <a:tcPr/>
                </a:tc>
                <a:tc>
                  <a:txBody>
                    <a:bodyPr/>
                    <a:lstStyle/>
                    <a:p>
                      <a:r>
                        <a:rPr sz="1300"/>
                        <a:t>fastest run</a:t>
                      </a:r>
                    </a:p>
                  </a:txBody>
                  <a:tcPr/>
                </a:tc>
                <a:tc>
                  <a:txBody>
                    <a:bodyPr/>
                    <a:lstStyle/>
                    <a:p>
                      <a:r>
                        <a:rPr sz="1300"/>
                        <a:t>max ÷ min</a:t>
                      </a:r>
                    </a:p>
                  </a:txBody>
                  <a:tcPr/>
                </a:tc>
              </a:tr>
              <a:tr h="393192">
                <a:tc>
                  <a:txBody>
                    <a:bodyPr/>
                    <a:lstStyle/>
                    <a:p>
                      <a:r>
                        <a:rPr sz="1300"/>
                        <a:t>Peterson (2)</a:t>
                      </a:r>
                    </a:p>
                  </a:txBody>
                  <a:tcPr/>
                </a:tc>
                <a:tc>
                  <a:txBody>
                    <a:bodyPr/>
                    <a:lstStyle/>
                    <a:p>
                      <a:r>
                        <a:rPr sz="1300"/>
                        <a:t>all 8</a:t>
                      </a:r>
                    </a:p>
                  </a:txBody>
                  <a:tcPr/>
                </a:tc>
                <a:tc>
                  <a:txBody>
                    <a:bodyPr/>
                    <a:lstStyle/>
                    <a:p>
                      <a:r>
                        <a:rPr sz="1300"/>
                        <a:t>10 M</a:t>
                      </a:r>
                    </a:p>
                  </a:txBody>
                  <a:tcPr/>
                </a:tc>
                <a:tc>
                  <a:txBody>
                    <a:bodyPr/>
                    <a:lstStyle/>
                    <a:p>
                      <a:r>
                        <a:rPr sz="1300"/>
                        <a:t>11 M</a:t>
                      </a:r>
                    </a:p>
                  </a:txBody>
                  <a:tcPr/>
                </a:tc>
                <a:tc>
                  <a:txBody>
                    <a:bodyPr/>
                    <a:lstStyle/>
                    <a:p>
                      <a:r>
                        <a:rPr sz="1300"/>
                        <a:t>14 M</a:t>
                      </a:r>
                    </a:p>
                  </a:txBody>
                  <a:tcPr/>
                </a:tc>
                <a:tc>
                  <a:txBody>
                    <a:bodyPr/>
                    <a:lstStyle/>
                    <a:p>
                      <a:r>
                        <a:rPr sz="1300"/>
                        <a:t>1.4×</a:t>
                      </a:r>
                    </a:p>
                  </a:txBody>
                  <a:tcPr/>
                </a:tc>
              </a:tr>
              <a:tr h="393192">
                <a:tc>
                  <a:txBody>
                    <a:bodyPr/>
                    <a:lstStyle/>
                    <a:p>
                      <a:r>
                        <a:rPr sz="1300"/>
                        <a:t>CAS spin lock (8)</a:t>
                      </a:r>
                    </a:p>
                  </a:txBody>
                  <a:tcPr/>
                </a:tc>
                <a:tc>
                  <a:txBody>
                    <a:bodyPr/>
                    <a:lstStyle/>
                    <a:p>
                      <a:r>
                        <a:rPr sz="1300"/>
                        <a:t>all 8</a:t>
                      </a:r>
                    </a:p>
                  </a:txBody>
                  <a:tcPr/>
                </a:tc>
                <a:tc>
                  <a:txBody>
                    <a:bodyPr/>
                    <a:lstStyle/>
                    <a:p>
                      <a:r>
                        <a:rPr sz="1300"/>
                        <a:t>4.2 M</a:t>
                      </a:r>
                    </a:p>
                  </a:txBody>
                  <a:tcPr/>
                </a:tc>
                <a:tc>
                  <a:txBody>
                    <a:bodyPr/>
                    <a:lstStyle/>
                    <a:p>
                      <a:r>
                        <a:rPr sz="1300"/>
                        <a:t>5.2 M</a:t>
                      </a:r>
                    </a:p>
                  </a:txBody>
                  <a:tcPr/>
                </a:tc>
                <a:tc>
                  <a:txBody>
                    <a:bodyPr/>
                    <a:lstStyle/>
                    <a:p>
                      <a:r>
                        <a:rPr sz="1300"/>
                        <a:t>5.3 M</a:t>
                      </a:r>
                    </a:p>
                  </a:txBody>
                  <a:tcPr/>
                </a:tc>
                <a:tc>
                  <a:txBody>
                    <a:bodyPr/>
                    <a:lstStyle/>
                    <a:p>
                      <a:r>
                        <a:rPr sz="1300"/>
                        <a:t>1.3×</a:t>
                      </a:r>
                    </a:p>
                  </a:txBody>
                  <a:tcPr/>
                </a:tc>
              </a:tr>
              <a:tr h="393192">
                <a:tc>
                  <a:txBody>
                    <a:bodyPr/>
                    <a:lstStyle/>
                    <a:p>
                      <a:r>
                        <a:rPr sz="1300"/>
                        <a:t>MCS (8)</a:t>
                      </a:r>
                    </a:p>
                  </a:txBody>
                  <a:tcPr/>
                </a:tc>
                <a:tc>
                  <a:txBody>
                    <a:bodyPr/>
                    <a:lstStyle/>
                    <a:p>
                      <a:r>
                        <a:rPr sz="1300"/>
                        <a:t>all 8</a:t>
                      </a:r>
                    </a:p>
                  </a:txBody>
                  <a:tcPr/>
                </a:tc>
                <a:tc>
                  <a:txBody>
                    <a:bodyPr/>
                    <a:lstStyle/>
                    <a:p>
                      <a:r>
                        <a:rPr sz="1300"/>
                        <a:t>155 k</a:t>
                      </a:r>
                    </a:p>
                  </a:txBody>
                  <a:tcPr/>
                </a:tc>
                <a:tc>
                  <a:txBody>
                    <a:bodyPr/>
                    <a:lstStyle/>
                    <a:p>
                      <a:r>
                        <a:rPr sz="1300"/>
                        <a:t>309 k</a:t>
                      </a:r>
                    </a:p>
                  </a:txBody>
                  <a:tcPr/>
                </a:tc>
                <a:tc>
                  <a:txBody>
                    <a:bodyPr/>
                    <a:lstStyle/>
                    <a:p>
                      <a:r>
                        <a:rPr sz="1300"/>
                        <a:t>1.7 M</a:t>
                      </a:r>
                    </a:p>
                  </a:txBody>
                  <a:tcPr/>
                </a:tc>
                <a:tc>
                  <a:txBody>
                    <a:bodyPr/>
                    <a:lstStyle/>
                    <a:p>
                      <a:r>
                        <a:rPr sz="1300"/>
                        <a:t>11.0×</a:t>
                      </a:r>
                    </a:p>
                  </a:txBody>
                  <a:tcPr/>
                </a:tc>
              </a:tr>
              <a:tr h="393192">
                <a:tc>
                  <a:txBody>
                    <a:bodyPr/>
                    <a:lstStyle/>
                    <a:p>
                      <a:r>
                        <a:rPr sz="1300"/>
                        <a:t>TAS (8)</a:t>
                      </a:r>
                    </a:p>
                  </a:txBody>
                  <a:tcPr/>
                </a:tc>
                <a:tc>
                  <a:txBody>
                    <a:bodyPr/>
                    <a:lstStyle/>
                    <a:p>
                      <a:r>
                        <a:rPr sz="1300"/>
                        <a:t>all 8</a:t>
                      </a:r>
                    </a:p>
                  </a:txBody>
                  <a:tcPr/>
                </a:tc>
                <a:tc>
                  <a:txBody>
                    <a:bodyPr/>
                    <a:lstStyle/>
                    <a:p>
                      <a:r>
                        <a:rPr sz="1300"/>
                        <a:t>4.8 M</a:t>
                      </a:r>
                    </a:p>
                  </a:txBody>
                  <a:tcPr/>
                </a:tc>
                <a:tc>
                  <a:txBody>
                    <a:bodyPr/>
                    <a:lstStyle/>
                    <a:p>
                      <a:r>
                        <a:rPr sz="1300"/>
                        <a:t>5.0 M</a:t>
                      </a:r>
                    </a:p>
                  </a:txBody>
                  <a:tcPr/>
                </a:tc>
                <a:tc>
                  <a:txBody>
                    <a:bodyPr/>
                    <a:lstStyle/>
                    <a:p>
                      <a:r>
                        <a:rPr sz="1300"/>
                        <a:t>5.9 M</a:t>
                      </a:r>
                    </a:p>
                  </a:txBody>
                  <a:tcPr/>
                </a:tc>
                <a:tc>
                  <a:txBody>
                    <a:bodyPr/>
                    <a:lstStyle/>
                    <a:p>
                      <a:r>
                        <a:rPr sz="1300"/>
                        <a:t>1.2×</a:t>
                      </a:r>
                    </a:p>
                  </a:txBody>
                  <a:tcPr/>
                </a:tc>
              </a:tr>
              <a:tr h="393192">
                <a:tc>
                  <a:txBody>
                    <a:bodyPr/>
                    <a:lstStyle/>
                    <a:p>
                      <a:r>
                        <a:rPr sz="1300"/>
                        <a:t>pthread_mutex (8)</a:t>
                      </a:r>
                    </a:p>
                  </a:txBody>
                  <a:tcPr/>
                </a:tc>
                <a:tc>
                  <a:txBody>
                    <a:bodyPr/>
                    <a:lstStyle/>
                    <a:p>
                      <a:r>
                        <a:rPr sz="1300"/>
                        <a:t>all 8</a:t>
                      </a:r>
                    </a:p>
                  </a:txBody>
                  <a:tcPr/>
                </a:tc>
                <a:tc>
                  <a:txBody>
                    <a:bodyPr/>
                    <a:lstStyle/>
                    <a:p>
                      <a:r>
                        <a:rPr sz="1300"/>
                        <a:t>18 M</a:t>
                      </a:r>
                    </a:p>
                  </a:txBody>
                  <a:tcPr/>
                </a:tc>
                <a:tc>
                  <a:txBody>
                    <a:bodyPr/>
                    <a:lstStyle/>
                    <a:p>
                      <a:r>
                        <a:rPr sz="1300"/>
                        <a:t>18 M</a:t>
                      </a:r>
                    </a:p>
                  </a:txBody>
                  <a:tcPr/>
                </a:tc>
                <a:tc>
                  <a:txBody>
                    <a:bodyPr/>
                    <a:lstStyle/>
                    <a:p>
                      <a:r>
                        <a:rPr sz="1300"/>
                        <a:t>18 M</a:t>
                      </a:r>
                    </a:p>
                  </a:txBody>
                  <a:tcPr/>
                </a:tc>
                <a:tc>
                  <a:txBody>
                    <a:bodyPr/>
                    <a:lstStyle/>
                    <a:p>
                      <a:r>
                        <a:rPr sz="1300"/>
                        <a:t>1.0×</a:t>
                      </a:r>
                    </a:p>
                  </a:txBody>
                  <a:tcPr/>
                </a:tc>
              </a:tr>
              <a:tr h="393192">
                <a:tc>
                  <a:txBody>
                    <a:bodyPr/>
                    <a:lstStyle/>
                    <a:p>
                      <a:r>
                        <a:rPr sz="1300"/>
                        <a:t>Peterson (2)</a:t>
                      </a:r>
                    </a:p>
                  </a:txBody>
                  <a:tcPr/>
                </a:tc>
                <a:tc>
                  <a:txBody>
                    <a:bodyPr/>
                    <a:lstStyle/>
                    <a:p>
                      <a:r>
                        <a:rPr sz="1300"/>
                        <a:t>one</a:t>
                      </a:r>
                    </a:p>
                  </a:txBody>
                  <a:tcPr/>
                </a:tc>
                <a:tc>
                  <a:txBody>
                    <a:bodyPr/>
                    <a:lstStyle/>
                    <a:p>
                      <a:r>
                        <a:rPr sz="1300"/>
                        <a:t>58 k</a:t>
                      </a:r>
                    </a:p>
                  </a:txBody>
                  <a:tcPr/>
                </a:tc>
                <a:tc>
                  <a:txBody>
                    <a:bodyPr/>
                    <a:lstStyle/>
                    <a:p>
                      <a:r>
                        <a:rPr sz="1300"/>
                        <a:t>107 k</a:t>
                      </a:r>
                    </a:p>
                  </a:txBody>
                  <a:tcPr/>
                </a:tc>
                <a:tc>
                  <a:txBody>
                    <a:bodyPr/>
                    <a:lstStyle/>
                    <a:p>
                      <a:r>
                        <a:rPr sz="1300"/>
                        <a:t>564 k</a:t>
                      </a:r>
                    </a:p>
                  </a:txBody>
                  <a:tcPr/>
                </a:tc>
                <a:tc>
                  <a:txBody>
                    <a:bodyPr/>
                    <a:lstStyle/>
                    <a:p>
                      <a:r>
                        <a:rPr sz="1300"/>
                        <a:t>9.7×</a:t>
                      </a:r>
                    </a:p>
                  </a:txBody>
                  <a:tcPr/>
                </a:tc>
              </a:tr>
              <a:tr h="393192">
                <a:tc>
                  <a:txBody>
                    <a:bodyPr/>
                    <a:lstStyle/>
                    <a:p>
                      <a:r>
                        <a:rPr sz="1300"/>
                        <a:t>CAS spin lock (8)</a:t>
                      </a:r>
                    </a:p>
                  </a:txBody>
                  <a:tcPr/>
                </a:tc>
                <a:tc>
                  <a:txBody>
                    <a:bodyPr/>
                    <a:lstStyle/>
                    <a:p>
                      <a:r>
                        <a:rPr sz="1300"/>
                        <a:t>one</a:t>
                      </a:r>
                    </a:p>
                  </a:txBody>
                  <a:tcPr/>
                </a:tc>
                <a:tc>
                  <a:txBody>
                    <a:bodyPr/>
                    <a:lstStyle/>
                    <a:p>
                      <a:r>
                        <a:rPr sz="1300"/>
                        <a:t>11 M</a:t>
                      </a:r>
                    </a:p>
                  </a:txBody>
                  <a:tcPr/>
                </a:tc>
                <a:tc>
                  <a:txBody>
                    <a:bodyPr/>
                    <a:lstStyle/>
                    <a:p>
                      <a:r>
                        <a:rPr sz="1300"/>
                        <a:t>12 M</a:t>
                      </a:r>
                    </a:p>
                  </a:txBody>
                  <a:tcPr/>
                </a:tc>
                <a:tc>
                  <a:txBody>
                    <a:bodyPr/>
                    <a:lstStyle/>
                    <a:p>
                      <a:r>
                        <a:rPr sz="1300"/>
                        <a:t>13 M</a:t>
                      </a:r>
                    </a:p>
                  </a:txBody>
                  <a:tcPr/>
                </a:tc>
                <a:tc>
                  <a:txBody>
                    <a:bodyPr/>
                    <a:lstStyle/>
                    <a:p>
                      <a:r>
                        <a:rPr sz="1300"/>
                        <a:t>1.1×</a:t>
                      </a:r>
                    </a:p>
                  </a:txBody>
                  <a:tcPr/>
                </a:tc>
              </a:tr>
              <a:tr h="393192">
                <a:tc>
                  <a:txBody>
                    <a:bodyPr/>
                    <a:lstStyle/>
                    <a:p>
                      <a:r>
                        <a:rPr sz="1300"/>
                        <a:t>MCS (8)</a:t>
                      </a:r>
                    </a:p>
                  </a:txBody>
                  <a:tcPr/>
                </a:tc>
                <a:tc>
                  <a:txBody>
                    <a:bodyPr/>
                    <a:lstStyle/>
                    <a:p>
                      <a:r>
                        <a:rPr sz="1300"/>
                        <a:t>one</a:t>
                      </a:r>
                    </a:p>
                  </a:txBody>
                  <a:tcPr/>
                </a:tc>
                <a:tc>
                  <a:txBody>
                    <a:bodyPr/>
                    <a:lstStyle/>
                    <a:p>
                      <a:r>
                        <a:rPr sz="1300"/>
                        <a:t>59 k</a:t>
                      </a:r>
                    </a:p>
                  </a:txBody>
                  <a:tcPr/>
                </a:tc>
                <a:tc>
                  <a:txBody>
                    <a:bodyPr/>
                    <a:lstStyle/>
                    <a:p>
                      <a:r>
                        <a:rPr sz="1300"/>
                        <a:t>262 k</a:t>
                      </a:r>
                    </a:p>
                  </a:txBody>
                  <a:tcPr/>
                </a:tc>
                <a:tc>
                  <a:txBody>
                    <a:bodyPr/>
                    <a:lstStyle/>
                    <a:p>
                      <a:r>
                        <a:rPr sz="1300"/>
                        <a:t>509 k</a:t>
                      </a:r>
                    </a:p>
                  </a:txBody>
                  <a:tcPr/>
                </a:tc>
                <a:tc>
                  <a:txBody>
                    <a:bodyPr/>
                    <a:lstStyle/>
                    <a:p>
                      <a:r>
                        <a:rPr sz="1300"/>
                        <a:t>8.6×</a:t>
                      </a:r>
                    </a:p>
                  </a:txBody>
                  <a:tcPr/>
                </a:tc>
              </a:tr>
              <a:tr h="393192">
                <a:tc>
                  <a:txBody>
                    <a:bodyPr/>
                    <a:lstStyle/>
                    <a:p>
                      <a:r>
                        <a:rPr sz="1300"/>
                        <a:t>TAS (8)</a:t>
                      </a:r>
                    </a:p>
                  </a:txBody>
                  <a:tcPr/>
                </a:tc>
                <a:tc>
                  <a:txBody>
                    <a:bodyPr/>
                    <a:lstStyle/>
                    <a:p>
                      <a:r>
                        <a:rPr sz="1300"/>
                        <a:t>one</a:t>
                      </a:r>
                    </a:p>
                  </a:txBody>
                  <a:tcPr/>
                </a:tc>
                <a:tc>
                  <a:txBody>
                    <a:bodyPr/>
                    <a:lstStyle/>
                    <a:p>
                      <a:r>
                        <a:rPr sz="1300"/>
                        <a:t>13 M</a:t>
                      </a:r>
                    </a:p>
                  </a:txBody>
                  <a:tcPr/>
                </a:tc>
                <a:tc>
                  <a:txBody>
                    <a:bodyPr/>
                    <a:lstStyle/>
                    <a:p>
                      <a:r>
                        <a:rPr sz="1300"/>
                        <a:t>14 M</a:t>
                      </a:r>
                    </a:p>
                  </a:txBody>
                  <a:tcPr/>
                </a:tc>
                <a:tc>
                  <a:txBody>
                    <a:bodyPr/>
                    <a:lstStyle/>
                    <a:p>
                      <a:r>
                        <a:rPr sz="1300"/>
                        <a:t>15 M</a:t>
                      </a:r>
                    </a:p>
                  </a:txBody>
                  <a:tcPr/>
                </a:tc>
                <a:tc>
                  <a:txBody>
                    <a:bodyPr/>
                    <a:lstStyle/>
                    <a:p>
                      <a:r>
                        <a:rPr sz="1300"/>
                        <a:t>1.1×</a:t>
                      </a:r>
                    </a:p>
                  </a:txBody>
                  <a:tcPr/>
                </a:tc>
              </a:tr>
              <a:tr h="393192">
                <a:tc>
                  <a:txBody>
                    <a:bodyPr/>
                    <a:lstStyle/>
                    <a:p>
                      <a:r>
                        <a:rPr sz="1300"/>
                        <a:t>pthread_mutex (8)</a:t>
                      </a:r>
                    </a:p>
                  </a:txBody>
                  <a:tcPr/>
                </a:tc>
                <a:tc>
                  <a:txBody>
                    <a:bodyPr/>
                    <a:lstStyle/>
                    <a:p>
                      <a:r>
                        <a:rPr sz="1300"/>
                        <a:t>one</a:t>
                      </a:r>
                    </a:p>
                  </a:txBody>
                  <a:tcPr/>
                </a:tc>
                <a:tc>
                  <a:txBody>
                    <a:bodyPr/>
                    <a:lstStyle/>
                    <a:p>
                      <a:r>
                        <a:rPr sz="1300"/>
                        <a:t>54 M</a:t>
                      </a:r>
                    </a:p>
                  </a:txBody>
                  <a:tcPr/>
                </a:tc>
                <a:tc>
                  <a:txBody>
                    <a:bodyPr/>
                    <a:lstStyle/>
                    <a:p>
                      <a:r>
                        <a:rPr sz="1300"/>
                        <a:t>57 M</a:t>
                      </a:r>
                    </a:p>
                  </a:txBody>
                  <a:tcPr/>
                </a:tc>
                <a:tc>
                  <a:txBody>
                    <a:bodyPr/>
                    <a:lstStyle/>
                    <a:p>
                      <a:r>
                        <a:rPr sz="1300"/>
                        <a:t>59 M</a:t>
                      </a:r>
                    </a:p>
                  </a:txBody>
                  <a:tcPr/>
                </a:tc>
                <a:tc>
                  <a:txBody>
                    <a:bodyPr/>
                    <a:lstStyle/>
                    <a:p>
                      <a:r>
                        <a:rPr sz="1300"/>
                        <a:t>1.1×</a:t>
                      </a:r>
                    </a:p>
                  </a:txBody>
                  <a:tcPr/>
                </a:tc>
              </a:tr>
            </a:tbl>
          </a:graphicData>
        </a:graphic>
      </p:graphicFrame>
      <p:sp>
        <p:nvSpPr>
          <p:cNvPr id="5" name="TextBox 4"/>
          <p:cNvSpPr txBox="1"/>
          <p:nvPr/>
        </p:nvSpPr>
        <p:spPr>
          <a:xfrm>
            <a:off x="457200" y="5833872"/>
            <a:ext cx="11247120" cy="731520"/>
          </a:xfrm>
          <a:prstGeom prst="rect">
            <a:avLst/>
          </a:prstGeom>
          <a:noFill/>
        </p:spPr>
        <p:txBody>
          <a:bodyPr wrap="square">
            <a:spAutoFit/>
          </a:bodyPr>
          <a:lstStyle/>
          <a:p>
            <a:pPr>
              <a:spcAft>
                <a:spcPts val="800"/>
              </a:spcAft>
            </a:pPr>
            <a:r>
              <a:rPr sz="1400"/>
              <a:t>• acq/s per run; 10 runs per setting, no confidence intervals</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Summary</a:t>
            </a:r>
          </a:p>
        </p:txBody>
      </p:sp>
      <p:sp>
        <p:nvSpPr>
          <p:cNvPr id="3" name="TextBox 2"/>
          <p:cNvSpPr txBox="1"/>
          <p:nvPr/>
        </p:nvSpPr>
        <p:spPr>
          <a:xfrm>
            <a:off x="11247120" y="6400800"/>
            <a:ext cx="731520" cy="365760"/>
          </a:xfrm>
          <a:prstGeom prst="rect">
            <a:avLst/>
          </a:prstGeom>
          <a:noFill/>
        </p:spPr>
        <p:txBody>
          <a:bodyPr wrap="none">
            <a:spAutoFit/>
          </a:bodyPr>
          <a:lstStyle/>
          <a:p>
            <a:pPr algn="r"/>
            <a:r>
              <a:rPr sz="1200">
                <a:solidFill>
                  <a:srgbClr val="808080"/>
                </a:solidFill>
              </a:rPr>
              <a:t>31</a:t>
            </a:r>
          </a:p>
        </p:txBody>
      </p:sp>
      <p:graphicFrame>
        <p:nvGraphicFramePr>
          <p:cNvPr id="4" name="Table 3"/>
          <p:cNvGraphicFramePr>
            <a:graphicFrameLocks noGrp="1"/>
          </p:cNvGraphicFramePr>
          <p:nvPr/>
        </p:nvGraphicFramePr>
        <p:xfrm>
          <a:off x="457200" y="1463040"/>
          <a:ext cx="11247120" cy="2468880"/>
        </p:xfrm>
        <a:graphic>
          <a:graphicData uri="http://schemas.openxmlformats.org/drawingml/2006/table">
            <a:tbl>
              <a:tblPr firstRow="1" bandRow="1">
                <a:tableStyleId>{5C22544A-7EE6-4342-B048-85BDC9FD1C3A}</a:tableStyleId>
              </a:tblPr>
              <a:tblGrid>
                <a:gridCol w="2377440"/>
                <a:gridCol w="2377440"/>
                <a:gridCol w="1280160"/>
                <a:gridCol w="1371600"/>
                <a:gridCol w="1097280"/>
                <a:gridCol w="1463040"/>
                <a:gridCol w="1280160"/>
              </a:tblGrid>
              <a:tr h="411480">
                <a:tc>
                  <a:txBody>
                    <a:bodyPr/>
                    <a:lstStyle/>
                    <a:p>
                      <a:r>
                        <a:rPr sz="1400"/>
                        <a:t>Lock</a:t>
                      </a:r>
                    </a:p>
                  </a:txBody>
                  <a:tcPr/>
                </a:tc>
                <a:tc>
                  <a:txBody>
                    <a:bodyPr/>
                    <a:lstStyle/>
                    <a:p>
                      <a:r>
                        <a:rPr sz="1400"/>
                        <a:t>Needs</a:t>
                      </a:r>
                    </a:p>
                  </a:txBody>
                  <a:tcPr/>
                </a:tc>
                <a:tc>
                  <a:txBody>
                    <a:bodyPr/>
                    <a:lstStyle/>
                    <a:p>
                      <a:r>
                        <a:rPr sz="1400"/>
                        <a:t>Mutual excl.</a:t>
                      </a:r>
                    </a:p>
                  </a:txBody>
                  <a:tcPr/>
                </a:tc>
                <a:tc>
                  <a:txBody>
                    <a:bodyPr/>
                    <a:lstStyle/>
                    <a:p>
                      <a:r>
                        <a:rPr sz="1400"/>
                        <a:t>Deadlock-free</a:t>
                      </a:r>
                    </a:p>
                  </a:txBody>
                  <a:tcPr/>
                </a:tc>
                <a:tc>
                  <a:txBody>
                    <a:bodyPr/>
                    <a:lstStyle/>
                    <a:p>
                      <a:r>
                        <a:rPr sz="1400"/>
                        <a:t>Fairness</a:t>
                      </a:r>
                    </a:p>
                  </a:txBody>
                  <a:tcPr/>
                </a:tc>
                <a:tc>
                  <a:txBody>
                    <a:bodyPr/>
                    <a:lstStyle/>
                    <a:p>
                      <a:r>
                        <a:rPr sz="1400"/>
                        <a:t>acq/s, all 8 CPUs</a:t>
                      </a:r>
                    </a:p>
                  </a:txBody>
                  <a:tcPr/>
                </a:tc>
                <a:tc>
                  <a:txBody>
                    <a:bodyPr/>
                    <a:lstStyle/>
                    <a:p>
                      <a:r>
                        <a:rPr sz="1400"/>
                        <a:t>acq/s, one CPU</a:t>
                      </a:r>
                    </a:p>
                  </a:txBody>
                  <a:tcPr/>
                </a:tc>
              </a:tr>
              <a:tr h="411480">
                <a:tc>
                  <a:txBody>
                    <a:bodyPr/>
                    <a:lstStyle/>
                    <a:p>
                      <a:r>
                        <a:rPr sz="1400"/>
                        <a:t>Peterson (2 thr)</a:t>
                      </a:r>
                    </a:p>
                  </a:txBody>
                  <a:tcPr/>
                </a:tc>
                <a:tc>
                  <a:txBody>
                    <a:bodyPr/>
                    <a:lstStyle/>
                    <a:p>
                      <a:r>
                        <a:rPr sz="1400"/>
                        <a:t>loads/stores + seq_cst</a:t>
                      </a:r>
                    </a:p>
                  </a:txBody>
                  <a:tcPr/>
                </a:tc>
                <a:tc>
                  <a:txBody>
                    <a:bodyPr/>
                    <a:lstStyle/>
                    <a:p>
                      <a:r>
                        <a:rPr sz="1400"/>
                        <a:t>yes</a:t>
                      </a:r>
                    </a:p>
                  </a:txBody>
                  <a:tcPr/>
                </a:tc>
                <a:tc>
                  <a:txBody>
                    <a:bodyPr/>
                    <a:lstStyle/>
                    <a:p>
                      <a:r>
                        <a:rPr sz="1400"/>
                        <a:t>yes</a:t>
                      </a:r>
                    </a:p>
                  </a:txBody>
                  <a:tcPr/>
                </a:tc>
                <a:tc>
                  <a:txBody>
                    <a:bodyPr/>
                    <a:lstStyle/>
                    <a:p>
                      <a:r>
                        <a:rPr sz="1400"/>
                        <a:t>1.00</a:t>
                      </a:r>
                    </a:p>
                  </a:txBody>
                  <a:tcPr/>
                </a:tc>
                <a:tc>
                  <a:txBody>
                    <a:bodyPr/>
                    <a:lstStyle/>
                    <a:p>
                      <a:r>
                        <a:rPr sz="1400"/>
                        <a:t>11 M</a:t>
                      </a:r>
                    </a:p>
                  </a:txBody>
                  <a:tcPr/>
                </a:tc>
                <a:tc>
                  <a:txBody>
                    <a:bodyPr/>
                    <a:lstStyle/>
                    <a:p>
                      <a:r>
                        <a:rPr sz="1400"/>
                        <a:t>107 k</a:t>
                      </a:r>
                    </a:p>
                  </a:txBody>
                  <a:tcPr/>
                </a:tc>
              </a:tr>
              <a:tr h="411480">
                <a:tc>
                  <a:txBody>
                    <a:bodyPr/>
                    <a:lstStyle/>
                    <a:p>
                      <a:r>
                        <a:rPr sz="1400"/>
                        <a:t>CAS spin lock (8 thr)</a:t>
                      </a:r>
                    </a:p>
                  </a:txBody>
                  <a:tcPr/>
                </a:tc>
                <a:tc>
                  <a:txBody>
                    <a:bodyPr/>
                    <a:lstStyle/>
                    <a:p>
                      <a:r>
                        <a:rPr sz="1400"/>
                        <a:t>CAS (LL/SC on Arm)</a:t>
                      </a:r>
                    </a:p>
                  </a:txBody>
                  <a:tcPr/>
                </a:tc>
                <a:tc>
                  <a:txBody>
                    <a:bodyPr/>
                    <a:lstStyle/>
                    <a:p>
                      <a:r>
                        <a:rPr sz="1400"/>
                        <a:t>yes</a:t>
                      </a:r>
                    </a:p>
                  </a:txBody>
                  <a:tcPr/>
                </a:tc>
                <a:tc>
                  <a:txBody>
                    <a:bodyPr/>
                    <a:lstStyle/>
                    <a:p>
                      <a:r>
                        <a:rPr sz="1400"/>
                        <a:t>yes</a:t>
                      </a:r>
                    </a:p>
                  </a:txBody>
                  <a:tcPr/>
                </a:tc>
                <a:tc>
                  <a:txBody>
                    <a:bodyPr/>
                    <a:lstStyle/>
                    <a:p>
                      <a:r>
                        <a:rPr sz="1400"/>
                        <a:t>0.55</a:t>
                      </a:r>
                    </a:p>
                  </a:txBody>
                  <a:tcPr/>
                </a:tc>
                <a:tc>
                  <a:txBody>
                    <a:bodyPr/>
                    <a:lstStyle/>
                    <a:p>
                      <a:r>
                        <a:rPr sz="1400"/>
                        <a:t>5.2 M</a:t>
                      </a:r>
                    </a:p>
                  </a:txBody>
                  <a:tcPr/>
                </a:tc>
                <a:tc>
                  <a:txBody>
                    <a:bodyPr/>
                    <a:lstStyle/>
                    <a:p>
                      <a:r>
                        <a:rPr sz="1400"/>
                        <a:t>12 M</a:t>
                      </a:r>
                    </a:p>
                  </a:txBody>
                  <a:tcPr/>
                </a:tc>
              </a:tr>
              <a:tr h="411480">
                <a:tc>
                  <a:txBody>
                    <a:bodyPr/>
                    <a:lstStyle/>
                    <a:p>
                      <a:r>
                        <a:rPr sz="1400"/>
                        <a:t>MCS (8 thr)</a:t>
                      </a:r>
                    </a:p>
                  </a:txBody>
                  <a:tcPr/>
                </a:tc>
                <a:tc>
                  <a:txBody>
                    <a:bodyPr/>
                    <a:lstStyle/>
                    <a:p>
                      <a:r>
                        <a:rPr sz="1400"/>
                        <a:t>atomic exchange + CAS</a:t>
                      </a:r>
                    </a:p>
                  </a:txBody>
                  <a:tcPr/>
                </a:tc>
                <a:tc>
                  <a:txBody>
                    <a:bodyPr/>
                    <a:lstStyle/>
                    <a:p>
                      <a:r>
                        <a:rPr sz="1400"/>
                        <a:t>yes</a:t>
                      </a:r>
                    </a:p>
                  </a:txBody>
                  <a:tcPr/>
                </a:tc>
                <a:tc>
                  <a:txBody>
                    <a:bodyPr/>
                    <a:lstStyle/>
                    <a:p>
                      <a:r>
                        <a:rPr sz="1400"/>
                        <a:t>yes</a:t>
                      </a:r>
                    </a:p>
                  </a:txBody>
                  <a:tcPr/>
                </a:tc>
                <a:tc>
                  <a:txBody>
                    <a:bodyPr/>
                    <a:lstStyle/>
                    <a:p>
                      <a:r>
                        <a:rPr sz="1400"/>
                        <a:t>0.96</a:t>
                      </a:r>
                    </a:p>
                  </a:txBody>
                  <a:tcPr/>
                </a:tc>
                <a:tc>
                  <a:txBody>
                    <a:bodyPr/>
                    <a:lstStyle/>
                    <a:p>
                      <a:r>
                        <a:rPr sz="1400"/>
                        <a:t>309 k</a:t>
                      </a:r>
                    </a:p>
                  </a:txBody>
                  <a:tcPr/>
                </a:tc>
                <a:tc>
                  <a:txBody>
                    <a:bodyPr/>
                    <a:lstStyle/>
                    <a:p>
                      <a:r>
                        <a:rPr sz="1400"/>
                        <a:t>262 k</a:t>
                      </a:r>
                    </a:p>
                  </a:txBody>
                  <a:tcPr/>
                </a:tc>
              </a:tr>
              <a:tr h="411480">
                <a:tc>
                  <a:txBody>
                    <a:bodyPr/>
                    <a:lstStyle/>
                    <a:p>
                      <a:r>
                        <a:rPr sz="1400"/>
                        <a:t>TAS (8 thr)</a:t>
                      </a:r>
                    </a:p>
                  </a:txBody>
                  <a:tcPr/>
                </a:tc>
                <a:tc>
                  <a:txBody>
                    <a:bodyPr/>
                    <a:lstStyle/>
                    <a:p>
                      <a:r>
                        <a:rPr sz="1400"/>
                        <a:t>test-and-set</a:t>
                      </a:r>
                    </a:p>
                  </a:txBody>
                  <a:tcPr/>
                </a:tc>
                <a:tc>
                  <a:txBody>
                    <a:bodyPr/>
                    <a:lstStyle/>
                    <a:p>
                      <a:r>
                        <a:rPr sz="1400"/>
                        <a:t>yes</a:t>
                      </a:r>
                    </a:p>
                  </a:txBody>
                  <a:tcPr/>
                </a:tc>
                <a:tc>
                  <a:txBody>
                    <a:bodyPr/>
                    <a:lstStyle/>
                    <a:p>
                      <a:r>
                        <a:rPr sz="1400"/>
                        <a:t>yes</a:t>
                      </a:r>
                    </a:p>
                  </a:txBody>
                  <a:tcPr/>
                </a:tc>
                <a:tc>
                  <a:txBody>
                    <a:bodyPr/>
                    <a:lstStyle/>
                    <a:p>
                      <a:r>
                        <a:rPr sz="1400"/>
                        <a:t>0.78</a:t>
                      </a:r>
                    </a:p>
                  </a:txBody>
                  <a:tcPr/>
                </a:tc>
                <a:tc>
                  <a:txBody>
                    <a:bodyPr/>
                    <a:lstStyle/>
                    <a:p>
                      <a:r>
                        <a:rPr sz="1400"/>
                        <a:t>5.0 M</a:t>
                      </a:r>
                    </a:p>
                  </a:txBody>
                  <a:tcPr/>
                </a:tc>
                <a:tc>
                  <a:txBody>
                    <a:bodyPr/>
                    <a:lstStyle/>
                    <a:p>
                      <a:r>
                        <a:rPr sz="1400"/>
                        <a:t>14 M</a:t>
                      </a:r>
                    </a:p>
                  </a:txBody>
                  <a:tcPr/>
                </a:tc>
              </a:tr>
              <a:tr h="411480">
                <a:tc>
                  <a:txBody>
                    <a:bodyPr/>
                    <a:lstStyle/>
                    <a:p>
                      <a:r>
                        <a:rPr sz="1400"/>
                        <a:t>pthread_mutex (8 thr)</a:t>
                      </a:r>
                    </a:p>
                  </a:txBody>
                  <a:tcPr/>
                </a:tc>
                <a:tc>
                  <a:txBody>
                    <a:bodyPr/>
                    <a:lstStyle/>
                    <a:p>
                      <a:r>
                        <a:rPr sz="1400"/>
                        <a:t>atomics + futex</a:t>
                      </a:r>
                    </a:p>
                  </a:txBody>
                  <a:tcPr/>
                </a:tc>
                <a:tc>
                  <a:txBody>
                    <a:bodyPr/>
                    <a:lstStyle/>
                    <a:p>
                      <a:r>
                        <a:rPr sz="1400"/>
                        <a:t>yes</a:t>
                      </a:r>
                    </a:p>
                  </a:txBody>
                  <a:tcPr/>
                </a:tc>
                <a:tc>
                  <a:txBody>
                    <a:bodyPr/>
                    <a:lstStyle/>
                    <a:p>
                      <a:r>
                        <a:rPr sz="1400"/>
                        <a:t>yes</a:t>
                      </a:r>
                    </a:p>
                  </a:txBody>
                  <a:tcPr/>
                </a:tc>
                <a:tc>
                  <a:txBody>
                    <a:bodyPr/>
                    <a:lstStyle/>
                    <a:p>
                      <a:r>
                        <a:rPr sz="1400"/>
                        <a:t>0.88</a:t>
                      </a:r>
                    </a:p>
                  </a:txBody>
                  <a:tcPr/>
                </a:tc>
                <a:tc>
                  <a:txBody>
                    <a:bodyPr/>
                    <a:lstStyle/>
                    <a:p>
                      <a:r>
                        <a:rPr sz="1400"/>
                        <a:t>18 M</a:t>
                      </a:r>
                    </a:p>
                  </a:txBody>
                  <a:tcPr/>
                </a:tc>
                <a:tc>
                  <a:txBody>
                    <a:bodyPr/>
                    <a:lstStyle/>
                    <a:p>
                      <a:r>
                        <a:rPr sz="1400"/>
                        <a:t>57 M</a:t>
                      </a:r>
                    </a:p>
                  </a:txBody>
                  <a:tcPr/>
                </a:tc>
              </a:tr>
            </a:tbl>
          </a:graphicData>
        </a:graphic>
      </p:graphicFrame>
      <p:sp>
        <p:nvSpPr>
          <p:cNvPr id="5" name="TextBox 4"/>
          <p:cNvSpPr txBox="1"/>
          <p:nvPr/>
        </p:nvSpPr>
        <p:spPr>
          <a:xfrm>
            <a:off x="457200" y="4297680"/>
            <a:ext cx="11247120" cy="1371600"/>
          </a:xfrm>
          <a:prstGeom prst="rect">
            <a:avLst/>
          </a:prstGeom>
          <a:noFill/>
        </p:spPr>
        <p:txBody>
          <a:bodyPr wrap="square">
            <a:spAutoFit/>
          </a:bodyPr>
          <a:lstStyle/>
          <a:p>
            <a:pPr>
              <a:spcAft>
                <a:spcPts val="800"/>
              </a:spcAft>
            </a:pPr>
            <a:r>
              <a:rPr sz="1600"/>
              <a:t>• Fairness = fewest ÷ most acquisitions per thread; medians of 10 runs of 1 s; mutual exclusion and deadlock: no violation observed</a:t>
            </a:r>
          </a:p>
          <a:p>
            <a:pPr>
              <a:spcAft>
                <a:spcPts val="800"/>
              </a:spcAft>
            </a:pPr>
            <a:r>
              <a:rPr sz="1600"/>
              <a:t>• CAS spin lock = x86 stand-in for LL/SC: its speed is not the speed of LL/SC hardware</a:t>
            </a:r>
          </a:p>
          <a:p>
            <a:pPr>
              <a:spcAft>
                <a:spcPts val="800"/>
              </a:spcAft>
            </a:pPr>
            <a:r>
              <a:rPr sz="1600">
                <a:solidFill>
                  <a:srgbClr val="C0392B"/>
                </a:solidFill>
              </a:rPr>
              <a:t>• Peterson held on x86 only with the fence (or _Atomic seq_cst)</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Conclusion</a:t>
            </a:r>
          </a:p>
        </p:txBody>
      </p:sp>
      <p:sp>
        <p:nvSpPr>
          <p:cNvPr id="3" name="Text Placeholder 2"/>
          <p:cNvSpPr>
            <a:spLocks noGrp="1"/>
          </p:cNvSpPr>
          <p:nvPr>
            <p:ph type="body" idx="1"/>
          </p:nvPr>
        </p:nvSpPr>
        <p:spPr/>
        <p:txBody>
          <a:bodyPr/>
          <a:lstStyle/>
          <a:p>
            <a:r>
              <a:t>67070501075</a:t>
            </a:r>
          </a:p>
          <a:p>
            <a:r>
              <a:t>Siriwan Yindeephot</a:t>
            </a:r>
          </a:p>
        </p:txBody>
      </p:sp>
      <p:sp>
        <p:nvSpPr>
          <p:cNvPr id="4" name="TextBox 3"/>
          <p:cNvSpPr txBox="1"/>
          <p:nvPr/>
        </p:nvSpPr>
        <p:spPr>
          <a:xfrm>
            <a:off x="11247120" y="6400800"/>
            <a:ext cx="731520" cy="365760"/>
          </a:xfrm>
          <a:prstGeom prst="rect">
            <a:avLst/>
          </a:prstGeom>
          <a:noFill/>
        </p:spPr>
        <p:txBody>
          <a:bodyPr wrap="none">
            <a:spAutoFit/>
          </a:bodyPr>
          <a:lstStyle/>
          <a:p>
            <a:pPr algn="r"/>
            <a:r>
              <a:rPr sz="1200">
                <a:solidFill>
                  <a:srgbClr val="808080"/>
                </a:solidFill>
              </a:rPr>
              <a:t>32</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Conclusion</a:t>
            </a:r>
          </a:p>
        </p:txBody>
      </p:sp>
      <p:sp>
        <p:nvSpPr>
          <p:cNvPr id="3" name="TextBox 2"/>
          <p:cNvSpPr txBox="1"/>
          <p:nvPr/>
        </p:nvSpPr>
        <p:spPr>
          <a:xfrm>
            <a:off x="11247120" y="6400800"/>
            <a:ext cx="731520" cy="365760"/>
          </a:xfrm>
          <a:prstGeom prst="rect">
            <a:avLst/>
          </a:prstGeom>
          <a:noFill/>
        </p:spPr>
        <p:txBody>
          <a:bodyPr wrap="none">
            <a:spAutoFit/>
          </a:bodyPr>
          <a:lstStyle/>
          <a:p>
            <a:pPr algn="r"/>
            <a:r>
              <a:rPr sz="1200">
                <a:solidFill>
                  <a:srgbClr val="808080"/>
                </a:solidFill>
              </a:rPr>
              <a:t>33</a:t>
            </a:r>
          </a:p>
        </p:txBody>
      </p:sp>
      <p:sp>
        <p:nvSpPr>
          <p:cNvPr id="4" name="TextBox 3"/>
          <p:cNvSpPr txBox="1"/>
          <p:nvPr/>
        </p:nvSpPr>
        <p:spPr>
          <a:xfrm>
            <a:off x="822960" y="1554480"/>
            <a:ext cx="10789920" cy="4937760"/>
          </a:xfrm>
          <a:prstGeom prst="rect">
            <a:avLst/>
          </a:prstGeom>
          <a:noFill/>
        </p:spPr>
        <p:txBody>
          <a:bodyPr wrap="square">
            <a:spAutoFit/>
          </a:bodyPr>
          <a:lstStyle/>
          <a:p>
            <a:pPr>
              <a:spcAft>
                <a:spcPts val="800"/>
              </a:spcAft>
            </a:pPr>
            <a:r>
              <a:rPr sz="2000"/>
              <a:t>• Arguments plus no violation observed in 390 runs — Peterson only with sequential consistency (a fence on x86)</a:t>
            </a:r>
          </a:p>
          <a:p>
            <a:pPr>
              <a:spcAft>
                <a:spcPts val="800"/>
              </a:spcAft>
            </a:pPr>
            <a:r>
              <a:rPr sz="2000"/>
              <a:t>• Peterson: software only, bounded waiting, but two threads only</a:t>
            </a:r>
          </a:p>
          <a:p>
            <a:pPr>
              <a:spcAft>
                <a:spcPts val="800"/>
              </a:spcAft>
            </a:pPr>
            <a:r>
              <a:rPr sz="2000"/>
              <a:t>• LL/SC: one short loop; our x86 numbers are a CAS proxy; no queue, so unbalanced</a:t>
            </a:r>
          </a:p>
          <a:p>
            <a:pPr>
              <a:spcAft>
                <a:spcPts val="800"/>
              </a:spcAft>
            </a:pPr>
            <a:r>
              <a:rPr sz="2000"/>
              <a:t>• MCS: a queue gives first-come, first-served for any number of threads; Linux builds on it</a:t>
            </a:r>
          </a:p>
          <a:p>
            <a:pPr>
              <a:spcAft>
                <a:spcPts val="800"/>
              </a:spcAft>
            </a:pPr>
            <a:r>
              <a:rPr sz="2000"/>
              <a:t>• Spinning on one CPU wastes time slices; sleeping locks (futex, pthread_mutex) avoid it</a:t>
            </a:r>
          </a:p>
          <a:p>
            <a:pPr>
              <a:spcAft>
                <a:spcPts val="800"/>
              </a:spcAft>
            </a:pPr>
            <a:r>
              <a:rPr sz="2000"/>
              <a:t>• Limits: WSL2 vCPUs, tiny critical section, 10 × 1 s runs; some results vary widely</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References</a:t>
            </a:r>
          </a:p>
        </p:txBody>
      </p:sp>
      <p:sp>
        <p:nvSpPr>
          <p:cNvPr id="3" name="TextBox 2"/>
          <p:cNvSpPr txBox="1"/>
          <p:nvPr/>
        </p:nvSpPr>
        <p:spPr>
          <a:xfrm>
            <a:off x="11247120" y="6400800"/>
            <a:ext cx="731520" cy="365760"/>
          </a:xfrm>
          <a:prstGeom prst="rect">
            <a:avLst/>
          </a:prstGeom>
          <a:noFill/>
        </p:spPr>
        <p:txBody>
          <a:bodyPr wrap="none">
            <a:spAutoFit/>
          </a:bodyPr>
          <a:lstStyle/>
          <a:p>
            <a:pPr algn="r"/>
            <a:r>
              <a:rPr sz="1200">
                <a:solidFill>
                  <a:srgbClr val="808080"/>
                </a:solidFill>
              </a:rPr>
              <a:t>34</a:t>
            </a:r>
          </a:p>
        </p:txBody>
      </p:sp>
      <p:sp>
        <p:nvSpPr>
          <p:cNvPr id="4" name="TextBox 3"/>
          <p:cNvSpPr txBox="1"/>
          <p:nvPr/>
        </p:nvSpPr>
        <p:spPr>
          <a:xfrm>
            <a:off x="822960" y="1554480"/>
            <a:ext cx="10789920" cy="4937760"/>
          </a:xfrm>
          <a:prstGeom prst="rect">
            <a:avLst/>
          </a:prstGeom>
          <a:noFill/>
        </p:spPr>
        <p:txBody>
          <a:bodyPr wrap="square">
            <a:spAutoFit/>
          </a:bodyPr>
          <a:lstStyle/>
          <a:p>
            <a:pPr>
              <a:spcAft>
                <a:spcPts val="800"/>
              </a:spcAft>
            </a:pPr>
            <a:r>
              <a:rPr sz="1800"/>
              <a:t>• R. H. Arpaci-Dusseau, A. C. Arpaci-Dusseau, Operating Systems: Three Easy Pieces, ch. 28 “Locks”</a:t>
            </a:r>
          </a:p>
          <a:p>
            <a:pPr>
              <a:spcAft>
                <a:spcPts val="800"/>
              </a:spcAft>
            </a:pPr>
            <a:r>
              <a:rPr sz="1800"/>
              <a:t>• CPE 333 Lecture 8: Locks Mechanism</a:t>
            </a:r>
          </a:p>
          <a:p>
            <a:pPr>
              <a:spcAft>
                <a:spcPts val="800"/>
              </a:spcAft>
            </a:pPr>
            <a:r>
              <a:rPr sz="1800"/>
              <a:t>• G. L. Peterson, “Myths About the Mutual Exclusion Problem”, Information Processing Letters 12(3), 1981</a:t>
            </a:r>
          </a:p>
          <a:p>
            <a:pPr>
              <a:spcAft>
                <a:spcPts val="800"/>
              </a:spcAft>
            </a:pPr>
            <a:r>
              <a:rPr sz="1800"/>
              <a:t>• J. M. Mellor-Crummey, M. L. Scott, “Algorithms for Scalable Synchronization on Shared-Memory Multiprocessors”, ACM TOCS 9(1), 1991</a:t>
            </a:r>
          </a:p>
          <a:p>
            <a:pPr>
              <a:spcAft>
                <a:spcPts val="800"/>
              </a:spcAft>
            </a:pPr>
            <a:r>
              <a:rPr sz="1800"/>
              <a:t>• Linux kernel source: kernel/locking/qspinlock.c</a:t>
            </a:r>
          </a:p>
          <a:p>
            <a:pPr>
              <a:spcAft>
                <a:spcPts val="800"/>
              </a:spcAft>
            </a:pPr>
            <a:r>
              <a:rPr sz="1800"/>
              <a:t>• Arm Architecture Reference Manual for A-profile architecture: LDAXR, STXR</a:t>
            </a:r>
          </a:p>
          <a:p>
            <a:pPr>
              <a:spcAft>
                <a:spcPts val="800"/>
              </a:spcAft>
            </a:pPr>
            <a:r>
              <a:rPr sz="1800"/>
              <a:t>• Code and raw results: PS08/src, PS08/results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78</TotalTime>
  <Words>511</Words>
  <Application>Microsoft Office PowerPoint</Application>
  <PresentationFormat>Widescreen</PresentationFormat>
  <Paragraphs>65</Paragraphs>
  <Slides>6</Slides>
  <Notes>2</Notes>
  <HiddenSlides>0</HiddenSlides>
  <MMClips>0</MMClips>
  <ScaleCrop>false</ScaleCrop>
  <HeadingPairs>
    <vt:vector size="4" baseType="variant">
      <vt:variant>
        <vt:lpstr>Theme</vt:lpstr>
      </vt:variant>
      <vt:variant>
        <vt:i4>1</vt:i4>
      </vt:variant>
      <vt:variant>
        <vt:lpstr>Slide Titles</vt:lpstr>
      </vt:variant>
      <vt:variant>
        <vt:i4>6</vt:i4>
      </vt:variant>
    </vt:vector>
  </HeadingPairs>
  <TitlesOfParts>
    <vt:vector size="7" baseType="lpstr">
      <vt:lpstr>Office Theme</vt:lpstr>
      <vt:lpstr>Problem Session 08 Lock Mechanisms</vt:lpstr>
      <vt:lpstr>Group: OS InW</vt:lpstr>
      <vt:lpstr>Test and Set Algorithm</vt:lpstr>
      <vt:lpstr>Software Test and Set</vt:lpstr>
      <vt:lpstr>What about Correctness</vt:lpstr>
      <vt:lpstr>What about Performance</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กลุ่ม โอเอส เทพ</dc:title>
  <dc:creator>liveGas MSN</dc:creator>
  <cp:lastModifiedBy>Wiwat Asawalertsak</cp:lastModifiedBy>
  <cp:revision>15</cp:revision>
  <dcterms:created xsi:type="dcterms:W3CDTF">2018-10-30T07:30:55Z</dcterms:created>
  <dcterms:modified xsi:type="dcterms:W3CDTF">2026-09-30T07:21:15Z</dcterms:modified>
</cp:coreProperties>
</file>