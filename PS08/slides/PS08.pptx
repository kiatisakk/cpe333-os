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7"/>
    <p:sldId id="257" r:id="rId6"/>
    <p:sldId id="258" r:id="rId5"/>
    <p:sldId id="259" r:id="rId4"/>
    <p:sldId id="260" r:id="rId3"/>
    <p:sldId id="261" r:id="rId2"/>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72A635-EC99-9DD3-326D-7849E8192C2B}" v="3" dt="2026-09-30T07:21:06.8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7" autoAdjust="0"/>
    <p:restoredTop sz="94660"/>
  </p:normalViewPr>
  <p:slideViewPr>
    <p:cSldViewPr snapToGrid="0">
      <p:cViewPr varScale="1">
        <p:scale>
          <a:sx n="108" d="100"/>
          <a:sy n="108" d="100"/>
        </p:scale>
        <p:origin x="67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6.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6/11/relationships/changesInfo" Target="changesInfos/changesInfo1.xml"/><Relationship Id="rId14" Type="http://schemas.microsoft.com/office/2015/10/relationships/revisionInfo" Target="revisionInfo.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mar yusoh" userId="S::omar.yusoh@kmutt.ac.th::c1e1226a-a18f-45fd-83d8-e1c46918aafe" providerId="AD" clId="Web-{9372A635-EC99-9DD3-326D-7849E8192C2B}"/>
    <pc:docChg chg="modSld">
      <pc:chgData name="omar yusoh" userId="S::omar.yusoh@kmutt.ac.th::c1e1226a-a18f-45fd-83d8-e1c46918aafe" providerId="AD" clId="Web-{9372A635-EC99-9DD3-326D-7849E8192C2B}" dt="2026-09-30T07:21:06.815" v="2" actId="20577"/>
      <pc:docMkLst>
        <pc:docMk/>
      </pc:docMkLst>
      <pc:sldChg chg="modSp">
        <pc:chgData name="omar yusoh" userId="S::omar.yusoh@kmutt.ac.th::c1e1226a-a18f-45fd-83d8-e1c46918aafe" providerId="AD" clId="Web-{9372A635-EC99-9DD3-326D-7849E8192C2B}" dt="2026-09-30T07:21:06.815" v="2" actId="20577"/>
        <pc:sldMkLst>
          <pc:docMk/>
          <pc:sldMk cId="4270360253" sldId="262"/>
        </pc:sldMkLst>
        <pc:spChg chg="mod">
          <ac:chgData name="omar yusoh" userId="S::omar.yusoh@kmutt.ac.th::c1e1226a-a18f-45fd-83d8-e1c46918aafe" providerId="AD" clId="Web-{9372A635-EC99-9DD3-326D-7849E8192C2B}" dt="2026-09-30T07:21:06.815" v="2" actId="20577"/>
          <ac:spMkLst>
            <pc:docMk/>
            <pc:sldMk cId="4270360253" sldId="262"/>
            <ac:spMk id="3"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all 8 CPUs</c:v>
                </c:pt>
              </c:strCache>
            </c:strRef>
          </c:tx>
          <c:cat>
            <c:strRef>
              <c:f>Sheet1!$A$2:$A$3</c:f>
              <c:strCache>
                <c:ptCount val="2"/>
                <c:pt idx="0">
                  <c:v>1 thread</c:v>
                </c:pt>
                <c:pt idx="1">
                  <c:v>2 threads</c:v>
                </c:pt>
              </c:strCache>
            </c:strRef>
          </c:cat>
          <c:val>
            <c:numRef>
              <c:f>Sheet1!$B$2:$B$3</c:f>
              <c:numCache>
                <c:formatCode>General</c:formatCode>
                <c:ptCount val="2"/>
                <c:pt idx="0">
                  <c:v>67.920163</c:v>
                </c:pt>
                <c:pt idx="1">
                  <c:v>18.05578</c:v>
                </c:pt>
              </c:numCache>
            </c:numRef>
          </c:val>
        </c:ser>
        <c:ser>
          <c:idx val="1"/>
          <c:order val="1"/>
          <c:tx>
            <c:strRef>
              <c:f>Sheet1!$C$1</c:f>
              <c:strCache>
                <c:ptCount val="1"/>
                <c:pt idx="0">
                  <c:v>one CPU</c:v>
                </c:pt>
              </c:strCache>
            </c:strRef>
          </c:tx>
          <c:cat>
            <c:strRef>
              <c:f>Sheet1!$A$2:$A$3</c:f>
              <c:strCache>
                <c:ptCount val="2"/>
                <c:pt idx="0">
                  <c:v>1 thread</c:v>
                </c:pt>
                <c:pt idx="1">
                  <c:v>2 threads</c:v>
                </c:pt>
              </c:strCache>
            </c:strRef>
          </c:cat>
          <c:val>
            <c:numRef>
              <c:f>Sheet1!$C$2:$C$3</c:f>
              <c:numCache>
                <c:formatCode>General</c:formatCode>
                <c:ptCount val="2"/>
                <c:pt idx="0">
                  <c:v>68.207781</c:v>
                </c:pt>
                <c:pt idx="1">
                  <c:v>0.191643</c:v>
                </c:pt>
              </c:numCache>
            </c:numRef>
          </c:val>
        </c:ser>
        <c:dLbls>
          <c:numFmt formatCode="[&lt;1]0.00;0.0" sourceLinked="0"/>
          <c:txPr>
            <a:bodyPr/>
            <a:lstStyle/>
            <a:p>
              <a:pPr>
                <a:defRPr sz="12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r>
                  <a:rPr sz="1200"/>
                  <a:t>threads</a:t>
                </a:r>
              </a:p>
            </c:rich>
          </c:tx>
          <c:layout/>
          <c:overlay val="0"/>
        </c:title>
        <c:majorTickMark val="out"/>
        <c:minorTickMark val="none"/>
        <c:tickLblPos val="nextTo"/>
        <c:crossAx val="-2113994440"/>
        <c:crosses val="min"/>
        <c:auto val="1"/>
        <c:lblAlgn val="ctr"/>
        <c:lblOffset val="100"/>
        <c:noMultiLvlLbl val="0"/>
      </c:catAx>
      <c:valAx>
        <c:axId val="-2113994440"/>
        <c:scaling>
          <c:logBase val="10"/>
          <c:max val="100.0"/>
          <c:min val="0.1"/>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068027336"/>
        <c:crosses val="autoZero"/>
      </c:valAx>
    </c:plotArea>
    <c:legend>
      <c:legendPos val="b"/>
      <c:overlay val="0"/>
    </c:legend>
    <c:dispBlanksAs val="gap"/>
  </c:chart>
  <c:txPr>
    <a:bodyPr/>
    <a:lstStyle/>
    <a:p>
      <a:pPr>
        <a:defRPr sz="12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LL/SC, all 8 CPUs</c:v>
                </c:pt>
              </c:strCache>
            </c:strRef>
          </c:tx>
          <c:cat>
            <c:strRef>
              <c:f>Sheet1!$A$2:$A$5</c:f>
              <c:strCache>
                <c:ptCount val="4"/>
                <c:pt idx="0">
                  <c:v>1</c:v>
                </c:pt>
                <c:pt idx="1">
                  <c:v>2</c:v>
                </c:pt>
                <c:pt idx="2">
                  <c:v>4</c:v>
                </c:pt>
                <c:pt idx="3">
                  <c:v>8</c:v>
                </c:pt>
              </c:strCache>
            </c:strRef>
          </c:cat>
          <c:val>
            <c:numRef>
              <c:f>Sheet1!$B$2:$B$5</c:f>
              <c:numCache>
                <c:formatCode>General</c:formatCode>
                <c:ptCount val="4"/>
                <c:pt idx="0">
                  <c:v>115.001974</c:v>
                </c:pt>
                <c:pt idx="1">
                  <c:v>18.227358</c:v>
                </c:pt>
                <c:pt idx="2">
                  <c:v>8.781207</c:v>
                </c:pt>
                <c:pt idx="3">
                  <c:v>6.382294</c:v>
                </c:pt>
              </c:numCache>
            </c:numRef>
          </c:val>
          <c:smooth val="0"/>
        </c:ser>
        <c:ser>
          <c:idx val="1"/>
          <c:order val="1"/>
          <c:tx>
            <c:strRef>
              <c:f>Sheet1!$C$1</c:f>
              <c:strCache>
                <c:ptCount val="1"/>
                <c:pt idx="0">
                  <c:v>LL/SC, one CPU</c:v>
                </c:pt>
              </c:strCache>
            </c:strRef>
          </c:tx>
          <c:cat>
            <c:strRef>
              <c:f>Sheet1!$A$2:$A$5</c:f>
              <c:strCache>
                <c:ptCount val="4"/>
                <c:pt idx="0">
                  <c:v>1</c:v>
                </c:pt>
                <c:pt idx="1">
                  <c:v>2</c:v>
                </c:pt>
                <c:pt idx="2">
                  <c:v>4</c:v>
                </c:pt>
                <c:pt idx="3">
                  <c:v>8</c:v>
                </c:pt>
              </c:strCache>
            </c:strRef>
          </c:cat>
          <c:val>
            <c:numRef>
              <c:f>Sheet1!$C$2:$C$5</c:f>
              <c:numCache>
                <c:formatCode>General</c:formatCode>
                <c:ptCount val="4"/>
                <c:pt idx="0">
                  <c:v>114.820807</c:v>
                </c:pt>
                <c:pt idx="1">
                  <c:v>60.079975</c:v>
                </c:pt>
                <c:pt idx="2">
                  <c:v>28.918768</c:v>
                </c:pt>
                <c:pt idx="3">
                  <c:v>14.103501</c:v>
                </c:pt>
              </c:numCache>
            </c:numRef>
          </c:val>
          <c:smooth val="0"/>
        </c:ser>
        <c:ser>
          <c:idx val="2"/>
          <c:order val="2"/>
          <c:tx>
            <c:strRef>
              <c:f>Sheet1!$D$1</c:f>
              <c:strCache>
                <c:ptCount val="1"/>
                <c:pt idx="0">
                  <c:v>TAS, all 8 CPUs</c:v>
                </c:pt>
              </c:strCache>
            </c:strRef>
          </c:tx>
          <c:cat>
            <c:strRef>
              <c:f>Sheet1!$A$2:$A$5</c:f>
              <c:strCache>
                <c:ptCount val="4"/>
                <c:pt idx="0">
                  <c:v>1</c:v>
                </c:pt>
                <c:pt idx="1">
                  <c:v>2</c:v>
                </c:pt>
                <c:pt idx="2">
                  <c:v>4</c:v>
                </c:pt>
                <c:pt idx="3">
                  <c:v>8</c:v>
                </c:pt>
              </c:strCache>
            </c:strRef>
          </c:cat>
          <c:val>
            <c:numRef>
              <c:f>Sheet1!$D$2:$D$5</c:f>
              <c:numCache>
                <c:formatCode>General</c:formatCode>
                <c:ptCount val="4"/>
                <c:pt idx="0">
                  <c:v>109.738311</c:v>
                </c:pt>
                <c:pt idx="1">
                  <c:v>23.410838</c:v>
                </c:pt>
                <c:pt idx="2">
                  <c:v>9.574425</c:v>
                </c:pt>
                <c:pt idx="3">
                  <c:v>5.794615</c:v>
                </c:pt>
              </c:numCache>
            </c:numRef>
          </c:val>
          <c:smooth val="0"/>
        </c:ser>
        <c:ser>
          <c:idx val="3"/>
          <c:order val="3"/>
          <c:tx>
            <c:strRef>
              <c:f>Sheet1!$E$1</c:f>
              <c:strCache>
                <c:ptCount val="1"/>
                <c:pt idx="0">
                  <c:v>TAS, one CPU</c:v>
                </c:pt>
              </c:strCache>
            </c:strRef>
          </c:tx>
          <c:cat>
            <c:strRef>
              <c:f>Sheet1!$A$2:$A$5</c:f>
              <c:strCache>
                <c:ptCount val="4"/>
                <c:pt idx="0">
                  <c:v>1</c:v>
                </c:pt>
                <c:pt idx="1">
                  <c:v>2</c:v>
                </c:pt>
                <c:pt idx="2">
                  <c:v>4</c:v>
                </c:pt>
                <c:pt idx="3">
                  <c:v>8</c:v>
                </c:pt>
              </c:strCache>
            </c:strRef>
          </c:cat>
          <c:val>
            <c:numRef>
              <c:f>Sheet1!$E$2:$E$5</c:f>
              <c:numCache>
                <c:formatCode>General</c:formatCode>
                <c:ptCount val="4"/>
                <c:pt idx="0">
                  <c:v>109.840924</c:v>
                </c:pt>
                <c:pt idx="1">
                  <c:v>56.040178</c:v>
                </c:pt>
                <c:pt idx="2">
                  <c:v>28.76698</c:v>
                </c:pt>
                <c:pt idx="3">
                  <c:v>13.962459</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1.0"/>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Bakery, all 8 CPUs</c:v>
                </c:pt>
              </c:strCache>
            </c:strRef>
          </c:tx>
          <c:cat>
            <c:strRef>
              <c:f>Sheet1!$A$2:$A$5</c:f>
              <c:strCache>
                <c:ptCount val="4"/>
                <c:pt idx="0">
                  <c:v>1</c:v>
                </c:pt>
                <c:pt idx="1">
                  <c:v>2</c:v>
                </c:pt>
                <c:pt idx="2">
                  <c:v>4</c:v>
                </c:pt>
                <c:pt idx="3">
                  <c:v>8</c:v>
                </c:pt>
              </c:strCache>
            </c:strRef>
          </c:cat>
          <c:val>
            <c:numRef>
              <c:f>Sheet1!$B$2:$B$5</c:f>
              <c:numCache>
                <c:formatCode>General</c:formatCode>
                <c:ptCount val="4"/>
                <c:pt idx="0">
                  <c:v>34.104665</c:v>
                </c:pt>
                <c:pt idx="1">
                  <c:v>8.401917</c:v>
                </c:pt>
                <c:pt idx="2">
                  <c:v>4.809303</c:v>
                </c:pt>
                <c:pt idx="3">
                  <c:v>2.999472</c:v>
                </c:pt>
              </c:numCache>
            </c:numRef>
          </c:val>
          <c:smooth val="0"/>
        </c:ser>
        <c:ser>
          <c:idx val="1"/>
          <c:order val="1"/>
          <c:tx>
            <c:strRef>
              <c:f>Sheet1!$C$1</c:f>
              <c:strCache>
                <c:ptCount val="1"/>
                <c:pt idx="0">
                  <c:v>Bakery, one CPU</c:v>
                </c:pt>
              </c:strCache>
            </c:strRef>
          </c:tx>
          <c:cat>
            <c:strRef>
              <c:f>Sheet1!$A$2:$A$5</c:f>
              <c:strCache>
                <c:ptCount val="4"/>
                <c:pt idx="0">
                  <c:v>1</c:v>
                </c:pt>
                <c:pt idx="1">
                  <c:v>2</c:v>
                </c:pt>
                <c:pt idx="2">
                  <c:v>4</c:v>
                </c:pt>
                <c:pt idx="3">
                  <c:v>8</c:v>
                </c:pt>
              </c:strCache>
            </c:strRef>
          </c:cat>
          <c:val>
            <c:numRef>
              <c:f>Sheet1!$C$2:$C$5</c:f>
              <c:numCache>
                <c:formatCode>General</c:formatCode>
                <c:ptCount val="4"/>
                <c:pt idx="0">
                  <c:v>34.453691</c:v>
                </c:pt>
                <c:pt idx="1">
                  <c:v>0.05582</c:v>
                </c:pt>
                <c:pt idx="2">
                  <c:v>0.169242</c:v>
                </c:pt>
                <c:pt idx="3">
                  <c:v>0.090003</c:v>
                </c:pt>
              </c:numCache>
            </c:numRef>
          </c:val>
          <c:smooth val="0"/>
        </c:ser>
        <c:ser>
          <c:idx val="2"/>
          <c:order val="2"/>
          <c:tx>
            <c:strRef>
              <c:f>Sheet1!$D$1</c:f>
              <c:strCache>
                <c:ptCount val="1"/>
                <c:pt idx="0">
                  <c:v>pthread_mutex, all 8 CPUs</c:v>
                </c:pt>
              </c:strCache>
            </c:strRef>
          </c:tx>
          <c:cat>
            <c:strRef>
              <c:f>Sheet1!$A$2:$A$5</c:f>
              <c:strCache>
                <c:ptCount val="4"/>
                <c:pt idx="0">
                  <c:v>1</c:v>
                </c:pt>
                <c:pt idx="1">
                  <c:v>2</c:v>
                </c:pt>
                <c:pt idx="2">
                  <c:v>4</c:v>
                </c:pt>
                <c:pt idx="3">
                  <c:v>8</c:v>
                </c:pt>
              </c:strCache>
            </c:strRef>
          </c:cat>
          <c:val>
            <c:numRef>
              <c:f>Sheet1!$D$2:$D$5</c:f>
              <c:numCache>
                <c:formatCode>General</c:formatCode>
                <c:ptCount val="4"/>
                <c:pt idx="0">
                  <c:v>54.932697</c:v>
                </c:pt>
                <c:pt idx="1">
                  <c:v>15.722737</c:v>
                </c:pt>
                <c:pt idx="2">
                  <c:v>19.072451</c:v>
                </c:pt>
                <c:pt idx="3">
                  <c:v>19.599804</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
          <c:min val="0.01"/>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t>All 8 CPUs</a:t>
            </a:r>
          </a:p>
        </c:rich>
      </c:tx>
      <c:layout/>
      <c:overlay val="0"/>
    </c:title>
    <c:autoTitleDeleted val="0"/>
    <c:plotArea>
      <c:lineChart>
        <c:grouping val="standard"/>
        <c:varyColors val="0"/>
        <c:ser>
          <c:idx val="0"/>
          <c:order val="0"/>
          <c:tx>
            <c:strRef>
              <c:f>Sheet1!$B$1</c:f>
              <c:strCache>
                <c:ptCount val="1"/>
                <c:pt idx="0">
                  <c:v>Peterson</c:v>
                </c:pt>
              </c:strCache>
            </c:strRef>
          </c:tx>
          <c:cat>
            <c:strRef>
              <c:f>Sheet1!$A$2:$A$5</c:f>
              <c:strCache>
                <c:ptCount val="4"/>
                <c:pt idx="0">
                  <c:v>1</c:v>
                </c:pt>
                <c:pt idx="1">
                  <c:v>2</c:v>
                </c:pt>
                <c:pt idx="2">
                  <c:v>4</c:v>
                </c:pt>
                <c:pt idx="3">
                  <c:v>8</c:v>
                </c:pt>
              </c:strCache>
            </c:strRef>
          </c:cat>
          <c:val>
            <c:numRef>
              <c:f>Sheet1!$B$2:$B$5</c:f>
              <c:numCache>
                <c:formatCode>General</c:formatCode>
                <c:ptCount val="4"/>
                <c:pt idx="0">
                  <c:v>67.920163</c:v>
                </c:pt>
                <c:pt idx="1">
                  <c:v>18.05578</c:v>
                </c:pt>
              </c:numCache>
            </c:numRef>
          </c:val>
          <c:smooth val="0"/>
        </c:ser>
        <c:ser>
          <c:idx val="1"/>
          <c:order val="1"/>
          <c:tx>
            <c:strRef>
              <c:f>Sheet1!$C$1</c:f>
              <c:strCache>
                <c:ptCount val="1"/>
                <c:pt idx="0">
                  <c:v>LL/SC</c:v>
                </c:pt>
              </c:strCache>
            </c:strRef>
          </c:tx>
          <c:cat>
            <c:strRef>
              <c:f>Sheet1!$A$2:$A$5</c:f>
              <c:strCache>
                <c:ptCount val="4"/>
                <c:pt idx="0">
                  <c:v>1</c:v>
                </c:pt>
                <c:pt idx="1">
                  <c:v>2</c:v>
                </c:pt>
                <c:pt idx="2">
                  <c:v>4</c:v>
                </c:pt>
                <c:pt idx="3">
                  <c:v>8</c:v>
                </c:pt>
              </c:strCache>
            </c:strRef>
          </c:cat>
          <c:val>
            <c:numRef>
              <c:f>Sheet1!$C$2:$C$5</c:f>
              <c:numCache>
                <c:formatCode>General</c:formatCode>
                <c:ptCount val="4"/>
                <c:pt idx="0">
                  <c:v>115.001974</c:v>
                </c:pt>
                <c:pt idx="1">
                  <c:v>18.227358</c:v>
                </c:pt>
                <c:pt idx="2">
                  <c:v>8.781207</c:v>
                </c:pt>
                <c:pt idx="3">
                  <c:v>6.382294</c:v>
                </c:pt>
              </c:numCache>
            </c:numRef>
          </c:val>
          <c:smooth val="0"/>
        </c:ser>
        <c:ser>
          <c:idx val="2"/>
          <c:order val="2"/>
          <c:tx>
            <c:strRef>
              <c:f>Sheet1!$D$1</c:f>
              <c:strCache>
                <c:ptCount val="1"/>
                <c:pt idx="0">
                  <c:v>Bakery</c:v>
                </c:pt>
              </c:strCache>
            </c:strRef>
          </c:tx>
          <c:cat>
            <c:strRef>
              <c:f>Sheet1!$A$2:$A$5</c:f>
              <c:strCache>
                <c:ptCount val="4"/>
                <c:pt idx="0">
                  <c:v>1</c:v>
                </c:pt>
                <c:pt idx="1">
                  <c:v>2</c:v>
                </c:pt>
                <c:pt idx="2">
                  <c:v>4</c:v>
                </c:pt>
                <c:pt idx="3">
                  <c:v>8</c:v>
                </c:pt>
              </c:strCache>
            </c:strRef>
          </c:cat>
          <c:val>
            <c:numRef>
              <c:f>Sheet1!$D$2:$D$5</c:f>
              <c:numCache>
                <c:formatCode>General</c:formatCode>
                <c:ptCount val="4"/>
                <c:pt idx="0">
                  <c:v>34.104665</c:v>
                </c:pt>
                <c:pt idx="1">
                  <c:v>8.401917</c:v>
                </c:pt>
                <c:pt idx="2">
                  <c:v>4.809303</c:v>
                </c:pt>
                <c:pt idx="3">
                  <c:v>2.999472</c:v>
                </c:pt>
              </c:numCache>
            </c:numRef>
          </c:val>
          <c:smooth val="0"/>
        </c:ser>
        <c:ser>
          <c:idx val="3"/>
          <c:order val="3"/>
          <c:tx>
            <c:strRef>
              <c:f>Sheet1!$E$1</c:f>
              <c:strCache>
                <c:ptCount val="1"/>
                <c:pt idx="0">
                  <c:v>TAS (lecture)</c:v>
                </c:pt>
              </c:strCache>
            </c:strRef>
          </c:tx>
          <c:cat>
            <c:strRef>
              <c:f>Sheet1!$A$2:$A$5</c:f>
              <c:strCache>
                <c:ptCount val="4"/>
                <c:pt idx="0">
                  <c:v>1</c:v>
                </c:pt>
                <c:pt idx="1">
                  <c:v>2</c:v>
                </c:pt>
                <c:pt idx="2">
                  <c:v>4</c:v>
                </c:pt>
                <c:pt idx="3">
                  <c:v>8</c:v>
                </c:pt>
              </c:strCache>
            </c:strRef>
          </c:cat>
          <c:val>
            <c:numRef>
              <c:f>Sheet1!$E$2:$E$5</c:f>
              <c:numCache>
                <c:formatCode>General</c:formatCode>
                <c:ptCount val="4"/>
                <c:pt idx="0">
                  <c:v>109.738311</c:v>
                </c:pt>
                <c:pt idx="1">
                  <c:v>23.410838</c:v>
                </c:pt>
                <c:pt idx="2">
                  <c:v>9.574425</c:v>
                </c:pt>
                <c:pt idx="3">
                  <c:v>5.794615</c:v>
                </c:pt>
              </c:numCache>
            </c:numRef>
          </c:val>
          <c:smooth val="0"/>
        </c:ser>
        <c:ser>
          <c:idx val="4"/>
          <c:order val="4"/>
          <c:tx>
            <c:strRef>
              <c:f>Sheet1!$F$1</c:f>
              <c:strCache>
                <c:ptCount val="1"/>
                <c:pt idx="0">
                  <c:v>pthread_mutex (lecture)</c:v>
                </c:pt>
              </c:strCache>
            </c:strRef>
          </c:tx>
          <c:cat>
            <c:strRef>
              <c:f>Sheet1!$A$2:$A$5</c:f>
              <c:strCache>
                <c:ptCount val="4"/>
                <c:pt idx="0">
                  <c:v>1</c:v>
                </c:pt>
                <c:pt idx="1">
                  <c:v>2</c:v>
                </c:pt>
                <c:pt idx="2">
                  <c:v>4</c:v>
                </c:pt>
                <c:pt idx="3">
                  <c:v>8</c:v>
                </c:pt>
              </c:strCache>
            </c:strRef>
          </c:cat>
          <c:val>
            <c:numRef>
              <c:f>Sheet1!$F$2:$F$5</c:f>
              <c:numCache>
                <c:formatCode>General</c:formatCode>
                <c:ptCount val="4"/>
                <c:pt idx="0">
                  <c:v>54.932697</c:v>
                </c:pt>
                <c:pt idx="1">
                  <c:v>15.722737</c:v>
                </c:pt>
                <c:pt idx="2">
                  <c:v>19.072451</c:v>
                </c:pt>
                <c:pt idx="3">
                  <c:v>19.599804</c:v>
                </c:pt>
              </c:numCache>
            </c:numRef>
          </c:val>
          <c:smooth val="0"/>
        </c:ser>
        <c:marker val="1"/>
        <c:smooth val="0"/>
        <c:axId val="2118791784"/>
        <c:axId val="2140495176"/>
      </c:lineChart>
      <c:catAx>
        <c:axId val="2118791784"/>
        <c:scaling>
          <c:orientation val="minMax"/>
        </c:scaling>
        <c:delete val="0"/>
        <c:axPos val="b"/>
        <c:title>
          <c:tx>
            <c:rich>
              <a:bodyPr/>
              <a:lstStyle/>
              <a:p>
                <a:r>
                  <a:rPr sz="11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1.0"/>
        </c:scaling>
        <c:delete val="0"/>
        <c:axPos val="l"/>
        <c:majorGridlines>
          <c:spPr>
            <a:ln>
              <a:solidFill>
                <a:srgbClr val="D0D0D0"/>
              </a:solidFill>
            </a:ln>
          </c:spPr>
        </c:majorGridlines>
        <c:title>
          <c:tx>
            <c:rich>
              <a:bodyPr/>
              <a:lstStyle/>
              <a:p>
                <a:r>
                  <a:rPr sz="11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t>One CPU</a:t>
            </a:r>
          </a:p>
        </c:rich>
      </c:tx>
      <c:layout/>
      <c:overlay val="0"/>
    </c:title>
    <c:autoTitleDeleted val="0"/>
    <c:plotArea>
      <c:lineChart>
        <c:grouping val="standard"/>
        <c:varyColors val="0"/>
        <c:ser>
          <c:idx val="0"/>
          <c:order val="0"/>
          <c:tx>
            <c:strRef>
              <c:f>Sheet1!$B$1</c:f>
              <c:strCache>
                <c:ptCount val="1"/>
                <c:pt idx="0">
                  <c:v>Peterson</c:v>
                </c:pt>
              </c:strCache>
            </c:strRef>
          </c:tx>
          <c:cat>
            <c:strRef>
              <c:f>Sheet1!$A$2:$A$5</c:f>
              <c:strCache>
                <c:ptCount val="4"/>
                <c:pt idx="0">
                  <c:v>1</c:v>
                </c:pt>
                <c:pt idx="1">
                  <c:v>2</c:v>
                </c:pt>
                <c:pt idx="2">
                  <c:v>4</c:v>
                </c:pt>
                <c:pt idx="3">
                  <c:v>8</c:v>
                </c:pt>
              </c:strCache>
            </c:strRef>
          </c:cat>
          <c:val>
            <c:numRef>
              <c:f>Sheet1!$B$2:$B$5</c:f>
              <c:numCache>
                <c:formatCode>General</c:formatCode>
                <c:ptCount val="4"/>
                <c:pt idx="0">
                  <c:v>68.207781</c:v>
                </c:pt>
                <c:pt idx="1">
                  <c:v>0.191643</c:v>
                </c:pt>
              </c:numCache>
            </c:numRef>
          </c:val>
          <c:smooth val="0"/>
        </c:ser>
        <c:ser>
          <c:idx val="1"/>
          <c:order val="1"/>
          <c:tx>
            <c:strRef>
              <c:f>Sheet1!$C$1</c:f>
              <c:strCache>
                <c:ptCount val="1"/>
                <c:pt idx="0">
                  <c:v>LL/SC</c:v>
                </c:pt>
              </c:strCache>
            </c:strRef>
          </c:tx>
          <c:cat>
            <c:strRef>
              <c:f>Sheet1!$A$2:$A$5</c:f>
              <c:strCache>
                <c:ptCount val="4"/>
                <c:pt idx="0">
                  <c:v>1</c:v>
                </c:pt>
                <c:pt idx="1">
                  <c:v>2</c:v>
                </c:pt>
                <c:pt idx="2">
                  <c:v>4</c:v>
                </c:pt>
                <c:pt idx="3">
                  <c:v>8</c:v>
                </c:pt>
              </c:strCache>
            </c:strRef>
          </c:cat>
          <c:val>
            <c:numRef>
              <c:f>Sheet1!$C$2:$C$5</c:f>
              <c:numCache>
                <c:formatCode>General</c:formatCode>
                <c:ptCount val="4"/>
                <c:pt idx="0">
                  <c:v>114.820807</c:v>
                </c:pt>
                <c:pt idx="1">
                  <c:v>60.079975</c:v>
                </c:pt>
                <c:pt idx="2">
                  <c:v>28.918768</c:v>
                </c:pt>
                <c:pt idx="3">
                  <c:v>14.103501</c:v>
                </c:pt>
              </c:numCache>
            </c:numRef>
          </c:val>
          <c:smooth val="0"/>
        </c:ser>
        <c:ser>
          <c:idx val="2"/>
          <c:order val="2"/>
          <c:tx>
            <c:strRef>
              <c:f>Sheet1!$D$1</c:f>
              <c:strCache>
                <c:ptCount val="1"/>
                <c:pt idx="0">
                  <c:v>Bakery</c:v>
                </c:pt>
              </c:strCache>
            </c:strRef>
          </c:tx>
          <c:cat>
            <c:strRef>
              <c:f>Sheet1!$A$2:$A$5</c:f>
              <c:strCache>
                <c:ptCount val="4"/>
                <c:pt idx="0">
                  <c:v>1</c:v>
                </c:pt>
                <c:pt idx="1">
                  <c:v>2</c:v>
                </c:pt>
                <c:pt idx="2">
                  <c:v>4</c:v>
                </c:pt>
                <c:pt idx="3">
                  <c:v>8</c:v>
                </c:pt>
              </c:strCache>
            </c:strRef>
          </c:cat>
          <c:val>
            <c:numRef>
              <c:f>Sheet1!$D$2:$D$5</c:f>
              <c:numCache>
                <c:formatCode>General</c:formatCode>
                <c:ptCount val="4"/>
                <c:pt idx="0">
                  <c:v>34.453691</c:v>
                </c:pt>
                <c:pt idx="1">
                  <c:v>0.05582</c:v>
                </c:pt>
                <c:pt idx="2">
                  <c:v>0.169242</c:v>
                </c:pt>
                <c:pt idx="3">
                  <c:v>0.090003</c:v>
                </c:pt>
              </c:numCache>
            </c:numRef>
          </c:val>
          <c:smooth val="0"/>
        </c:ser>
        <c:ser>
          <c:idx val="3"/>
          <c:order val="3"/>
          <c:tx>
            <c:strRef>
              <c:f>Sheet1!$E$1</c:f>
              <c:strCache>
                <c:ptCount val="1"/>
                <c:pt idx="0">
                  <c:v>TAS (lecture)</c:v>
                </c:pt>
              </c:strCache>
            </c:strRef>
          </c:tx>
          <c:cat>
            <c:strRef>
              <c:f>Sheet1!$A$2:$A$5</c:f>
              <c:strCache>
                <c:ptCount val="4"/>
                <c:pt idx="0">
                  <c:v>1</c:v>
                </c:pt>
                <c:pt idx="1">
                  <c:v>2</c:v>
                </c:pt>
                <c:pt idx="2">
                  <c:v>4</c:v>
                </c:pt>
                <c:pt idx="3">
                  <c:v>8</c:v>
                </c:pt>
              </c:strCache>
            </c:strRef>
          </c:cat>
          <c:val>
            <c:numRef>
              <c:f>Sheet1!$E$2:$E$5</c:f>
              <c:numCache>
                <c:formatCode>General</c:formatCode>
                <c:ptCount val="4"/>
                <c:pt idx="0">
                  <c:v>109.840924</c:v>
                </c:pt>
                <c:pt idx="1">
                  <c:v>56.040178</c:v>
                </c:pt>
                <c:pt idx="2">
                  <c:v>28.76698</c:v>
                </c:pt>
                <c:pt idx="3">
                  <c:v>13.962459</c:v>
                </c:pt>
              </c:numCache>
            </c:numRef>
          </c:val>
          <c:smooth val="0"/>
        </c:ser>
        <c:ser>
          <c:idx val="4"/>
          <c:order val="4"/>
          <c:tx>
            <c:strRef>
              <c:f>Sheet1!$F$1</c:f>
              <c:strCache>
                <c:ptCount val="1"/>
                <c:pt idx="0">
                  <c:v>pthread_mutex (lecture)</c:v>
                </c:pt>
              </c:strCache>
            </c:strRef>
          </c:tx>
          <c:cat>
            <c:strRef>
              <c:f>Sheet1!$A$2:$A$5</c:f>
              <c:strCache>
                <c:ptCount val="4"/>
                <c:pt idx="0">
                  <c:v>1</c:v>
                </c:pt>
                <c:pt idx="1">
                  <c:v>2</c:v>
                </c:pt>
                <c:pt idx="2">
                  <c:v>4</c:v>
                </c:pt>
                <c:pt idx="3">
                  <c:v>8</c:v>
                </c:pt>
              </c:strCache>
            </c:strRef>
          </c:cat>
          <c:val>
            <c:numRef>
              <c:f>Sheet1!$F$2:$F$5</c:f>
              <c:numCache>
                <c:formatCode>General</c:formatCode>
                <c:ptCount val="4"/>
                <c:pt idx="0">
                  <c:v>53.707997</c:v>
                </c:pt>
                <c:pt idx="1">
                  <c:v>54.947375</c:v>
                </c:pt>
                <c:pt idx="2">
                  <c:v>55.530698</c:v>
                </c:pt>
                <c:pt idx="3">
                  <c:v>56.086632</c:v>
                </c:pt>
              </c:numCache>
            </c:numRef>
          </c:val>
          <c:smooth val="0"/>
        </c:ser>
        <c:marker val="1"/>
        <c:smooth val="0"/>
        <c:axId val="2118791784"/>
        <c:axId val="2140495176"/>
      </c:lineChart>
      <c:catAx>
        <c:axId val="2118791784"/>
        <c:scaling>
          <c:orientation val="minMax"/>
        </c:scaling>
        <c:delete val="0"/>
        <c:axPos val="b"/>
        <c:title>
          <c:tx>
            <c:rich>
              <a:bodyPr/>
              <a:lstStyle/>
              <a:p>
                <a:r>
                  <a:rPr sz="11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0.01"/>
        </c:scaling>
        <c:delete val="0"/>
        <c:axPos val="l"/>
        <c:majorGridlines>
          <c:spPr>
            <a:ln>
              <a:solidFill>
                <a:srgbClr val="D0D0D0"/>
              </a:solidFill>
            </a:ln>
          </c:spPr>
        </c:majorGridlines>
        <c:title>
          <c:tx>
            <c:rich>
              <a:bodyPr/>
              <a:lstStyle/>
              <a:p>
                <a:r>
                  <a:rPr sz="11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C4B1AB1-9C64-4A62-914C-DB0868719019}" type="datetimeFigureOut">
              <a:rPr lang="en-US" smtClean="0"/>
              <a:t>9/30/2026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288303-F480-471A-8990-55B788A1E651}" type="slidenum">
              <a:rPr lang="en-US" smtClean="0"/>
              <a:t>‹#›</a:t>
            </a:fld>
            <a:endParaRPr lang="en-US"/>
          </a:p>
        </p:txBody>
      </p:sp>
    </p:spTree>
    <p:extLst>
      <p:ext uri="{BB962C8B-B14F-4D97-AF65-F5344CB8AC3E}">
        <p14:creationId xmlns:p14="http://schemas.microsoft.com/office/powerpoint/2010/main" val="3374410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group OS InW. This deck studies three locks that were not covered in Lecture 8: Peterson's algorithm, Load-Linked/Store-Conditional, and Lamport's bakery algorithm. Each lock is judged on correctness and performance with the metrics from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six of us. One member explains how we measured, three members each present one lock, one compares them, and one concludes.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locks themselves: the metrics we use and how we measured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 the four metrics from Lecture 8. Every lock runs the same loop for 1 second per run: lock, add one to a shared counter, unlock. If the counter ends lower than the number of acquisitions, two threads were inside together. Each setting runs 3 times and we report the median.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Peterson's algorithm, a lock built from ordinary loads and stores.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Peterson's algorithm needs no special instruction. Each thread raises its flag to say it wants in, then politely gives the turn to the other thread. The thread that wrote turn last is the one that waits.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paper Peterson is correct: both threads inside would need turn to hold two values at once. On a real x86 CPU the textbook code fails, because a load may overtake an earlier store. Without the fence we lost updates in 5 of 5 runs; on one CPU, or with the fence, nothing was lost.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one thread there is no contention and the lock is cheap. With two threads on separate CPUs, flag and turn bounce between the cores' caches. Pinned to one CPU it collapses: a waiting thread spins away its whole time slice, as the lecture warned.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both threads on their own CPU, turn hands priority to the other thread, so neither waits for more than one entry of the other; the counts were nearly equal. On one CPU the counts were lopsided because who gets in follows the scheduler. The algorithm also only works for two threads and needs a fence on modern CPUs.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Load-Linked and Store-Conditional, a pair of hardware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Load-Linked reads a value and starts watching the address. Store-Conditional writes only if nobody wrote that address in between. The lock spins on Load-Linked until the flag is free, then tries to claim it; if the store fails, someone else won and the thread starts over.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threads may both load-link a zero, but only the first store-conditional succeeds; the second sees that the address changed and fails. We ran the AArch64 build under qemu with 4 threads: nothing was lost in 3 of 3 runs. The disassembly shows the real ldaxr and stxr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qemu emulates the CPU, so its speed means nothing; we time the x86 build, which runs the same loop with compare-and-swap standing in for the LL/SC pair. It behaves like the test-and-set lock from the lecture: fast alone, slower as threads fight over one cache 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orders the waiters: whichever store-conditional lands first wins. With eight threads on one CPU a thread was starved outright. The lock also depends on the hardware, which x86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the lock not covered in the lecture: Lamport's bakery algorithm.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bakery algorithm works like taking a number at a bakery counter. Each thread takes one more than the largest number it sees, and the smallest number is served first. Two threads choosing at the same moment can get the same number, so the lower thread id breaks the tie.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pairs of number and thread id are all different, so they put the waiting threads in one order. A thread only enters once every thread ahead of it has left. All 24 bakery runs finished with nothing lost.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acquisition reads every thread's number and choosing flag, so the cost grows with the number of threads, and each entry is a cache line shared with other cores. On one CPU each handoff waits until the next thread in line is scheduled.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Bakery is first-come, first-served, and it was the fairest lock we measured at eight threads. Its costs are linear time and space in the number of threads and ticket numbers that keep growing while threads keep contending.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three locks side by side, with two locks from the lecture as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all 8 CPUs, pthread_mutex was fastest at eight threads and Bakery slowest. On one CPU the spinning locks waste time slices, while the mutex puts waiting threads to sleep.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puts the three locks and the two references on one page, each at the most threads it supports. Fairness and speed pull in opposite directions: the fair software locks are slow, the fast hardware spin locks are unfair.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part: what the measurements tell us, and where the material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locks provide mutual exclusion and avoid deadlock, but the two software locks only do so on today's CPUs with memory fences. Software locks are fair but slow and limited; the hardware lock is fast but unfair. Real systems combine a hardware atomic with sleeping in the kernel, which is what pthread_mutex does.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sources for the algorithms and the instructions.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0031728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8870834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4016609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34828203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37481E7-FCE9-43CA-8268-75D48394A59B}" type="datetimeFigureOut">
              <a:rPr lang="en-US" smtClean="0"/>
              <a:t>9/30/2026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2476880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37481E7-FCE9-43CA-8268-75D48394A59B}" type="datetimeFigureOut">
              <a:rPr lang="en-US" smtClean="0"/>
              <a:t>9/30/2026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076751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37481E7-FCE9-43CA-8268-75D48394A59B}" type="datetimeFigureOut">
              <a:rPr lang="en-US" smtClean="0"/>
              <a:t>9/30/2026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4060289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6488236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149906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1029211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6566147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7481E7-FCE9-43CA-8268-75D48394A59B}" type="datetimeFigureOut">
              <a:rPr lang="en-US" smtClean="0"/>
              <a:t>9/30/2026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8255BEC-3039-4085-B79C-E7DDDFDD6F6B}" type="slidenum">
              <a:rPr lang="en-US" smtClean="0"/>
              <a:t>‹#›</a:t>
            </a:fld>
            <a:endParaRPr lang="en-US"/>
          </a:p>
        </p:txBody>
      </p:sp>
    </p:spTree>
    <p:extLst>
      <p:ext uri="{BB962C8B-B14F-4D97-AF65-F5344CB8AC3E}">
        <p14:creationId xmlns:p14="http://schemas.microsoft.com/office/powerpoint/2010/main" val="5456240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chart" Target="../charts/char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chart" Target="../charts/chart4.xml"/><Relationship Id="rId4" Type="http://schemas.openxmlformats.org/officeDocument/2006/relationships/chart" Target="../charts/char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Problem Session 08: Lock Mechanisms</a:t>
            </a:r>
          </a:p>
        </p:txBody>
      </p:sp>
      <p:sp>
        <p:nvSpPr>
          <p:cNvPr id="3" name="Subtitle 2"/>
          <p:cNvSpPr>
            <a:spLocks noGrp="1"/>
          </p:cNvSpPr>
          <p:nvPr>
            <p:ph type="subTitle" idx="1"/>
          </p:nvPr>
        </p:nvSpPr>
        <p:spPr/>
        <p:txBody>
          <a:bodyPr/>
          <a:lstStyle/>
          <a:p>
            <a:r>
              <a:t>Peterson's Algorithm · LL/SC · Lamport's Bakery</a:t>
            </a:r>
          </a:p>
          <a:p>
            <a:r>
              <a:t>CPE 333 Operating Systems, 1/2026 — Group OS InW</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Group: OS InW</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a:t>
            </a:r>
          </a:p>
        </p:txBody>
      </p:sp>
      <p:sp>
        <p:nvSpPr>
          <p:cNvPr id="4" name="TextBox 3"/>
          <p:cNvSpPr txBox="1"/>
          <p:nvPr/>
        </p:nvSpPr>
        <p:spPr>
          <a:xfrm>
            <a:off x="457200" y="1737360"/>
            <a:ext cx="3657600" cy="2011680"/>
          </a:xfrm>
          <a:prstGeom prst="rect">
            <a:avLst/>
          </a:prstGeom>
          <a:noFill/>
        </p:spPr>
        <p:txBody>
          <a:bodyPr wrap="square">
            <a:spAutoFit/>
          </a:bodyPr>
          <a:lstStyle/>
          <a:p>
            <a:pPr algn="ctr">
              <a:spcAft>
                <a:spcPts val="0"/>
              </a:spcAft>
            </a:pPr>
            <a:r>
              <a:rPr sz="2000"/>
              <a:t>67070501021</a:t>
            </a:r>
          </a:p>
          <a:p>
            <a:pPr algn="ctr">
              <a:spcAft>
                <a:spcPts val="0"/>
              </a:spcAft>
            </a:pPr>
            <a:r>
              <a:rPr sz="2000"/>
              <a:t>Thanaboon Tikaew</a:t>
            </a:r>
          </a:p>
          <a:p>
            <a:pPr algn="ctr">
              <a:spcAft>
                <a:spcPts val="0"/>
              </a:spcAft>
            </a:pPr>
          </a:p>
          <a:p>
            <a:pPr algn="ctr">
              <a:spcAft>
                <a:spcPts val="0"/>
              </a:spcAft>
            </a:pPr>
            <a:r>
              <a:rPr sz="2000">
                <a:solidFill>
                  <a:srgbClr val="C0392B"/>
                </a:solidFill>
              </a:rPr>
              <a:t>How We Evaluate</a:t>
            </a:r>
          </a:p>
        </p:txBody>
      </p:sp>
      <p:sp>
        <p:nvSpPr>
          <p:cNvPr id="5" name="TextBox 4"/>
          <p:cNvSpPr txBox="1"/>
          <p:nvPr/>
        </p:nvSpPr>
        <p:spPr>
          <a:xfrm>
            <a:off x="4251960" y="1737360"/>
            <a:ext cx="3657600" cy="2011680"/>
          </a:xfrm>
          <a:prstGeom prst="rect">
            <a:avLst/>
          </a:prstGeom>
          <a:noFill/>
        </p:spPr>
        <p:txBody>
          <a:bodyPr wrap="square">
            <a:spAutoFit/>
          </a:bodyPr>
          <a:lstStyle/>
          <a:p>
            <a:pPr algn="ctr">
              <a:spcAft>
                <a:spcPts val="0"/>
              </a:spcAft>
            </a:pPr>
            <a:r>
              <a:rPr sz="2000"/>
              <a:t>67070501005</a:t>
            </a:r>
          </a:p>
          <a:p>
            <a:pPr algn="ctr">
              <a:spcAft>
                <a:spcPts val="0"/>
              </a:spcAft>
            </a:pPr>
            <a:r>
              <a:rPr sz="2000"/>
              <a:t>Kiatisak Markmeeshap</a:t>
            </a:r>
          </a:p>
          <a:p>
            <a:pPr algn="ctr">
              <a:spcAft>
                <a:spcPts val="0"/>
              </a:spcAft>
            </a:pPr>
          </a:p>
          <a:p>
            <a:pPr algn="ctr">
              <a:spcAft>
                <a:spcPts val="0"/>
              </a:spcAft>
            </a:pPr>
            <a:r>
              <a:rPr sz="2000">
                <a:solidFill>
                  <a:srgbClr val="C0392B"/>
                </a:solidFill>
              </a:rPr>
              <a:t>Peterson's Algorithm</a:t>
            </a:r>
          </a:p>
        </p:txBody>
      </p:sp>
      <p:sp>
        <p:nvSpPr>
          <p:cNvPr id="6" name="TextBox 5"/>
          <p:cNvSpPr txBox="1"/>
          <p:nvPr/>
        </p:nvSpPr>
        <p:spPr>
          <a:xfrm>
            <a:off x="8046720" y="1737360"/>
            <a:ext cx="3657600" cy="2011680"/>
          </a:xfrm>
          <a:prstGeom prst="rect">
            <a:avLst/>
          </a:prstGeom>
          <a:noFill/>
        </p:spPr>
        <p:txBody>
          <a:bodyPr wrap="square">
            <a:spAutoFit/>
          </a:bodyPr>
          <a:lstStyle/>
          <a:p>
            <a:pPr algn="ctr">
              <a:spcAft>
                <a:spcPts val="0"/>
              </a:spcAft>
            </a:pPr>
            <a:r>
              <a:rPr sz="2000"/>
              <a:t>67070501018</a:t>
            </a:r>
          </a:p>
          <a:p>
            <a:pPr algn="ctr">
              <a:spcAft>
                <a:spcPts val="0"/>
              </a:spcAft>
            </a:pPr>
            <a:r>
              <a:rPr sz="2000"/>
              <a:t>Tithinan Sobking</a:t>
            </a:r>
          </a:p>
          <a:p>
            <a:pPr algn="ctr">
              <a:spcAft>
                <a:spcPts val="0"/>
              </a:spcAft>
            </a:pPr>
          </a:p>
          <a:p>
            <a:pPr algn="ctr">
              <a:spcAft>
                <a:spcPts val="0"/>
              </a:spcAft>
            </a:pPr>
            <a:r>
              <a:rPr sz="2000">
                <a:solidFill>
                  <a:srgbClr val="C0392B"/>
                </a:solidFill>
              </a:rPr>
              <a:t>Load-Linked / Store-Conditional</a:t>
            </a:r>
          </a:p>
        </p:txBody>
      </p:sp>
      <p:sp>
        <p:nvSpPr>
          <p:cNvPr id="7" name="TextBox 6"/>
          <p:cNvSpPr txBox="1"/>
          <p:nvPr/>
        </p:nvSpPr>
        <p:spPr>
          <a:xfrm>
            <a:off x="457200" y="4023360"/>
            <a:ext cx="3657600" cy="2011680"/>
          </a:xfrm>
          <a:prstGeom prst="rect">
            <a:avLst/>
          </a:prstGeom>
          <a:noFill/>
        </p:spPr>
        <p:txBody>
          <a:bodyPr wrap="square">
            <a:spAutoFit/>
          </a:bodyPr>
          <a:lstStyle/>
          <a:p>
            <a:pPr algn="ctr">
              <a:spcAft>
                <a:spcPts val="0"/>
              </a:spcAft>
            </a:pPr>
            <a:r>
              <a:rPr sz="2000"/>
              <a:t>67070501040</a:t>
            </a:r>
          </a:p>
          <a:p>
            <a:pPr algn="ctr">
              <a:spcAft>
                <a:spcPts val="0"/>
              </a:spcAft>
            </a:pPr>
            <a:r>
              <a:rPr sz="2000"/>
              <a:t>Worawut Sereethai</a:t>
            </a:r>
          </a:p>
          <a:p>
            <a:pPr algn="ctr">
              <a:spcAft>
                <a:spcPts val="0"/>
              </a:spcAft>
            </a:pPr>
          </a:p>
          <a:p>
            <a:pPr algn="ctr">
              <a:spcAft>
                <a:spcPts val="0"/>
              </a:spcAft>
            </a:pPr>
            <a:r>
              <a:rPr sz="2000">
                <a:solidFill>
                  <a:srgbClr val="C0392B"/>
                </a:solidFill>
              </a:rPr>
              <a:t>Lamport's Bakery Algorithm</a:t>
            </a:r>
          </a:p>
        </p:txBody>
      </p:sp>
      <p:sp>
        <p:nvSpPr>
          <p:cNvPr id="8" name="TextBox 7"/>
          <p:cNvSpPr txBox="1"/>
          <p:nvPr/>
        </p:nvSpPr>
        <p:spPr>
          <a:xfrm>
            <a:off x="4251960" y="4023360"/>
            <a:ext cx="3657600" cy="2011680"/>
          </a:xfrm>
          <a:prstGeom prst="rect">
            <a:avLst/>
          </a:prstGeom>
          <a:noFill/>
        </p:spPr>
        <p:txBody>
          <a:bodyPr wrap="square">
            <a:spAutoFit/>
          </a:bodyPr>
          <a:lstStyle/>
          <a:p>
            <a:pPr algn="ctr">
              <a:spcAft>
                <a:spcPts val="0"/>
              </a:spcAft>
            </a:pPr>
            <a:r>
              <a:rPr sz="2000"/>
              <a:t>67070501059</a:t>
            </a:r>
          </a:p>
          <a:p>
            <a:pPr algn="ctr">
              <a:spcAft>
                <a:spcPts val="0"/>
              </a:spcAft>
            </a:pPr>
            <a:r>
              <a:rPr sz="2000"/>
              <a:t>Chanon Lhumsa-ard</a:t>
            </a:r>
          </a:p>
          <a:p>
            <a:pPr algn="ctr">
              <a:spcAft>
                <a:spcPts val="0"/>
              </a:spcAft>
            </a:pPr>
          </a:p>
          <a:p>
            <a:pPr algn="ctr">
              <a:spcAft>
                <a:spcPts val="0"/>
              </a:spcAft>
            </a:pPr>
            <a:r>
              <a:rPr sz="2000">
                <a:solidFill>
                  <a:srgbClr val="C0392B"/>
                </a:solidFill>
              </a:rPr>
              <a:t>Comparison</a:t>
            </a:r>
          </a:p>
        </p:txBody>
      </p:sp>
      <p:sp>
        <p:nvSpPr>
          <p:cNvPr id="9" name="TextBox 8"/>
          <p:cNvSpPr txBox="1"/>
          <p:nvPr/>
        </p:nvSpPr>
        <p:spPr>
          <a:xfrm>
            <a:off x="8046720" y="4023360"/>
            <a:ext cx="3657600" cy="2011680"/>
          </a:xfrm>
          <a:prstGeom prst="rect">
            <a:avLst/>
          </a:prstGeom>
          <a:noFill/>
        </p:spPr>
        <p:txBody>
          <a:bodyPr wrap="square">
            <a:spAutoFit/>
          </a:bodyPr>
          <a:lstStyle/>
          <a:p>
            <a:pPr algn="ctr">
              <a:spcAft>
                <a:spcPts val="0"/>
              </a:spcAft>
            </a:pPr>
            <a:r>
              <a:rPr sz="2000"/>
              <a:t>67070501075</a:t>
            </a:r>
          </a:p>
          <a:p>
            <a:pPr algn="ctr">
              <a:spcAft>
                <a:spcPts val="0"/>
              </a:spcAft>
            </a:pPr>
            <a:r>
              <a:rPr sz="2000"/>
              <a:t>Siriwan Yindeephot</a:t>
            </a:r>
          </a:p>
          <a:p>
            <a:pPr algn="ctr">
              <a:spcAft>
                <a:spcPts val="0"/>
              </a:spcAft>
            </a:pPr>
          </a:p>
          <a:p>
            <a:pPr algn="ctr">
              <a:spcAft>
                <a:spcPts val="0"/>
              </a:spcAft>
            </a:pPr>
            <a:r>
              <a:rPr sz="2000">
                <a:solidFill>
                  <a:srgbClr val="C0392B"/>
                </a:solidFill>
              </a:rPr>
              <a:t>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Evaluate</a:t>
            </a:r>
          </a:p>
        </p:txBody>
      </p:sp>
      <p:sp>
        <p:nvSpPr>
          <p:cNvPr id="3" name="Text Placeholder 2"/>
          <p:cNvSpPr>
            <a:spLocks noGrp="1"/>
          </p:cNvSpPr>
          <p:nvPr>
            <p:ph type="body" idx="1"/>
          </p:nvPr>
        </p:nvSpPr>
        <p:spPr/>
        <p:txBody>
          <a:bodyPr/>
          <a:lstStyle/>
          <a:p>
            <a:r>
              <a:t>67070501021</a:t>
            </a:r>
          </a:p>
          <a:p>
            <a:r>
              <a:t>Thanaboon Tikaew</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Evaluate Each 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4</a:t>
            </a:r>
          </a:p>
        </p:txBody>
      </p:sp>
      <p:sp>
        <p:nvSpPr>
          <p:cNvPr id="4" name="TextBox 3"/>
          <p:cNvSpPr txBox="1"/>
          <p:nvPr/>
        </p:nvSpPr>
        <p:spPr>
          <a:xfrm>
            <a:off x="822960" y="1554480"/>
            <a:ext cx="6035040" cy="4937760"/>
          </a:xfrm>
          <a:prstGeom prst="rect">
            <a:avLst/>
          </a:prstGeom>
          <a:noFill/>
        </p:spPr>
        <p:txBody>
          <a:bodyPr wrap="square">
            <a:spAutoFit/>
          </a:bodyPr>
          <a:lstStyle/>
          <a:p>
            <a:pPr>
              <a:spcAft>
                <a:spcPts val="800"/>
              </a:spcAft>
            </a:pPr>
            <a:r>
              <a:rPr sz="2000"/>
              <a:t>• Metrics from Lecture 8:</a:t>
            </a:r>
          </a:p>
          <a:p>
            <a:pPr lvl="1">
              <a:spcAft>
                <a:spcPts val="800"/>
              </a:spcAft>
            </a:pPr>
            <a:r>
              <a:rPr sz="1800"/>
              <a:t>– Mutual exclusion: counter must equal total acquisitions (lost = total − counter)</a:t>
            </a:r>
          </a:p>
          <a:p>
            <a:pPr lvl="1">
              <a:spcAft>
                <a:spcPts val="800"/>
              </a:spcAft>
            </a:pPr>
            <a:r>
              <a:rPr sz="1800"/>
              <a:t>– Absence of deadlock: every run must finish</a:t>
            </a:r>
          </a:p>
          <a:p>
            <a:pPr lvl="1">
              <a:spcAft>
                <a:spcPts val="800"/>
              </a:spcAft>
            </a:pPr>
            <a:r>
              <a:rPr sz="1800"/>
              <a:t>– Fairness: fewest ÷ most acquisitions per thread (1.0 = equal)</a:t>
            </a:r>
          </a:p>
          <a:p>
            <a:pPr lvl="1">
              <a:spcAft>
                <a:spcPts val="800"/>
              </a:spcAft>
            </a:pPr>
            <a:r>
              <a:rPr sz="1800"/>
              <a:t>– Performance: acquisitions per second</a:t>
            </a:r>
          </a:p>
          <a:p>
            <a:pPr>
              <a:spcAft>
                <a:spcPts val="800"/>
              </a:spcAft>
            </a:pPr>
            <a:r>
              <a:rPr sz="2000"/>
              <a:t>• 1 s per run, median of 3 runs, 1/2/4/8 threads, on all 8 CPUs and on one CPU (taskset -c 0)</a:t>
            </a:r>
          </a:p>
          <a:p>
            <a:pPr>
              <a:spcAft>
                <a:spcPts val="800"/>
              </a:spcAft>
            </a:pPr>
            <a:r>
              <a:rPr sz="2000"/>
              <a:t>• WSL2 Ubuntu, 8 CPUs, gcc 15.2.0 -O2</a:t>
            </a:r>
          </a:p>
          <a:p>
            <a:pPr>
              <a:spcAft>
                <a:spcPts val="800"/>
              </a:spcAft>
            </a:pPr>
            <a:r>
              <a:rPr sz="2000"/>
              <a:t>• Reference locks from the lecture: TAS spin lock, pthread_mutex</a:t>
            </a:r>
          </a:p>
        </p:txBody>
      </p:sp>
      <p:sp>
        <p:nvSpPr>
          <p:cNvPr id="5" name="TextBox 4"/>
          <p:cNvSpPr txBox="1"/>
          <p:nvPr/>
        </p:nvSpPr>
        <p:spPr>
          <a:xfrm>
            <a:off x="7132320" y="1828800"/>
            <a:ext cx="4663440" cy="1142999"/>
          </a:xfrm>
          <a:prstGeom prst="rect">
            <a:avLst/>
          </a:prstGeom>
          <a:solidFill>
            <a:srgbClr val="F4F4F4"/>
          </a:solidFill>
        </p:spPr>
        <p:txBody>
          <a:bodyPr wrap="none">
            <a:spAutoFit/>
          </a:bodyPr>
          <a:lstStyle/>
          <a:p>
            <a:pPr>
              <a:spcAft>
                <a:spcPts val="0"/>
              </a:spcAft>
            </a:pPr>
            <a:r>
              <a:rPr sz="1050">
                <a:latin typeface="Consolas"/>
              </a:rPr>
              <a:t>while (!stop) {</a:t>
            </a:r>
          </a:p>
          <a:p>
            <a:pPr>
              <a:spcAft>
                <a:spcPts val="0"/>
              </a:spcAft>
            </a:pPr>
            <a:r>
              <a:rPr sz="1050">
                <a:latin typeface="Consolas"/>
              </a:rPr>
              <a:t>    lock_acquire(id);</a:t>
            </a:r>
          </a:p>
          <a:p>
            <a:pPr>
              <a:spcAft>
                <a:spcPts val="0"/>
              </a:spcAft>
            </a:pPr>
            <a:r>
              <a:rPr sz="1050">
                <a:latin typeface="Consolas"/>
              </a:rPr>
              <a:t>    counter = counter + 1;          /* critical section */</a:t>
            </a:r>
          </a:p>
          <a:p>
            <a:pPr>
              <a:spcAft>
                <a:spcPts val="0"/>
              </a:spcAft>
            </a:pPr>
            <a:r>
              <a:rPr sz="1050">
                <a:latin typeface="Consolas"/>
              </a:rPr>
              <a:t>    lock_release(id);</a:t>
            </a:r>
          </a:p>
          <a:p>
            <a:pPr>
              <a:spcAft>
                <a:spcPts val="0"/>
              </a:spcAft>
            </a:pPr>
            <a:r>
              <a:rPr sz="1050">
                <a:latin typeface="Consolas"/>
              </a:rPr>
              <a:t>    n++;</a:t>
            </a:r>
          </a:p>
          <a:p>
            <a:pPr>
              <a:spcAft>
                <a:spcPts val="0"/>
              </a:spcAft>
            </a:pPr>
            <a:r>
              <a:rPr sz="1050">
                <a:latin typeface="Consolas"/>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Peterson's Algorithm</a:t>
            </a:r>
          </a:p>
        </p:txBody>
      </p:sp>
      <p:sp>
        <p:nvSpPr>
          <p:cNvPr id="3" name="Text Placeholder 2"/>
          <p:cNvSpPr>
            <a:spLocks noGrp="1"/>
          </p:cNvSpPr>
          <p:nvPr>
            <p:ph type="body" idx="1"/>
          </p:nvPr>
        </p:nvSpPr>
        <p:spPr/>
        <p:txBody>
          <a:bodyPr/>
          <a:lstStyle/>
          <a:p>
            <a:r>
              <a:t>67070501005</a:t>
            </a:r>
          </a:p>
          <a:p>
            <a:r>
              <a:t>Kiatisak Markmeeshap</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Peterson's Algorithm: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6</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2000"/>
              <a:t>• Pure software lock for two threads: only loads and stores</a:t>
            </a:r>
          </a:p>
          <a:p>
            <a:pPr>
              <a:spcAft>
                <a:spcPts val="800"/>
              </a:spcAft>
            </a:pPr>
            <a:r>
              <a:rPr sz="2000"/>
              <a:t>• flag[i] = 1 — “thread i wants to enter”</a:t>
            </a:r>
          </a:p>
          <a:p>
            <a:pPr>
              <a:spcAft>
                <a:spcPts val="800"/>
              </a:spcAft>
            </a:pPr>
            <a:r>
              <a:rPr sz="2000"/>
              <a:t>• turn = other — “you go first”</a:t>
            </a:r>
          </a:p>
          <a:p>
            <a:pPr>
              <a:spcAft>
                <a:spcPts val="800"/>
              </a:spcAft>
            </a:pPr>
            <a:r>
              <a:rPr sz="2000"/>
              <a:t>• Wait while the other wants in and it is the other's turn</a:t>
            </a:r>
          </a:p>
          <a:p>
            <a:pPr>
              <a:spcAft>
                <a:spcPts val="800"/>
              </a:spcAft>
            </a:pPr>
            <a:r>
              <a:rPr sz="2000"/>
              <a:t>• The thread that wrote turn last waits</a:t>
            </a:r>
          </a:p>
        </p:txBody>
      </p:sp>
      <p:sp>
        <p:nvSpPr>
          <p:cNvPr id="5" name="TextBox 4"/>
          <p:cNvSpPr txBox="1"/>
          <p:nvPr/>
        </p:nvSpPr>
        <p:spPr>
          <a:xfrm>
            <a:off x="5120640" y="1463040"/>
            <a:ext cx="6675120" cy="3886200"/>
          </a:xfrm>
          <a:prstGeom prst="rect">
            <a:avLst/>
          </a:prstGeom>
          <a:solidFill>
            <a:srgbClr val="F4F4F4"/>
          </a:solidFill>
        </p:spPr>
        <p:txBody>
          <a:bodyPr wrap="none">
            <a:spAutoFit/>
          </a:bodyPr>
          <a:lstStyle/>
          <a:p>
            <a:pPr>
              <a:spcAft>
                <a:spcPts val="0"/>
              </a:spcAft>
            </a:pPr>
            <a:r>
              <a:rPr sz="1350">
                <a:latin typeface="Consolas"/>
              </a:rPr>
              <a:t>static volatile int flag[2];   /* flag[i] = 1: thread i wants in */</a:t>
            </a:r>
          </a:p>
          <a:p>
            <a:pPr>
              <a:spcAft>
                <a:spcPts val="0"/>
              </a:spcAft>
            </a:pPr>
            <a:r>
              <a:rPr sz="1350">
                <a:latin typeface="Consolas"/>
              </a:rPr>
              <a:t>static volatile int turn;      /* whose turn it is to wait */</a:t>
            </a:r>
          </a:p>
          <a:p>
            <a:pPr>
              <a:spcAft>
                <a:spcPts val="0"/>
              </a:spcAft>
            </a:pPr>
          </a:p>
          <a:p>
            <a:pPr>
              <a:spcAft>
                <a:spcPts val="0"/>
              </a:spcAft>
            </a:pPr>
            <a:r>
              <a:rPr sz="1350">
                <a:latin typeface="Consolas"/>
              </a:rPr>
              <a:t>void lock_acquire(int self)</a:t>
            </a:r>
          </a:p>
          <a:p>
            <a:pPr>
              <a:spcAft>
                <a:spcPts val="0"/>
              </a:spcAft>
            </a:pPr>
            <a:r>
              <a:rPr sz="1350">
                <a:latin typeface="Consolas"/>
              </a:rPr>
              <a:t>{</a:t>
            </a:r>
          </a:p>
          <a:p>
            <a:pPr>
              <a:spcAft>
                <a:spcPts val="0"/>
              </a:spcAft>
            </a:pPr>
            <a:r>
              <a:rPr sz="1350">
                <a:latin typeface="Consolas"/>
              </a:rPr>
              <a:t>    int other = 1 - self;</a:t>
            </a:r>
          </a:p>
          <a:p>
            <a:pPr>
              <a:spcAft>
                <a:spcPts val="0"/>
              </a:spcAft>
            </a:pPr>
            <a:r>
              <a:rPr sz="1350">
                <a:latin typeface="Consolas"/>
              </a:rPr>
              <a:t>    flag[self] = 1;            /* I want to enter ...        */</a:t>
            </a:r>
          </a:p>
          <a:p>
            <a:pPr>
              <a:spcAft>
                <a:spcPts val="0"/>
              </a:spcAft>
            </a:pPr>
            <a:r>
              <a:rPr sz="1350">
                <a:latin typeface="Consolas"/>
              </a:rPr>
              <a:t>    turn = other;              /* ... but you go first       */</a:t>
            </a:r>
          </a:p>
          <a:p>
            <a:pPr>
              <a:spcAft>
                <a:spcPts val="0"/>
              </a:spcAft>
            </a:pPr>
            <a:r>
              <a:rPr sz="1350">
                <a:latin typeface="Consolas"/>
              </a:rPr>
              <a:t>    FENCE();                   /* stores done before the loads */</a:t>
            </a:r>
          </a:p>
          <a:p>
            <a:pPr>
              <a:spcAft>
                <a:spcPts val="0"/>
              </a:spcAft>
            </a:pPr>
            <a:r>
              <a:rPr sz="1350">
                <a:latin typeface="Consolas"/>
              </a:rPr>
              <a:t>    while (flag[other] == 1 &amp;&amp; turn == other)</a:t>
            </a:r>
          </a:p>
          <a:p>
            <a:pPr>
              <a:spcAft>
                <a:spcPts val="0"/>
              </a:spcAft>
            </a:pPr>
            <a:r>
              <a:rPr sz="1350">
                <a:latin typeface="Consolas"/>
              </a:rPr>
              <a:t>        ;                      /* spin: you want in, your turn */</a:t>
            </a:r>
          </a:p>
          <a:p>
            <a:pPr>
              <a:spcAft>
                <a:spcPts val="0"/>
              </a:spcAft>
            </a:pPr>
            <a:r>
              <a:rPr sz="1350">
                <a:latin typeface="Consolas"/>
              </a:rPr>
              <a:t>}</a:t>
            </a:r>
          </a:p>
          <a:p>
            <a:pPr>
              <a:spcAft>
                <a:spcPts val="0"/>
              </a:spcAft>
            </a:pPr>
          </a:p>
          <a:p>
            <a:pPr>
              <a:spcAft>
                <a:spcPts val="0"/>
              </a:spcAft>
            </a:pPr>
            <a:r>
              <a:rPr sz="1350">
                <a:latin typeface="Consolas"/>
              </a:rPr>
              <a:t>void lock_release(int self)</a:t>
            </a:r>
          </a:p>
          <a:p>
            <a:pPr>
              <a:spcAft>
                <a:spcPts val="0"/>
              </a:spcAft>
            </a:pPr>
            <a:r>
              <a:rPr sz="1350">
                <a:latin typeface="Consolas"/>
              </a:rPr>
              <a:t>{</a:t>
            </a:r>
          </a:p>
          <a:p>
            <a:pPr>
              <a:spcAft>
                <a:spcPts val="0"/>
              </a:spcAft>
            </a:pPr>
            <a:r>
              <a:rPr sz="1350">
                <a:latin typeface="Consolas"/>
              </a:rPr>
              <a:t>    FENCE();</a:t>
            </a:r>
          </a:p>
          <a:p>
            <a:pPr>
              <a:spcAft>
                <a:spcPts val="0"/>
              </a:spcAft>
            </a:pPr>
            <a:r>
              <a:rPr sz="1350">
                <a:latin typeface="Consolas"/>
              </a:rPr>
              <a:t>    flag[self] = 0;</a:t>
            </a:r>
          </a:p>
          <a:p>
            <a:pPr>
              <a:spcAft>
                <a:spcPts val="0"/>
              </a:spcAft>
            </a:pPr>
            <a:r>
              <a:rPr sz="1350">
                <a:latin typeface="Consolas"/>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7</a:t>
            </a:r>
          </a:p>
        </p:txBody>
      </p:sp>
      <p:sp>
        <p:nvSpPr>
          <p:cNvPr id="4" name="TextBox 3"/>
          <p:cNvSpPr txBox="1"/>
          <p:nvPr/>
        </p:nvSpPr>
        <p:spPr>
          <a:xfrm>
            <a:off x="822960" y="1463040"/>
            <a:ext cx="10789920" cy="2103120"/>
          </a:xfrm>
          <a:prstGeom prst="rect">
            <a:avLst/>
          </a:prstGeom>
          <a:noFill/>
        </p:spPr>
        <p:txBody>
          <a:bodyPr wrap="square">
            <a:spAutoFit/>
          </a:bodyPr>
          <a:lstStyle/>
          <a:p>
            <a:pPr>
              <a:spcAft>
                <a:spcPts val="800"/>
              </a:spcAft>
            </a:pPr>
            <a:r>
              <a:rPr sz="1900"/>
              <a:t>• Mutual exclusion: if both were inside, each saw turn == itself — impossible, turn holds one value</a:t>
            </a:r>
          </a:p>
          <a:p>
            <a:pPr>
              <a:spcAft>
                <a:spcPts val="800"/>
              </a:spcAft>
            </a:pPr>
            <a:r>
              <a:rPr sz="1900"/>
              <a:t>• No deadlock: turn is 0 or 1, so one waiting thread always passes</a:t>
            </a:r>
          </a:p>
          <a:p>
            <a:pPr>
              <a:spcAft>
                <a:spcPts val="800"/>
              </a:spcAft>
            </a:pPr>
            <a:r>
              <a:rPr sz="1900">
                <a:solidFill>
                  <a:srgbClr val="C0392B"/>
                </a:solidFill>
              </a:rPr>
              <a:t>• But x86 lets a load pass an earlier store (store buffer): both read flag[other] == 0 and both enter</a:t>
            </a:r>
          </a:p>
        </p:txBody>
      </p:sp>
      <p:graphicFrame>
        <p:nvGraphicFramePr>
          <p:cNvPr id="5" name="Table 4"/>
          <p:cNvGraphicFramePr>
            <a:graphicFrameLocks noGrp="1"/>
          </p:cNvGraphicFramePr>
          <p:nvPr/>
        </p:nvGraphicFramePr>
        <p:xfrm>
          <a:off x="822960" y="3566160"/>
          <a:ext cx="10515600" cy="1463040"/>
        </p:xfrm>
        <a:graphic>
          <a:graphicData uri="http://schemas.openxmlformats.org/drawingml/2006/table">
            <a:tbl>
              <a:tblPr firstRow="1" bandRow="1">
                <a:tableStyleId>{5C22544A-7EE6-4342-B048-85BDC9FD1C3A}</a:tableStyleId>
              </a:tblPr>
              <a:tblGrid>
                <a:gridCol w="2926080"/>
                <a:gridCol w="1463040"/>
                <a:gridCol w="2926080"/>
                <a:gridCol w="3200400"/>
              </a:tblGrid>
              <a:tr h="365760">
                <a:tc>
                  <a:txBody>
                    <a:bodyPr/>
                    <a:lstStyle/>
                    <a:p>
                      <a:r>
                        <a:rPr sz="1600"/>
                        <a:t>Build (2 threads)</a:t>
                      </a:r>
                    </a:p>
                  </a:txBody>
                  <a:tcPr/>
                </a:tc>
                <a:tc>
                  <a:txBody>
                    <a:bodyPr/>
                    <a:lstStyle/>
                    <a:p>
                      <a:r>
                        <a:rPr sz="1600"/>
                        <a:t>CPUs</a:t>
                      </a:r>
                    </a:p>
                  </a:txBody>
                  <a:tcPr/>
                </a:tc>
                <a:tc>
                  <a:txBody>
                    <a:bodyPr/>
                    <a:lstStyle/>
                    <a:p>
                      <a:r>
                        <a:rPr sz="1600"/>
                        <a:t>Runs with lost updates</a:t>
                      </a:r>
                    </a:p>
                  </a:txBody>
                  <a:tcPr/>
                </a:tc>
                <a:tc>
                  <a:txBody>
                    <a:bodyPr/>
                    <a:lstStyle/>
                    <a:p>
                      <a:r>
                        <a:rPr sz="1600"/>
                        <a:t>Lost updates per run</a:t>
                      </a:r>
                    </a:p>
                  </a:txBody>
                  <a:tcPr/>
                </a:tc>
              </a:tr>
              <a:tr h="365760">
                <a:tc>
                  <a:txBody>
                    <a:bodyPr/>
                    <a:lstStyle/>
                    <a:p>
                      <a:r>
                        <a:rPr sz="1600"/>
                        <a:t>no fence</a:t>
                      </a:r>
                    </a:p>
                  </a:txBody>
                  <a:tcPr/>
                </a:tc>
                <a:tc>
                  <a:txBody>
                    <a:bodyPr/>
                    <a:lstStyle/>
                    <a:p>
                      <a:r>
                        <a:rPr sz="1600"/>
                        <a:t>all 8</a:t>
                      </a:r>
                    </a:p>
                  </a:txBody>
                  <a:tcPr/>
                </a:tc>
                <a:tc>
                  <a:txBody>
                    <a:bodyPr/>
                    <a:lstStyle/>
                    <a:p>
                      <a:r>
                        <a:rPr sz="1600"/>
                        <a:t>5 / 5</a:t>
                      </a:r>
                    </a:p>
                  </a:txBody>
                  <a:tcPr/>
                </a:tc>
                <a:tc>
                  <a:txBody>
                    <a:bodyPr/>
                    <a:lstStyle/>
                    <a:p>
                      <a:r>
                        <a:rPr sz="1600"/>
                        <a:t>163,764 – 916,884</a:t>
                      </a:r>
                    </a:p>
                  </a:txBody>
                  <a:tcPr/>
                </a:tc>
              </a:tr>
              <a:tr h="365760">
                <a:tc>
                  <a:txBody>
                    <a:bodyPr/>
                    <a:lstStyle/>
                    <a:p>
                      <a:r>
                        <a:rPr sz="1600"/>
                        <a:t>no fence</a:t>
                      </a:r>
                    </a:p>
                  </a:txBody>
                  <a:tcPr/>
                </a:tc>
                <a:tc>
                  <a:txBody>
                    <a:bodyPr/>
                    <a:lstStyle/>
                    <a:p>
                      <a:r>
                        <a:rPr sz="1600"/>
                        <a:t>one</a:t>
                      </a:r>
                    </a:p>
                  </a:txBody>
                  <a:tcPr/>
                </a:tc>
                <a:tc>
                  <a:txBody>
                    <a:bodyPr/>
                    <a:lstStyle/>
                    <a:p>
                      <a:r>
                        <a:rPr sz="1600"/>
                        <a:t>0 / 3</a:t>
                      </a:r>
                    </a:p>
                  </a:txBody>
                  <a:tcPr/>
                </a:tc>
                <a:tc>
                  <a:txBody>
                    <a:bodyPr/>
                    <a:lstStyle/>
                    <a:p>
                      <a:r>
                        <a:rPr sz="1600"/>
                        <a:t>0</a:t>
                      </a:r>
                    </a:p>
                  </a:txBody>
                  <a:tcPr/>
                </a:tc>
              </a:tr>
              <a:tr h="365760">
                <a:tc>
                  <a:txBody>
                    <a:bodyPr/>
                    <a:lstStyle/>
                    <a:p>
                      <a:r>
                        <a:rPr sz="1600"/>
                        <a:t>with FENCE()</a:t>
                      </a:r>
                    </a:p>
                  </a:txBody>
                  <a:tcPr/>
                </a:tc>
                <a:tc>
                  <a:txBody>
                    <a:bodyPr/>
                    <a:lstStyle/>
                    <a:p>
                      <a:r>
                        <a:rPr sz="1600"/>
                        <a:t>all 8</a:t>
                      </a:r>
                    </a:p>
                  </a:txBody>
                  <a:tcPr/>
                </a:tc>
                <a:tc>
                  <a:txBody>
                    <a:bodyPr/>
                    <a:lstStyle/>
                    <a:p>
                      <a:r>
                        <a:rPr sz="1600"/>
                        <a:t>0 / 5</a:t>
                      </a:r>
                    </a:p>
                  </a:txBody>
                  <a:tcPr/>
                </a:tc>
                <a:tc>
                  <a:txBody>
                    <a:bodyPr/>
                    <a:lstStyle/>
                    <a:p>
                      <a:r>
                        <a:rPr sz="1600"/>
                        <a:t>0</a:t>
                      </a:r>
                    </a:p>
                  </a:txBody>
                  <a:tcPr/>
                </a:tc>
              </a:tr>
            </a:tbl>
          </a:graphicData>
        </a:graphic>
      </p:graphicFrame>
      <p:sp>
        <p:nvSpPr>
          <p:cNvPr id="6" name="TextBox 5"/>
          <p:cNvSpPr txBox="1"/>
          <p:nvPr/>
        </p:nvSpPr>
        <p:spPr>
          <a:xfrm>
            <a:off x="822960" y="5394960"/>
            <a:ext cx="10789920" cy="914400"/>
          </a:xfrm>
          <a:prstGeom prst="rect">
            <a:avLst/>
          </a:prstGeom>
          <a:noFill/>
        </p:spPr>
        <p:txBody>
          <a:bodyPr wrap="square">
            <a:spAutoFit/>
          </a:bodyPr>
          <a:lstStyle/>
          <a:p>
            <a:pPr>
              <a:spcAft>
                <a:spcPts val="800"/>
              </a:spcAft>
            </a:pPr>
            <a:r>
              <a:rPr sz="1700"/>
              <a:t>• FENCE() compiles to  lock orq $0x0,(%rsp)  — a full barrier: the stores drain before the loads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8</a:t>
            </a:r>
          </a:p>
        </p:txBody>
      </p:sp>
      <p:graphicFrame>
        <p:nvGraphicFramePr>
          <p:cNvPr id="4" name="Chart 3"/>
          <p:cNvGraphicFramePr>
            <a:graphicFrameLocks noGrp="1"/>
          </p:cNvGraphicFramePr>
          <p:nvPr/>
        </p:nvGraphicFramePr>
        <p:xfrm>
          <a:off x="548640" y="1463040"/>
          <a:ext cx="6035040" cy="4937760"/>
        </p:xfrm>
        <a:graphic>
          <a:graphicData uri="http://schemas.openxmlformats.org/drawingml/2006/chart">
            <c:chart xmlns:c="http://schemas.openxmlformats.org/drawingml/2006/chart" r:id="rId3"/>
          </a:graphicData>
        </a:graphic>
      </p:graphicFrame>
      <p:sp>
        <p:nvSpPr>
          <p:cNvPr id="5" name="TextBox 4"/>
          <p:cNvSpPr txBox="1"/>
          <p:nvPr/>
        </p:nvSpPr>
        <p:spPr>
          <a:xfrm>
            <a:off x="6858000" y="1645920"/>
            <a:ext cx="4937760" cy="4572000"/>
          </a:xfrm>
          <a:prstGeom prst="rect">
            <a:avLst/>
          </a:prstGeom>
          <a:noFill/>
        </p:spPr>
        <p:txBody>
          <a:bodyPr wrap="square">
            <a:spAutoFit/>
          </a:bodyPr>
          <a:lstStyle/>
          <a:p>
            <a:pPr>
              <a:spcAft>
                <a:spcPts val="800"/>
              </a:spcAft>
            </a:pPr>
            <a:r>
              <a:rPr sz="1900"/>
              <a:t>• 1 thread: 68 M acq/s — no contention</a:t>
            </a:r>
          </a:p>
          <a:p>
            <a:pPr>
              <a:spcAft>
                <a:spcPts val="800"/>
              </a:spcAft>
            </a:pPr>
            <a:r>
              <a:rPr sz="1900"/>
              <a:t>• 2 threads, all CPUs: 18 M acq/s — flag and turn move between cores</a:t>
            </a:r>
          </a:p>
          <a:p>
            <a:pPr>
              <a:spcAft>
                <a:spcPts val="800"/>
              </a:spcAft>
            </a:pPr>
            <a:r>
              <a:rPr sz="1900">
                <a:solidFill>
                  <a:srgbClr val="C0392B"/>
                </a:solidFill>
              </a:rPr>
              <a:t>• 2 threads, one CPU: 192 k acq/s — the waiter spins until the scheduler switches</a:t>
            </a:r>
          </a:p>
          <a:p>
            <a:pPr>
              <a:spcAft>
                <a:spcPts val="800"/>
              </a:spcAft>
            </a:pPr>
            <a:r>
              <a:rPr sz="1900"/>
              <a:t>• Busy-waiting costs a whole time slice when the other thread is not running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9</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All CPUs, 2 threads: fairness 0.99 — turn gives way to the other thread, so a waiter enters after at most one entry by the other (bounded waiting)</a:t>
            </a:r>
          </a:p>
          <a:p>
            <a:pPr>
              <a:spcAft>
                <a:spcPts val="800"/>
              </a:spcAft>
            </a:pPr>
            <a:r>
              <a:rPr sz="2000"/>
              <a:t>• One CPU, 2 threads: fairness 0.001 (run 1: 126 vs 192,299) — with spinning, the scheduler decides</a:t>
            </a:r>
          </a:p>
          <a:p>
            <a:pPr>
              <a:spcAft>
                <a:spcPts val="800"/>
              </a:spcAft>
            </a:pPr>
            <a:r>
              <a:rPr sz="2000"/>
              <a:t>• Limitations:</a:t>
            </a:r>
          </a:p>
          <a:p>
            <a:pPr lvl="1">
              <a:spcAft>
                <a:spcPts val="800"/>
              </a:spcAft>
            </a:pPr>
            <a:r>
              <a:rPr sz="1800"/>
              <a:t>– Two threads only (N threads need a tournament of Peterson locks or the filter lock)</a:t>
            </a:r>
          </a:p>
          <a:p>
            <a:pPr lvl="1">
              <a:spcAft>
                <a:spcPts val="800"/>
              </a:spcAft>
            </a:pPr>
            <a:r>
              <a:rPr sz="1800"/>
              <a:t>– Needs a memory fence on modern CPUs — the textbook version is broken on x86</a:t>
            </a:r>
          </a:p>
          <a:p>
            <a:pPr lvl="1">
              <a:spcAft>
                <a:spcPts val="800"/>
              </a:spcAft>
            </a:pPr>
            <a:r>
              <a:rPr sz="1800"/>
              <a:t>– Spins instead of sleeping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Load-Linked / Store-Conditional</a:t>
            </a:r>
          </a:p>
        </p:txBody>
      </p:sp>
      <p:sp>
        <p:nvSpPr>
          <p:cNvPr id="3" name="Text Placeholder 2"/>
          <p:cNvSpPr>
            <a:spLocks noGrp="1"/>
          </p:cNvSpPr>
          <p:nvPr>
            <p:ph type="body" idx="1"/>
          </p:nvPr>
        </p:nvSpPr>
        <p:spPr/>
        <p:txBody>
          <a:bodyPr/>
          <a:lstStyle/>
          <a:p>
            <a:r>
              <a:t>67070501018</a:t>
            </a:r>
          </a:p>
          <a:p>
            <a:r>
              <a:t>Tithinan Sobking</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11</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1900"/>
              <a:t>• LoadLinked(p): load *p and watch the address</a:t>
            </a:r>
          </a:p>
          <a:p>
            <a:pPr>
              <a:spcAft>
                <a:spcPts val="800"/>
              </a:spcAft>
            </a:pPr>
            <a:r>
              <a:rPr sz="1900"/>
              <a:t>• StoreConditional(p, v): store only if nobody stored to p since the LoadLinked</a:t>
            </a:r>
          </a:p>
          <a:p>
            <a:pPr>
              <a:spcAft>
                <a:spcPts val="800"/>
              </a:spcAft>
            </a:pPr>
            <a:r>
              <a:rPr sz="1900"/>
              <a:t>• Lock: spin on LL until 0, then SC 1; if SC fails, start over</a:t>
            </a:r>
          </a:p>
          <a:p>
            <a:pPr>
              <a:spcAft>
                <a:spcPts val="800"/>
              </a:spcAft>
            </a:pPr>
            <a:r>
              <a:rPr sz="1900"/>
              <a:t>• MIPS, Alpha, PowerPC, ARM (AArch64: LDXR/STXR)</a:t>
            </a:r>
          </a:p>
          <a:p>
            <a:pPr>
              <a:spcAft>
                <a:spcPts val="800"/>
              </a:spcAft>
            </a:pPr>
            <a:r>
              <a:rPr sz="1900">
                <a:solidFill>
                  <a:srgbClr val="C0392B"/>
                </a:solidFill>
              </a:rPr>
              <a:t>• x86 has no LL/SC — it offers CAS (lock cmpxchg)</a:t>
            </a:r>
          </a:p>
        </p:txBody>
      </p:sp>
      <p:sp>
        <p:nvSpPr>
          <p:cNvPr id="5" name="TextBox 4"/>
          <p:cNvSpPr txBox="1"/>
          <p:nvPr/>
        </p:nvSpPr>
        <p:spPr>
          <a:xfrm>
            <a:off x="5120640" y="1463040"/>
            <a:ext cx="6675120" cy="4914900"/>
          </a:xfrm>
          <a:prstGeom prst="rect">
            <a:avLst/>
          </a:prstGeom>
          <a:solidFill>
            <a:srgbClr val="F4F4F4"/>
          </a:solidFill>
        </p:spPr>
        <p:txBody>
          <a:bodyPr wrap="none">
            <a:spAutoFit/>
          </a:bodyPr>
          <a:lstStyle/>
          <a:p>
            <a:pPr>
              <a:spcAft>
                <a:spcPts val="0"/>
              </a:spcAft>
            </a:pPr>
            <a:r>
              <a:rPr sz="1150">
                <a:latin typeface="Consolas"/>
              </a:rPr>
              <a:t>static inline int LoadLinked(volatile int *p)</a:t>
            </a:r>
          </a:p>
          <a:p>
            <a:pPr>
              <a:spcAft>
                <a:spcPts val="0"/>
              </a:spcAft>
            </a:pPr>
            <a:r>
              <a:rPr sz="1150">
                <a:latin typeface="Consolas"/>
              </a:rPr>
              <a:t>{</a:t>
            </a:r>
          </a:p>
          <a:p>
            <a:pPr>
              <a:spcAft>
                <a:spcPts val="0"/>
              </a:spcAft>
            </a:pPr>
            <a:r>
              <a:rPr sz="1150">
                <a:latin typeface="Consolas"/>
              </a:rPr>
              <a:t>    int v;</a:t>
            </a:r>
          </a:p>
          <a:p>
            <a:pPr>
              <a:spcAft>
                <a:spcPts val="0"/>
              </a:spcAft>
            </a:pPr>
            <a:r>
              <a:rPr sz="1150">
                <a:latin typeface="Consolas"/>
              </a:rPr>
              <a:t>    __asm__ volatile("ldaxr %w0, [%1]"</a:t>
            </a:r>
          </a:p>
          <a:p>
            <a:pPr>
              <a:spcAft>
                <a:spcPts val="0"/>
              </a:spcAft>
            </a:pPr>
            <a:r>
              <a:rPr sz="1150">
                <a:latin typeface="Consolas"/>
              </a:rPr>
              <a:t>                     : "=r"(v) : "r"(p) : "memory");</a:t>
            </a:r>
          </a:p>
          <a:p>
            <a:pPr>
              <a:spcAft>
                <a:spcPts val="0"/>
              </a:spcAft>
            </a:pPr>
            <a:r>
              <a:rPr sz="1150">
                <a:latin typeface="Consolas"/>
              </a:rPr>
              <a:t>    return v;</a:t>
            </a:r>
          </a:p>
          <a:p>
            <a:pPr>
              <a:spcAft>
                <a:spcPts val="0"/>
              </a:spcAft>
            </a:pPr>
            <a:r>
              <a:rPr sz="1150">
                <a:latin typeface="Consolas"/>
              </a:rPr>
              <a:t>}</a:t>
            </a:r>
          </a:p>
          <a:p>
            <a:pPr>
              <a:spcAft>
                <a:spcPts val="0"/>
              </a:spcAft>
            </a:pPr>
          </a:p>
          <a:p>
            <a:pPr>
              <a:spcAft>
                <a:spcPts val="0"/>
              </a:spcAft>
            </a:pPr>
            <a:r>
              <a:rPr sz="1150">
                <a:latin typeface="Consolas"/>
              </a:rPr>
              <a:t>static inline int StoreConditional(volatile int *p, int v)</a:t>
            </a:r>
          </a:p>
          <a:p>
            <a:pPr>
              <a:spcAft>
                <a:spcPts val="0"/>
              </a:spcAft>
            </a:pPr>
            <a:r>
              <a:rPr sz="1150">
                <a:latin typeface="Consolas"/>
              </a:rPr>
              <a:t>{</a:t>
            </a:r>
          </a:p>
          <a:p>
            <a:pPr>
              <a:spcAft>
                <a:spcPts val="0"/>
              </a:spcAft>
            </a:pPr>
            <a:r>
              <a:rPr sz="1150">
                <a:latin typeface="Consolas"/>
              </a:rPr>
              <a:t>    int fail;                  /* stxr: 0 = stored, 1 = failed */</a:t>
            </a:r>
          </a:p>
          <a:p>
            <a:pPr>
              <a:spcAft>
                <a:spcPts val="0"/>
              </a:spcAft>
            </a:pPr>
            <a:r>
              <a:rPr sz="1150">
                <a:latin typeface="Consolas"/>
              </a:rPr>
              <a:t>    __asm__ volatile("stxr %w0, %w2, [%1]"</a:t>
            </a:r>
          </a:p>
          <a:p>
            <a:pPr>
              <a:spcAft>
                <a:spcPts val="0"/>
              </a:spcAft>
            </a:pPr>
            <a:r>
              <a:rPr sz="1150">
                <a:latin typeface="Consolas"/>
              </a:rPr>
              <a:t>                     : "=&amp;r"(fail) : "r"(p), "r"(v) : "memory");</a:t>
            </a:r>
          </a:p>
          <a:p>
            <a:pPr>
              <a:spcAft>
                <a:spcPts val="0"/>
              </a:spcAft>
            </a:pPr>
            <a:r>
              <a:rPr sz="1150">
                <a:latin typeface="Consolas"/>
              </a:rPr>
              <a:t>    return !fail;</a:t>
            </a:r>
          </a:p>
          <a:p>
            <a:pPr>
              <a:spcAft>
                <a:spcPts val="0"/>
              </a:spcAft>
            </a:pPr>
            <a:r>
              <a:rPr sz="1150">
                <a:latin typeface="Consolas"/>
              </a:rPr>
              <a:t>}</a:t>
            </a:r>
          </a:p>
          <a:p>
            <a:pPr>
              <a:spcAft>
                <a:spcPts val="0"/>
              </a:spcAft>
            </a:pPr>
          </a:p>
          <a:p>
            <a:pPr>
              <a:spcAft>
                <a:spcPts val="0"/>
              </a:spcAft>
            </a:pPr>
            <a:r>
              <a:rPr sz="1150">
                <a:latin typeface="Consolas"/>
              </a:rPr>
              <a:t>void lock_acquire(int id)</a:t>
            </a:r>
          </a:p>
          <a:p>
            <a:pPr>
              <a:spcAft>
                <a:spcPts val="0"/>
              </a:spcAft>
            </a:pPr>
            <a:r>
              <a:rPr sz="1150">
                <a:latin typeface="Consolas"/>
              </a:rPr>
              <a:t>{</a:t>
            </a:r>
          </a:p>
          <a:p>
            <a:pPr>
              <a:spcAft>
                <a:spcPts val="0"/>
              </a:spcAft>
            </a:pPr>
            <a:r>
              <a:rPr sz="1150">
                <a:latin typeface="Consolas"/>
              </a:rPr>
              <a:t>    (void)id;</a:t>
            </a:r>
          </a:p>
          <a:p>
            <a:pPr>
              <a:spcAft>
                <a:spcPts val="0"/>
              </a:spcAft>
            </a:pPr>
            <a:r>
              <a:rPr sz="1150">
                <a:latin typeface="Consolas"/>
              </a:rPr>
              <a:t>    while (1) {</a:t>
            </a:r>
          </a:p>
          <a:p>
            <a:pPr>
              <a:spcAft>
                <a:spcPts val="0"/>
              </a:spcAft>
            </a:pPr>
            <a:r>
              <a:rPr sz="1150">
                <a:latin typeface="Consolas"/>
              </a:rPr>
              <a:t>        while (LoadLinked(&amp;flag))</a:t>
            </a:r>
          </a:p>
          <a:p>
            <a:pPr>
              <a:spcAft>
                <a:spcPts val="0"/>
              </a:spcAft>
            </a:pPr>
            <a:r>
              <a:rPr sz="1150">
                <a:latin typeface="Consolas"/>
              </a:rPr>
              <a:t>            ;                  /* spin until it is zero */</a:t>
            </a:r>
          </a:p>
          <a:p>
            <a:pPr>
              <a:spcAft>
                <a:spcPts val="0"/>
              </a:spcAft>
            </a:pPr>
            <a:r>
              <a:rPr sz="1150">
                <a:latin typeface="Consolas"/>
              </a:rPr>
              <a:t>        if (StoreConditional(&amp;flag, 1))</a:t>
            </a:r>
          </a:p>
          <a:p>
            <a:pPr>
              <a:spcAft>
                <a:spcPts val="0"/>
              </a:spcAft>
            </a:pPr>
            <a:r>
              <a:rPr sz="1150">
                <a:latin typeface="Consolas"/>
              </a:rPr>
              <a:t>            return;            /* no store in between: ours */</a:t>
            </a:r>
          </a:p>
          <a:p>
            <a:pPr>
              <a:spcAft>
                <a:spcPts val="0"/>
              </a:spcAft>
            </a:pPr>
            <a:r>
              <a:rPr sz="1150">
                <a:latin typeface="Consolas"/>
              </a:rPr>
              <a:t>        /* else another thread won: try again */</a:t>
            </a:r>
          </a:p>
          <a:p>
            <a:pPr>
              <a:spcAft>
                <a:spcPts val="0"/>
              </a:spcAft>
            </a:pPr>
            <a:r>
              <a:rPr sz="1150">
                <a:latin typeface="Consolas"/>
              </a:rPr>
              <a:t>    }</a:t>
            </a:r>
          </a:p>
          <a:p>
            <a:pPr>
              <a:spcAft>
                <a:spcPts val="0"/>
              </a:spcAft>
            </a:pPr>
            <a:r>
              <a:rPr sz="1150">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12</a:t>
            </a:r>
          </a:p>
        </p:txBody>
      </p:sp>
      <p:sp>
        <p:nvSpPr>
          <p:cNvPr id="4" name="TextBox 3"/>
          <p:cNvSpPr txBox="1"/>
          <p:nvPr/>
        </p:nvSpPr>
        <p:spPr>
          <a:xfrm>
            <a:off x="822960" y="1463040"/>
            <a:ext cx="5760720" cy="5029200"/>
          </a:xfrm>
          <a:prstGeom prst="rect">
            <a:avLst/>
          </a:prstGeom>
          <a:noFill/>
        </p:spPr>
        <p:txBody>
          <a:bodyPr wrap="square">
            <a:spAutoFit/>
          </a:bodyPr>
          <a:lstStyle/>
          <a:p>
            <a:pPr>
              <a:spcAft>
                <a:spcPts val="800"/>
              </a:spcAft>
            </a:pPr>
            <a:r>
              <a:rPr sz="1900"/>
              <a:t>• Mutual exclusion: two threads may both LL a 0, but the first SC writes the flag, so the second SC fails</a:t>
            </a:r>
          </a:p>
          <a:p>
            <a:pPr>
              <a:spcAft>
                <a:spcPts val="800"/>
              </a:spcAft>
            </a:pPr>
            <a:r>
              <a:rPr sz="1900"/>
              <a:t>• No deadlock: an SC fails only if another store got in (that thread now holds the lock) or spuriously (e.g. an interrupt) — the loop retries</a:t>
            </a:r>
          </a:p>
          <a:p>
            <a:pPr>
              <a:spcAft>
                <a:spcPts val="800"/>
              </a:spcAft>
            </a:pPr>
            <a:r>
              <a:rPr sz="1900"/>
              <a:t>• AArch64 build under qemu-aarch64 10.2.1, 4 threads: lost = 0 in 3 / 3 runs (5,520,491+ acquisitions each)</a:t>
            </a:r>
          </a:p>
        </p:txBody>
      </p:sp>
      <p:sp>
        <p:nvSpPr>
          <p:cNvPr id="5" name="TextBox 4"/>
          <p:cNvSpPr txBox="1"/>
          <p:nvPr/>
        </p:nvSpPr>
        <p:spPr>
          <a:xfrm>
            <a:off x="6858000" y="1554480"/>
            <a:ext cx="4937760" cy="2865120"/>
          </a:xfrm>
          <a:prstGeom prst="rect">
            <a:avLst/>
          </a:prstGeom>
          <a:solidFill>
            <a:srgbClr val="F4F4F4"/>
          </a:solidFill>
        </p:spPr>
        <p:txBody>
          <a:bodyPr wrap="none">
            <a:spAutoFit/>
          </a:bodyPr>
          <a:lstStyle/>
          <a:p>
            <a:pPr>
              <a:spcAft>
                <a:spcPts val="0"/>
              </a:spcAft>
            </a:pPr>
            <a:r>
              <a:rPr sz="1600">
                <a:latin typeface="Consolas"/>
              </a:rPr>
              <a:t>0000000000400b8c &lt;lock_acquire&gt;:</a:t>
            </a:r>
          </a:p>
          <a:p>
            <a:pPr>
              <a:spcAft>
                <a:spcPts val="0"/>
              </a:spcAft>
            </a:pPr>
            <a:r>
              <a:rPr sz="1600">
                <a:latin typeface="Consolas"/>
              </a:rPr>
              <a:t>adrp x1, 4b1000</a:t>
            </a:r>
          </a:p>
          <a:p>
            <a:pPr>
              <a:spcAft>
                <a:spcPts val="0"/>
              </a:spcAft>
            </a:pPr>
            <a:r>
              <a:rPr sz="1600">
                <a:latin typeface="Consolas"/>
              </a:rPr>
              <a:t>add x1, x1, #0xb40</a:t>
            </a:r>
          </a:p>
          <a:p>
            <a:pPr>
              <a:spcAft>
                <a:spcPts val="0"/>
              </a:spcAft>
            </a:pPr>
            <a:r>
              <a:rPr sz="1600">
                <a:latin typeface="Consolas"/>
              </a:rPr>
              <a:t>mov w2, #0x1</a:t>
            </a:r>
          </a:p>
          <a:p>
            <a:pPr>
              <a:spcAft>
                <a:spcPts val="0"/>
              </a:spcAft>
            </a:pPr>
            <a:r>
              <a:rPr sz="1600">
                <a:latin typeface="Consolas"/>
              </a:rPr>
              <a:t>nop</a:t>
            </a:r>
          </a:p>
          <a:p>
            <a:pPr>
              <a:spcAft>
                <a:spcPts val="0"/>
              </a:spcAft>
            </a:pPr>
            <a:r>
              <a:rPr sz="1600">
                <a:latin typeface="Consolas"/>
              </a:rPr>
              <a:t>nop</a:t>
            </a:r>
          </a:p>
          <a:p>
            <a:pPr>
              <a:spcAft>
                <a:spcPts val="0"/>
              </a:spcAft>
            </a:pPr>
            <a:r>
              <a:rPr sz="1600">
                <a:latin typeface="Consolas"/>
              </a:rPr>
              <a:t>ldaxr w0, [x1]</a:t>
            </a:r>
          </a:p>
          <a:p>
            <a:pPr>
              <a:spcAft>
                <a:spcPts val="0"/>
              </a:spcAft>
            </a:pPr>
            <a:r>
              <a:rPr sz="1600">
                <a:latin typeface="Consolas"/>
              </a:rPr>
              <a:t>cbnz w0, 400ba0 &lt;lock_acquire+0x14&gt;</a:t>
            </a:r>
          </a:p>
          <a:p>
            <a:pPr>
              <a:spcAft>
                <a:spcPts val="0"/>
              </a:spcAft>
            </a:pPr>
            <a:r>
              <a:rPr sz="1600">
                <a:latin typeface="Consolas"/>
              </a:rPr>
              <a:t>stxr w0, w2, [x1]</a:t>
            </a:r>
          </a:p>
          <a:p>
            <a:pPr>
              <a:spcAft>
                <a:spcPts val="0"/>
              </a:spcAft>
            </a:pPr>
            <a:r>
              <a:rPr sz="1600">
                <a:latin typeface="Consolas"/>
              </a:rPr>
              <a:t>cbnz w0, 400ba0 &lt;lock_acquire+0x14&gt;</a:t>
            </a:r>
          </a:p>
          <a:p>
            <a:pPr>
              <a:spcAft>
                <a:spcPts val="0"/>
              </a:spcAft>
            </a:pPr>
            <a:r>
              <a:rPr sz="1600">
                <a:latin typeface="Consolas"/>
              </a:rPr>
              <a:t>ret</a:t>
            </a:r>
          </a:p>
        </p:txBody>
      </p:sp>
      <p:sp>
        <p:nvSpPr>
          <p:cNvPr id="6" name="TextBox 5"/>
          <p:cNvSpPr txBox="1"/>
          <p:nvPr/>
        </p:nvSpPr>
        <p:spPr>
          <a:xfrm>
            <a:off x="6858000" y="4556760"/>
            <a:ext cx="4937760" cy="914400"/>
          </a:xfrm>
          <a:prstGeom prst="rect">
            <a:avLst/>
          </a:prstGeom>
          <a:noFill/>
        </p:spPr>
        <p:txBody>
          <a:bodyPr wrap="square">
            <a:spAutoFit/>
          </a:bodyPr>
          <a:lstStyle/>
          <a:p>
            <a:pPr>
              <a:spcAft>
                <a:spcPts val="800"/>
              </a:spcAft>
            </a:pPr>
            <a:r>
              <a:rPr sz="1500">
                <a:solidFill>
                  <a:srgbClr val="C0392B"/>
                </a:solidFill>
              </a:rPr>
              <a:t>ldaxr = Load-Linked, stxr = Store-Conditional (writes 0 to w0 on success)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13</a:t>
            </a:r>
          </a:p>
        </p:txBody>
      </p:sp>
      <p:graphicFrame>
        <p:nvGraphicFramePr>
          <p:cNvPr id="4" name="Chart 3"/>
          <p:cNvGraphicFramePr>
            <a:graphicFrameLocks noGrp="1"/>
          </p:cNvGraphicFramePr>
          <p:nvPr/>
        </p:nvGraphicFramePr>
        <p:xfrm>
          <a:off x="548640" y="1463040"/>
          <a:ext cx="6400800" cy="4937760"/>
        </p:xfrm>
        <a:graphic>
          <a:graphicData uri="http://schemas.openxmlformats.org/drawingml/2006/chart">
            <c:chart xmlns:c="http://schemas.openxmlformats.org/drawingml/2006/chart" r:id="rId3"/>
          </a:graphicData>
        </a:graphic>
      </p:graphicFrame>
      <p:sp>
        <p:nvSpPr>
          <p:cNvPr id="5" name="TextBox 4"/>
          <p:cNvSpPr txBox="1"/>
          <p:nvPr/>
        </p:nvSpPr>
        <p:spPr>
          <a:xfrm>
            <a:off x="7223760" y="1554480"/>
            <a:ext cx="4572000" cy="4846320"/>
          </a:xfrm>
          <a:prstGeom prst="rect">
            <a:avLst/>
          </a:prstGeom>
          <a:noFill/>
        </p:spPr>
        <p:txBody>
          <a:bodyPr wrap="square">
            <a:spAutoFit/>
          </a:bodyPr>
          <a:lstStyle/>
          <a:p>
            <a:pPr>
              <a:spcAft>
                <a:spcPts val="800"/>
              </a:spcAft>
            </a:pPr>
            <a:r>
              <a:rPr sz="1800">
                <a:solidFill>
                  <a:srgbClr val="C0392B"/>
                </a:solidFill>
              </a:rPr>
              <a:t>• Timed on x86 with CAS standing in for LL/SC (qemu speed is meaningless)</a:t>
            </a:r>
          </a:p>
          <a:p>
            <a:pPr>
              <a:spcAft>
                <a:spcPts val="800"/>
              </a:spcAft>
            </a:pPr>
            <a:r>
              <a:rPr sz="1800"/>
              <a:t>• All CPUs: 115 M acq/s with 1 thread → 6.4 M with 8 — every try pulls the flag's cache line</a:t>
            </a:r>
          </a:p>
          <a:p>
            <a:pPr>
              <a:spcAft>
                <a:spcPts val="800"/>
              </a:spcAft>
            </a:pPr>
            <a:r>
              <a:rPr sz="1800"/>
              <a:t>• One CPU, 8 threads: 14 M acq/s</a:t>
            </a:r>
          </a:p>
          <a:p>
            <a:pPr>
              <a:spcAft>
                <a:spcPts val="800"/>
              </a:spcAft>
            </a:pPr>
            <a:r>
              <a:rPr sz="1800"/>
              <a:t>• Waiters only read (LL) until the flag looks free, then write once (SC)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14</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No queue: the first SC to land wins — fairness at 8 threads 0.45 (all CPUs), 0.00 (one CPU; run 1: the unluckiest thread got 1 of 14,215,110)</a:t>
            </a:r>
          </a:p>
          <a:p>
            <a:pPr>
              <a:spcAft>
                <a:spcPts val="800"/>
              </a:spcAft>
            </a:pPr>
            <a:r>
              <a:rPr sz="2000"/>
              <a:t>• A thread preempted while holding the lock makes every other thread spin out its time slice</a:t>
            </a:r>
          </a:p>
          <a:p>
            <a:pPr>
              <a:spcAft>
                <a:spcPts val="800"/>
              </a:spcAft>
            </a:pPr>
            <a:r>
              <a:rPr sz="2000"/>
              <a:t>• Limitations:</a:t>
            </a:r>
          </a:p>
          <a:p>
            <a:pPr lvl="1">
              <a:spcAft>
                <a:spcPts val="800"/>
              </a:spcAft>
            </a:pPr>
            <a:r>
              <a:rPr sz="1800"/>
              <a:t>– Starvation is possible; spins instead of sleeping</a:t>
            </a:r>
          </a:p>
          <a:p>
            <a:pPr lvl="1">
              <a:spcAft>
                <a:spcPts val="800"/>
              </a:spcAft>
            </a:pPr>
            <a:r>
              <a:rPr sz="1800"/>
              <a:t>– Hardware-specific: not on x86; SC may fail spuriously</a:t>
            </a:r>
          </a:p>
          <a:p>
            <a:pPr lvl="1">
              <a:spcAft>
                <a:spcPts val="800"/>
              </a:spcAft>
            </a:pPr>
            <a:r>
              <a:rPr sz="1800"/>
              <a:t>– Little may run between LL and SC, or the reservation is lost</a:t>
            </a:r>
          </a:p>
          <a:p>
            <a:pPr>
              <a:spcAft>
                <a:spcPts val="800"/>
              </a:spcAft>
            </a:pPr>
            <a:r>
              <a:rPr sz="2000"/>
              <a:t>• Advantage over CAS: SC fails on any store, even one that writes back the same value (no ABA problem)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Lamport's Bakery Algorithm</a:t>
            </a:r>
          </a:p>
        </p:txBody>
      </p:sp>
      <p:sp>
        <p:nvSpPr>
          <p:cNvPr id="3" name="Text Placeholder 2"/>
          <p:cNvSpPr>
            <a:spLocks noGrp="1"/>
          </p:cNvSpPr>
          <p:nvPr>
            <p:ph type="body" idx="1"/>
          </p:nvPr>
        </p:nvSpPr>
        <p:spPr/>
        <p:txBody>
          <a:bodyPr/>
          <a:lstStyle/>
          <a:p>
            <a:r>
              <a:t>67070501040</a:t>
            </a:r>
          </a:p>
          <a:p>
            <a:r>
              <a:t>Worawut Sereethai</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Bakery Algorithm: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16</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2000"/>
              <a:t>• Take a number: 1 + the largest number in use</a:t>
            </a:r>
          </a:p>
          <a:p>
            <a:pPr>
              <a:spcAft>
                <a:spcPts val="800"/>
              </a:spcAft>
            </a:pPr>
            <a:r>
              <a:rPr sz="2000"/>
              <a:t>• Smallest number enters first; equal numbers → lower thread id first</a:t>
            </a:r>
          </a:p>
          <a:p>
            <a:pPr>
              <a:spcAft>
                <a:spcPts val="800"/>
              </a:spcAft>
            </a:pPr>
            <a:r>
              <a:rPr sz="2000"/>
              <a:t>• choosing[j]: wait until j has finished picking</a:t>
            </a:r>
          </a:p>
          <a:p>
            <a:pPr>
              <a:spcAft>
                <a:spcPts val="800"/>
              </a:spcAft>
            </a:pPr>
            <a:r>
              <a:rPr sz="2000"/>
              <a:t>• N threads, only loads and stores (Lamport, 1974)</a:t>
            </a:r>
          </a:p>
        </p:txBody>
      </p:sp>
      <p:sp>
        <p:nvSpPr>
          <p:cNvPr id="5" name="TextBox 4"/>
          <p:cNvSpPr txBox="1"/>
          <p:nvPr/>
        </p:nvSpPr>
        <p:spPr>
          <a:xfrm>
            <a:off x="5120640" y="1463040"/>
            <a:ext cx="6675120" cy="4914900"/>
          </a:xfrm>
          <a:prstGeom prst="rect">
            <a:avLst/>
          </a:prstGeom>
          <a:solidFill>
            <a:srgbClr val="F4F4F4"/>
          </a:solidFill>
        </p:spPr>
        <p:txBody>
          <a:bodyPr wrap="none">
            <a:spAutoFit/>
          </a:bodyPr>
          <a:lstStyle/>
          <a:p>
            <a:pPr>
              <a:spcAft>
                <a:spcPts val="0"/>
              </a:spcAft>
            </a:pPr>
            <a:r>
              <a:rPr sz="1150">
                <a:latin typeface="Consolas"/>
              </a:rPr>
              <a:t>void lock_acquire(int i)</a:t>
            </a:r>
          </a:p>
          <a:p>
            <a:pPr>
              <a:spcAft>
                <a:spcPts val="0"/>
              </a:spcAft>
            </a:pPr>
            <a:r>
              <a:rPr sz="1150">
                <a:latin typeface="Consolas"/>
              </a:rPr>
              <a:t>{</a:t>
            </a:r>
          </a:p>
          <a:p>
            <a:pPr>
              <a:spcAft>
                <a:spcPts val="0"/>
              </a:spcAft>
            </a:pPr>
            <a:r>
              <a:rPr sz="1150">
                <a:latin typeface="Consolas"/>
              </a:rPr>
              <a:t>    choosing[i] = 1;</a:t>
            </a:r>
          </a:p>
          <a:p>
            <a:pPr>
              <a:spcAft>
                <a:spcPts val="0"/>
              </a:spcAft>
            </a:pPr>
            <a:r>
              <a:rPr sz="1150">
                <a:latin typeface="Consolas"/>
              </a:rPr>
              <a:t>    FENCE();</a:t>
            </a:r>
          </a:p>
          <a:p>
            <a:pPr>
              <a:spcAft>
                <a:spcPts val="0"/>
              </a:spcAft>
            </a:pPr>
            <a:r>
              <a:rPr sz="1150">
                <a:latin typeface="Consolas"/>
              </a:rPr>
              <a:t>    unsigned max = 0;</a:t>
            </a:r>
          </a:p>
          <a:p>
            <a:pPr>
              <a:spcAft>
                <a:spcPts val="0"/>
              </a:spcAft>
            </a:pPr>
            <a:r>
              <a:rPr sz="1150">
                <a:latin typeface="Consolas"/>
              </a:rPr>
              <a:t>    for (int j = 0; j &lt; n; j++)</a:t>
            </a:r>
          </a:p>
          <a:p>
            <a:pPr>
              <a:spcAft>
                <a:spcPts val="0"/>
              </a:spcAft>
            </a:pPr>
            <a:r>
              <a:rPr sz="1150">
                <a:latin typeface="Consolas"/>
              </a:rPr>
              <a:t>        if (number[j] &gt; max) max = number[j];</a:t>
            </a:r>
          </a:p>
          <a:p>
            <a:pPr>
              <a:spcAft>
                <a:spcPts val="0"/>
              </a:spcAft>
            </a:pPr>
            <a:r>
              <a:rPr sz="1150">
                <a:latin typeface="Consolas"/>
              </a:rPr>
              <a:t>    number[i] = max + 1;        /* take the next number */</a:t>
            </a:r>
          </a:p>
          <a:p>
            <a:pPr>
              <a:spcAft>
                <a:spcPts val="0"/>
              </a:spcAft>
            </a:pPr>
            <a:r>
              <a:rPr sz="1150">
                <a:latin typeface="Consolas"/>
              </a:rPr>
              <a:t>    FENCE();</a:t>
            </a:r>
          </a:p>
          <a:p>
            <a:pPr>
              <a:spcAft>
                <a:spcPts val="0"/>
              </a:spcAft>
            </a:pPr>
            <a:r>
              <a:rPr sz="1150">
                <a:latin typeface="Consolas"/>
              </a:rPr>
              <a:t>    choosing[i] = 0;</a:t>
            </a:r>
          </a:p>
          <a:p>
            <a:pPr>
              <a:spcAft>
                <a:spcPts val="0"/>
              </a:spcAft>
            </a:pPr>
            <a:r>
              <a:rPr sz="1150">
                <a:latin typeface="Consolas"/>
              </a:rPr>
              <a:t>    FENCE();</a:t>
            </a:r>
          </a:p>
          <a:p>
            <a:pPr>
              <a:spcAft>
                <a:spcPts val="0"/>
              </a:spcAft>
            </a:pPr>
          </a:p>
          <a:p>
            <a:pPr>
              <a:spcAft>
                <a:spcPts val="0"/>
              </a:spcAft>
            </a:pPr>
            <a:r>
              <a:rPr sz="1150">
                <a:latin typeface="Consolas"/>
              </a:rPr>
              <a:t>    for (int j = 0; j &lt; n; j++) {</a:t>
            </a:r>
          </a:p>
          <a:p>
            <a:pPr>
              <a:spcAft>
                <a:spcPts val="0"/>
              </a:spcAft>
            </a:pPr>
            <a:r>
              <a:rPr sz="1150">
                <a:latin typeface="Consolas"/>
              </a:rPr>
              <a:t>        while (choosing[j])</a:t>
            </a:r>
          </a:p>
          <a:p>
            <a:pPr>
              <a:spcAft>
                <a:spcPts val="0"/>
              </a:spcAft>
            </a:pPr>
            <a:r>
              <a:rPr sz="1150">
                <a:latin typeface="Consolas"/>
              </a:rPr>
              <a:t>            ;                   /* j is still picking */</a:t>
            </a:r>
          </a:p>
          <a:p>
            <a:pPr>
              <a:spcAft>
                <a:spcPts val="0"/>
              </a:spcAft>
            </a:pPr>
            <a:r>
              <a:rPr sz="1150">
                <a:latin typeface="Consolas"/>
              </a:rPr>
              <a:t>        while (number[j] != 0 &amp;&amp;</a:t>
            </a:r>
          </a:p>
          <a:p>
            <a:pPr>
              <a:spcAft>
                <a:spcPts val="0"/>
              </a:spcAft>
            </a:pPr>
            <a:r>
              <a:rPr sz="1150">
                <a:latin typeface="Consolas"/>
              </a:rPr>
              <a:t>               (number[j] &lt; number[i] ||</a:t>
            </a:r>
          </a:p>
          <a:p>
            <a:pPr>
              <a:spcAft>
                <a:spcPts val="0"/>
              </a:spcAft>
            </a:pPr>
            <a:r>
              <a:rPr sz="1150">
                <a:latin typeface="Consolas"/>
              </a:rPr>
              <a:t>                (number[j] == number[i] &amp;&amp; j &lt; i)))</a:t>
            </a:r>
          </a:p>
          <a:p>
            <a:pPr>
              <a:spcAft>
                <a:spcPts val="0"/>
              </a:spcAft>
            </a:pPr>
            <a:r>
              <a:rPr sz="1150">
                <a:latin typeface="Consolas"/>
              </a:rPr>
              <a:t>            ;                   /* j is ahead of me */</a:t>
            </a:r>
          </a:p>
          <a:p>
            <a:pPr>
              <a:spcAft>
                <a:spcPts val="0"/>
              </a:spcAft>
            </a:pPr>
            <a:r>
              <a:rPr sz="1150">
                <a:latin typeface="Consolas"/>
              </a:rPr>
              <a:t>    }</a:t>
            </a:r>
          </a:p>
          <a:p>
            <a:pPr>
              <a:spcAft>
                <a:spcPts val="0"/>
              </a:spcAft>
            </a:pPr>
            <a:r>
              <a:rPr sz="1150">
                <a:latin typeface="Consolas"/>
              </a:rPr>
              <a:t>}</a:t>
            </a:r>
          </a:p>
          <a:p>
            <a:pPr>
              <a:spcAft>
                <a:spcPts val="0"/>
              </a:spcAft>
            </a:pPr>
          </a:p>
          <a:p>
            <a:pPr>
              <a:spcAft>
                <a:spcPts val="0"/>
              </a:spcAft>
            </a:pPr>
            <a:r>
              <a:rPr sz="1150">
                <a:latin typeface="Consolas"/>
              </a:rPr>
              <a:t>void lock_release(int i)</a:t>
            </a:r>
          </a:p>
          <a:p>
            <a:pPr>
              <a:spcAft>
                <a:spcPts val="0"/>
              </a:spcAft>
            </a:pPr>
            <a:r>
              <a:rPr sz="1150">
                <a:latin typeface="Consolas"/>
              </a:rPr>
              <a:t>{</a:t>
            </a:r>
          </a:p>
          <a:p>
            <a:pPr>
              <a:spcAft>
                <a:spcPts val="0"/>
              </a:spcAft>
            </a:pPr>
            <a:r>
              <a:rPr sz="1150">
                <a:latin typeface="Consolas"/>
              </a:rPr>
              <a:t>    FENCE();</a:t>
            </a:r>
          </a:p>
          <a:p>
            <a:pPr>
              <a:spcAft>
                <a:spcPts val="0"/>
              </a:spcAft>
            </a:pPr>
            <a:r>
              <a:rPr sz="1150">
                <a:latin typeface="Consolas"/>
              </a:rPr>
              <a:t>    number[i] = 0;</a:t>
            </a:r>
          </a:p>
          <a:p>
            <a:pPr>
              <a:spcAft>
                <a:spcPts val="0"/>
              </a:spcAft>
            </a:pPr>
            <a:r>
              <a:rPr sz="1150">
                <a:latin typeface="Consolas"/>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Bakery: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17</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Mutual exclusion: (number, id) pairs are unique and ordered; a thread enters only after every thread with a smaller pair has left</a:t>
            </a:r>
          </a:p>
          <a:p>
            <a:pPr>
              <a:spcAft>
                <a:spcPts val="800"/>
              </a:spcAft>
            </a:pPr>
            <a:r>
              <a:rPr sz="2000"/>
              <a:t>• choosing[] closes the race where j has read the maximum but not yet written its number</a:t>
            </a:r>
          </a:p>
          <a:p>
            <a:pPr>
              <a:spcAft>
                <a:spcPts val="800"/>
              </a:spcAft>
            </a:pPr>
            <a:r>
              <a:rPr sz="2000"/>
              <a:t>• No deadlock: the waiting thread with the smallest pair waits for nobody, so it enters</a:t>
            </a:r>
          </a:p>
          <a:p>
            <a:pPr>
              <a:spcAft>
                <a:spcPts val="800"/>
              </a:spcAft>
            </a:pPr>
            <a:r>
              <a:rPr sz="2000"/>
              <a:t>• Like Peterson, it needs memory fences on x86 (FENCE() in the code)</a:t>
            </a:r>
          </a:p>
          <a:p>
            <a:pPr>
              <a:spcAft>
                <a:spcPts val="800"/>
              </a:spcAft>
            </a:pPr>
            <a:r>
              <a:rPr sz="2000"/>
              <a:t>• Measured: all 24 runs (1–8 threads, all CPUs and one CPU) finished with lost = 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Bakery: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18</a:t>
            </a:r>
          </a:p>
        </p:txBody>
      </p:sp>
      <p:graphicFrame>
        <p:nvGraphicFramePr>
          <p:cNvPr id="4" name="Chart 3"/>
          <p:cNvGraphicFramePr>
            <a:graphicFrameLocks noGrp="1"/>
          </p:cNvGraphicFramePr>
          <p:nvPr/>
        </p:nvGraphicFramePr>
        <p:xfrm>
          <a:off x="548640" y="1463040"/>
          <a:ext cx="6400800" cy="4937760"/>
        </p:xfrm>
        <a:graphic>
          <a:graphicData uri="http://schemas.openxmlformats.org/drawingml/2006/chart">
            <c:chart xmlns:c="http://schemas.openxmlformats.org/drawingml/2006/chart" r:id="rId3"/>
          </a:graphicData>
        </a:graphic>
      </p:graphicFrame>
      <p:sp>
        <p:nvSpPr>
          <p:cNvPr id="5" name="TextBox 4"/>
          <p:cNvSpPr txBox="1"/>
          <p:nvPr/>
        </p:nvSpPr>
        <p:spPr>
          <a:xfrm>
            <a:off x="7223760" y="1554480"/>
            <a:ext cx="4572000" cy="4846320"/>
          </a:xfrm>
          <a:prstGeom prst="rect">
            <a:avLst/>
          </a:prstGeom>
          <a:noFill/>
        </p:spPr>
        <p:txBody>
          <a:bodyPr wrap="square">
            <a:spAutoFit/>
          </a:bodyPr>
          <a:lstStyle/>
          <a:p>
            <a:pPr>
              <a:spcAft>
                <a:spcPts val="800"/>
              </a:spcAft>
            </a:pPr>
            <a:r>
              <a:rPr sz="1900"/>
              <a:t>• lock() scans all N threads twice: O(N) per acquisition</a:t>
            </a:r>
          </a:p>
          <a:p>
            <a:pPr>
              <a:spcAft>
                <a:spcPts val="800"/>
              </a:spcAft>
            </a:pPr>
            <a:r>
              <a:rPr sz="1900"/>
              <a:t>• All CPUs: 8.4 M → 4.8 M → 3.0 M acq/s at 2/4/8 threads</a:t>
            </a:r>
          </a:p>
          <a:p>
            <a:pPr>
              <a:spcAft>
                <a:spcPts val="800"/>
              </a:spcAft>
            </a:pPr>
            <a:r>
              <a:rPr sz="1900">
                <a:solidFill>
                  <a:srgbClr val="C0392B"/>
                </a:solidFill>
              </a:rPr>
              <a:t>• One CPU, 8 threads: 90 k acq/s — the next in line must be scheduled first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Bakery: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19</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First-come, first-served: fairness 1.00 / 0.93 / 0.97 at 2/4/8 threads (all CPUs) — the fairest lock at 8 threads</a:t>
            </a:r>
          </a:p>
          <a:p>
            <a:pPr>
              <a:spcAft>
                <a:spcPts val="800"/>
              </a:spcAft>
            </a:pPr>
            <a:r>
              <a:rPr sz="2000"/>
              <a:t>• Limitations:</a:t>
            </a:r>
          </a:p>
          <a:p>
            <a:pPr lvl="1">
              <a:spcAft>
                <a:spcPts val="800"/>
              </a:spcAft>
            </a:pPr>
            <a:r>
              <a:rPr sz="1800"/>
              <a:t>– O(N) time and O(N) memory per lock</a:t>
            </a:r>
          </a:p>
          <a:p>
            <a:pPr lvl="1">
              <a:spcAft>
                <a:spcPts val="800"/>
              </a:spcAft>
            </a:pPr>
            <a:r>
              <a:rPr sz="1800"/>
              <a:t>– Numbers grow without bound while threads keep contending (overflow)</a:t>
            </a:r>
          </a:p>
          <a:p>
            <a:pPr lvl="1">
              <a:spcAft>
                <a:spcPts val="800"/>
              </a:spcAft>
            </a:pPr>
            <a:r>
              <a:rPr sz="1800"/>
              <a:t>– Needs memory fences on modern CPUs; spins instead of sleeping</a:t>
            </a:r>
          </a:p>
          <a:p>
            <a:pPr lvl="1">
              <a:spcAft>
                <a:spcPts val="800"/>
              </a:spcAft>
            </a:pPr>
            <a:r>
              <a:rPr sz="1800"/>
              <a:t>– Collapses on one CPU: 90 k acq/s at 8 threads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Comparison</a:t>
            </a:r>
          </a:p>
        </p:txBody>
      </p:sp>
      <p:sp>
        <p:nvSpPr>
          <p:cNvPr id="3" name="Text Placeholder 2"/>
          <p:cNvSpPr>
            <a:spLocks noGrp="1"/>
          </p:cNvSpPr>
          <p:nvPr>
            <p:ph type="body" idx="1"/>
          </p:nvPr>
        </p:nvSpPr>
        <p:spPr/>
        <p:txBody>
          <a:bodyPr/>
          <a:lstStyle/>
          <a:p>
            <a:r>
              <a:t>67070501059</a:t>
            </a:r>
          </a:p>
          <a:p>
            <a:r>
              <a:t>Chanon Lhumsa-ard</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Throughput: All CPUs vs One CPU</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21</a:t>
            </a:r>
          </a:p>
        </p:txBody>
      </p:sp>
      <p:graphicFrame>
        <p:nvGraphicFramePr>
          <p:cNvPr id="4" name="Chart 3"/>
          <p:cNvGraphicFramePr>
            <a:graphicFrameLocks noGrp="1"/>
          </p:cNvGraphicFramePr>
          <p:nvPr/>
        </p:nvGraphicFramePr>
        <p:xfrm>
          <a:off x="365760" y="1371600"/>
          <a:ext cx="5760720" cy="512064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217920" y="1371600"/>
          <a:ext cx="5760720" cy="5120640"/>
        </p:xfrm>
        <a:graphic>
          <a:graphicData uri="http://schemas.openxmlformats.org/drawingml/2006/chart">
            <c:chart xmlns:c="http://schemas.openxmlformats.org/drawingml/2006/chart" r:id="rId4"/>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22</a:t>
            </a:r>
          </a:p>
        </p:txBody>
      </p:sp>
      <p:graphicFrame>
        <p:nvGraphicFramePr>
          <p:cNvPr id="4" name="Table 3"/>
          <p:cNvGraphicFramePr>
            <a:graphicFrameLocks noGrp="1"/>
          </p:cNvGraphicFramePr>
          <p:nvPr/>
        </p:nvGraphicFramePr>
        <p:xfrm>
          <a:off x="457200" y="1554480"/>
          <a:ext cx="11247120" cy="2743200"/>
        </p:xfrm>
        <a:graphic>
          <a:graphicData uri="http://schemas.openxmlformats.org/drawingml/2006/table">
            <a:tbl>
              <a:tblPr firstRow="1" bandRow="1">
                <a:tableStyleId>{5C22544A-7EE6-4342-B048-85BDC9FD1C3A}</a:tableStyleId>
              </a:tblPr>
              <a:tblGrid>
                <a:gridCol w="2377440"/>
                <a:gridCol w="2377440"/>
                <a:gridCol w="1280160"/>
                <a:gridCol w="1371600"/>
                <a:gridCol w="1097280"/>
                <a:gridCol w="1463040"/>
                <a:gridCol w="1280160"/>
              </a:tblGrid>
              <a:tr h="457200">
                <a:tc>
                  <a:txBody>
                    <a:bodyPr/>
                    <a:lstStyle/>
                    <a:p>
                      <a:r>
                        <a:rPr sz="1400"/>
                        <a:t>Lock</a:t>
                      </a:r>
                    </a:p>
                  </a:txBody>
                  <a:tcPr/>
                </a:tc>
                <a:tc>
                  <a:txBody>
                    <a:bodyPr/>
                    <a:lstStyle/>
                    <a:p>
                      <a:r>
                        <a:rPr sz="1400"/>
                        <a:t>Needs</a:t>
                      </a:r>
                    </a:p>
                  </a:txBody>
                  <a:tcPr/>
                </a:tc>
                <a:tc>
                  <a:txBody>
                    <a:bodyPr/>
                    <a:lstStyle/>
                    <a:p>
                      <a:r>
                        <a:rPr sz="1400"/>
                        <a:t>Mutual excl.</a:t>
                      </a:r>
                    </a:p>
                  </a:txBody>
                  <a:tcPr/>
                </a:tc>
                <a:tc>
                  <a:txBody>
                    <a:bodyPr/>
                    <a:lstStyle/>
                    <a:p>
                      <a:r>
                        <a:rPr sz="1400"/>
                        <a:t>Deadlock-free</a:t>
                      </a:r>
                    </a:p>
                  </a:txBody>
                  <a:tcPr/>
                </a:tc>
                <a:tc>
                  <a:txBody>
                    <a:bodyPr/>
                    <a:lstStyle/>
                    <a:p>
                      <a:r>
                        <a:rPr sz="1400"/>
                        <a:t>Fairness</a:t>
                      </a:r>
                    </a:p>
                  </a:txBody>
                  <a:tcPr/>
                </a:tc>
                <a:tc>
                  <a:txBody>
                    <a:bodyPr/>
                    <a:lstStyle/>
                    <a:p>
                      <a:r>
                        <a:rPr sz="1400"/>
                        <a:t>acq/s, all 8 CPUs</a:t>
                      </a:r>
                    </a:p>
                  </a:txBody>
                  <a:tcPr/>
                </a:tc>
                <a:tc>
                  <a:txBody>
                    <a:bodyPr/>
                    <a:lstStyle/>
                    <a:p>
                      <a:r>
                        <a:rPr sz="1400"/>
                        <a:t>acq/s, one CPU</a:t>
                      </a:r>
                    </a:p>
                  </a:txBody>
                  <a:tcPr/>
                </a:tc>
              </a:tr>
              <a:tr h="457200">
                <a:tc>
                  <a:txBody>
                    <a:bodyPr/>
                    <a:lstStyle/>
                    <a:p>
                      <a:r>
                        <a:rPr sz="1400"/>
                        <a:t>Peterson (2 thr)</a:t>
                      </a:r>
                    </a:p>
                  </a:txBody>
                  <a:tcPr/>
                </a:tc>
                <a:tc>
                  <a:txBody>
                    <a:bodyPr/>
                    <a:lstStyle/>
                    <a:p>
                      <a:r>
                        <a:rPr sz="1400"/>
                        <a:t>loads/stores + fence</a:t>
                      </a:r>
                    </a:p>
                  </a:txBody>
                  <a:tcPr/>
                </a:tc>
                <a:tc>
                  <a:txBody>
                    <a:bodyPr/>
                    <a:lstStyle/>
                    <a:p>
                      <a:r>
                        <a:rPr sz="1400"/>
                        <a:t>yes</a:t>
                      </a:r>
                    </a:p>
                  </a:txBody>
                  <a:tcPr/>
                </a:tc>
                <a:tc>
                  <a:txBody>
                    <a:bodyPr/>
                    <a:lstStyle/>
                    <a:p>
                      <a:r>
                        <a:rPr sz="1400"/>
                        <a:t>yes</a:t>
                      </a:r>
                    </a:p>
                  </a:txBody>
                  <a:tcPr/>
                </a:tc>
                <a:tc>
                  <a:txBody>
                    <a:bodyPr/>
                    <a:lstStyle/>
                    <a:p>
                      <a:r>
                        <a:rPr sz="1400"/>
                        <a:t>0.99</a:t>
                      </a:r>
                    </a:p>
                  </a:txBody>
                  <a:tcPr/>
                </a:tc>
                <a:tc>
                  <a:txBody>
                    <a:bodyPr/>
                    <a:lstStyle/>
                    <a:p>
                      <a:r>
                        <a:rPr sz="1400"/>
                        <a:t>18 M</a:t>
                      </a:r>
                    </a:p>
                  </a:txBody>
                  <a:tcPr/>
                </a:tc>
                <a:tc>
                  <a:txBody>
                    <a:bodyPr/>
                    <a:lstStyle/>
                    <a:p>
                      <a:r>
                        <a:rPr sz="1400"/>
                        <a:t>192 k</a:t>
                      </a:r>
                    </a:p>
                  </a:txBody>
                  <a:tcPr/>
                </a:tc>
              </a:tr>
              <a:tr h="457200">
                <a:tc>
                  <a:txBody>
                    <a:bodyPr/>
                    <a:lstStyle/>
                    <a:p>
                      <a:r>
                        <a:rPr sz="1400"/>
                        <a:t>LL/SC (8 thr)</a:t>
                      </a:r>
                    </a:p>
                  </a:txBody>
                  <a:tcPr/>
                </a:tc>
                <a:tc>
                  <a:txBody>
                    <a:bodyPr/>
                    <a:lstStyle/>
                    <a:p>
                      <a:r>
                        <a:rPr sz="1400"/>
                        <a:t>LL/SC instructions</a:t>
                      </a:r>
                    </a:p>
                  </a:txBody>
                  <a:tcPr/>
                </a:tc>
                <a:tc>
                  <a:txBody>
                    <a:bodyPr/>
                    <a:lstStyle/>
                    <a:p>
                      <a:r>
                        <a:rPr sz="1400"/>
                        <a:t>yes</a:t>
                      </a:r>
                    </a:p>
                  </a:txBody>
                  <a:tcPr/>
                </a:tc>
                <a:tc>
                  <a:txBody>
                    <a:bodyPr/>
                    <a:lstStyle/>
                    <a:p>
                      <a:r>
                        <a:rPr sz="1400"/>
                        <a:t>yes</a:t>
                      </a:r>
                    </a:p>
                  </a:txBody>
                  <a:tcPr/>
                </a:tc>
                <a:tc>
                  <a:txBody>
                    <a:bodyPr/>
                    <a:lstStyle/>
                    <a:p>
                      <a:r>
                        <a:rPr sz="1400"/>
                        <a:t>0.45</a:t>
                      </a:r>
                    </a:p>
                  </a:txBody>
                  <a:tcPr/>
                </a:tc>
                <a:tc>
                  <a:txBody>
                    <a:bodyPr/>
                    <a:lstStyle/>
                    <a:p>
                      <a:r>
                        <a:rPr sz="1400"/>
                        <a:t>6.4 M</a:t>
                      </a:r>
                    </a:p>
                  </a:txBody>
                  <a:tcPr/>
                </a:tc>
                <a:tc>
                  <a:txBody>
                    <a:bodyPr/>
                    <a:lstStyle/>
                    <a:p>
                      <a:r>
                        <a:rPr sz="1400"/>
                        <a:t>14 M</a:t>
                      </a:r>
                    </a:p>
                  </a:txBody>
                  <a:tcPr/>
                </a:tc>
              </a:tr>
              <a:tr h="457200">
                <a:tc>
                  <a:txBody>
                    <a:bodyPr/>
                    <a:lstStyle/>
                    <a:p>
                      <a:r>
                        <a:rPr sz="1400"/>
                        <a:t>Bakery (8 thr)</a:t>
                      </a:r>
                    </a:p>
                  </a:txBody>
                  <a:tcPr/>
                </a:tc>
                <a:tc>
                  <a:txBody>
                    <a:bodyPr/>
                    <a:lstStyle/>
                    <a:p>
                      <a:r>
                        <a:rPr sz="1400"/>
                        <a:t>loads/stores + fence</a:t>
                      </a:r>
                    </a:p>
                  </a:txBody>
                  <a:tcPr/>
                </a:tc>
                <a:tc>
                  <a:txBody>
                    <a:bodyPr/>
                    <a:lstStyle/>
                    <a:p>
                      <a:r>
                        <a:rPr sz="1400"/>
                        <a:t>yes</a:t>
                      </a:r>
                    </a:p>
                  </a:txBody>
                  <a:tcPr/>
                </a:tc>
                <a:tc>
                  <a:txBody>
                    <a:bodyPr/>
                    <a:lstStyle/>
                    <a:p>
                      <a:r>
                        <a:rPr sz="1400"/>
                        <a:t>yes</a:t>
                      </a:r>
                    </a:p>
                  </a:txBody>
                  <a:tcPr/>
                </a:tc>
                <a:tc>
                  <a:txBody>
                    <a:bodyPr/>
                    <a:lstStyle/>
                    <a:p>
                      <a:r>
                        <a:rPr sz="1400"/>
                        <a:t>0.97</a:t>
                      </a:r>
                    </a:p>
                  </a:txBody>
                  <a:tcPr/>
                </a:tc>
                <a:tc>
                  <a:txBody>
                    <a:bodyPr/>
                    <a:lstStyle/>
                    <a:p>
                      <a:r>
                        <a:rPr sz="1400"/>
                        <a:t>3.0 M</a:t>
                      </a:r>
                    </a:p>
                  </a:txBody>
                  <a:tcPr/>
                </a:tc>
                <a:tc>
                  <a:txBody>
                    <a:bodyPr/>
                    <a:lstStyle/>
                    <a:p>
                      <a:r>
                        <a:rPr sz="1400"/>
                        <a:t>90 k</a:t>
                      </a:r>
                    </a:p>
                  </a:txBody>
                  <a:tcPr/>
                </a:tc>
              </a:tr>
              <a:tr h="457200">
                <a:tc>
                  <a:txBody>
                    <a:bodyPr/>
                    <a:lstStyle/>
                    <a:p>
                      <a:r>
                        <a:rPr sz="1400"/>
                        <a:t>TAS (8 thr)</a:t>
                      </a:r>
                    </a:p>
                  </a:txBody>
                  <a:tcPr/>
                </a:tc>
                <a:tc>
                  <a:txBody>
                    <a:bodyPr/>
                    <a:lstStyle/>
                    <a:p>
                      <a:r>
                        <a:rPr sz="1400"/>
                        <a:t>test-and-set</a:t>
                      </a:r>
                    </a:p>
                  </a:txBody>
                  <a:tcPr/>
                </a:tc>
                <a:tc>
                  <a:txBody>
                    <a:bodyPr/>
                    <a:lstStyle/>
                    <a:p>
                      <a:r>
                        <a:rPr sz="1400"/>
                        <a:t>yes</a:t>
                      </a:r>
                    </a:p>
                  </a:txBody>
                  <a:tcPr/>
                </a:tc>
                <a:tc>
                  <a:txBody>
                    <a:bodyPr/>
                    <a:lstStyle/>
                    <a:p>
                      <a:r>
                        <a:rPr sz="1400"/>
                        <a:t>yes</a:t>
                      </a:r>
                    </a:p>
                  </a:txBody>
                  <a:tcPr/>
                </a:tc>
                <a:tc>
                  <a:txBody>
                    <a:bodyPr/>
                    <a:lstStyle/>
                    <a:p>
                      <a:r>
                        <a:rPr sz="1400"/>
                        <a:t>0.83</a:t>
                      </a:r>
                    </a:p>
                  </a:txBody>
                  <a:tcPr/>
                </a:tc>
                <a:tc>
                  <a:txBody>
                    <a:bodyPr/>
                    <a:lstStyle/>
                    <a:p>
                      <a:r>
                        <a:rPr sz="1400"/>
                        <a:t>5.8 M</a:t>
                      </a:r>
                    </a:p>
                  </a:txBody>
                  <a:tcPr/>
                </a:tc>
                <a:tc>
                  <a:txBody>
                    <a:bodyPr/>
                    <a:lstStyle/>
                    <a:p>
                      <a:r>
                        <a:rPr sz="1400"/>
                        <a:t>14 M</a:t>
                      </a:r>
                    </a:p>
                  </a:txBody>
                  <a:tcPr/>
                </a:tc>
              </a:tr>
              <a:tr h="457200">
                <a:tc>
                  <a:txBody>
                    <a:bodyPr/>
                    <a:lstStyle/>
                    <a:p>
                      <a:r>
                        <a:rPr sz="1400"/>
                        <a:t>pthread_mutex (8 thr)</a:t>
                      </a:r>
                    </a:p>
                  </a:txBody>
                  <a:tcPr/>
                </a:tc>
                <a:tc>
                  <a:txBody>
                    <a:bodyPr/>
                    <a:lstStyle/>
                    <a:p>
                      <a:r>
                        <a:rPr sz="1400"/>
                        <a:t>atomics + futex</a:t>
                      </a:r>
                    </a:p>
                  </a:txBody>
                  <a:tcPr/>
                </a:tc>
                <a:tc>
                  <a:txBody>
                    <a:bodyPr/>
                    <a:lstStyle/>
                    <a:p>
                      <a:r>
                        <a:rPr sz="1400"/>
                        <a:t>yes</a:t>
                      </a:r>
                    </a:p>
                  </a:txBody>
                  <a:tcPr/>
                </a:tc>
                <a:tc>
                  <a:txBody>
                    <a:bodyPr/>
                    <a:lstStyle/>
                    <a:p>
                      <a:r>
                        <a:rPr sz="1400"/>
                        <a:t>yes</a:t>
                      </a:r>
                    </a:p>
                  </a:txBody>
                  <a:tcPr/>
                </a:tc>
                <a:tc>
                  <a:txBody>
                    <a:bodyPr/>
                    <a:lstStyle/>
                    <a:p>
                      <a:r>
                        <a:rPr sz="1400"/>
                        <a:t>0.89</a:t>
                      </a:r>
                    </a:p>
                  </a:txBody>
                  <a:tcPr/>
                </a:tc>
                <a:tc>
                  <a:txBody>
                    <a:bodyPr/>
                    <a:lstStyle/>
                    <a:p>
                      <a:r>
                        <a:rPr sz="1400"/>
                        <a:t>20 M</a:t>
                      </a:r>
                    </a:p>
                  </a:txBody>
                  <a:tcPr/>
                </a:tc>
                <a:tc>
                  <a:txBody>
                    <a:bodyPr/>
                    <a:lstStyle/>
                    <a:p>
                      <a:r>
                        <a:rPr sz="1400"/>
                        <a:t>56 M</a:t>
                      </a:r>
                    </a:p>
                  </a:txBody>
                  <a:tcPr/>
                </a:tc>
              </a:tr>
            </a:tbl>
          </a:graphicData>
        </a:graphic>
      </p:graphicFrame>
      <p:sp>
        <p:nvSpPr>
          <p:cNvPr id="5" name="TextBox 4"/>
          <p:cNvSpPr txBox="1"/>
          <p:nvPr/>
        </p:nvSpPr>
        <p:spPr>
          <a:xfrm>
            <a:off x="457200" y="4663440"/>
            <a:ext cx="11247120" cy="1828800"/>
          </a:xfrm>
          <a:prstGeom prst="rect">
            <a:avLst/>
          </a:prstGeom>
          <a:noFill/>
        </p:spPr>
        <p:txBody>
          <a:bodyPr wrap="square">
            <a:spAutoFit/>
          </a:bodyPr>
          <a:lstStyle/>
          <a:p>
            <a:pPr>
              <a:spcAft>
                <a:spcPts val="800"/>
              </a:spcAft>
            </a:pPr>
            <a:r>
              <a:rPr sz="1600"/>
              <a:t>• Fairness = fewest ÷ most acquisitions per thread; medians of 3 runs of 1 s</a:t>
            </a:r>
          </a:p>
          <a:p>
            <a:pPr>
              <a:spcAft>
                <a:spcPts val="800"/>
              </a:spcAft>
            </a:pPr>
            <a:r>
              <a:rPr sz="1600">
                <a:solidFill>
                  <a:srgbClr val="C0392B"/>
                </a:solidFill>
              </a:rPr>
              <a:t>• Peterson and Bakery give mutual exclusion on x86 only with the fence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 Placeholder 2"/>
          <p:cNvSpPr>
            <a:spLocks noGrp="1"/>
          </p:cNvSpPr>
          <p:nvPr>
            <p:ph type="body" idx="1"/>
          </p:nvPr>
        </p:nvSpPr>
        <p:spPr/>
        <p:txBody>
          <a:bodyPr/>
          <a:lstStyle/>
          <a:p>
            <a:r>
              <a:t>67070501075</a:t>
            </a:r>
          </a:p>
          <a:p>
            <a:r>
              <a:t>Siriwan Yindeephot</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24</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100"/>
              <a:t>• All three give mutual exclusion and no deadlock — Peterson and Bakery only with fences on modern CPUs</a:t>
            </a:r>
          </a:p>
          <a:p>
            <a:pPr>
              <a:spcAft>
                <a:spcPts val="800"/>
              </a:spcAft>
            </a:pPr>
            <a:r>
              <a:rPr sz="2100"/>
              <a:t>• Software locks (Peterson, Bakery): fair (bounded waiting), but slow and limited (2 threads / O(N))</a:t>
            </a:r>
          </a:p>
          <a:p>
            <a:pPr>
              <a:spcAft>
                <a:spcPts val="800"/>
              </a:spcAft>
            </a:pPr>
            <a:r>
              <a:rPr sz="2100"/>
              <a:t>• Hardware LL/SC: one short loop, fast, but no fairness and not on x86</a:t>
            </a:r>
          </a:p>
          <a:p>
            <a:pPr>
              <a:spcAft>
                <a:spcPts val="800"/>
              </a:spcAft>
            </a:pPr>
            <a:r>
              <a:rPr sz="2100"/>
              <a:t>• Spinning on one CPU wastes time slices; sleeping locks (futex, pthread_mutex) avoid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25</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1800"/>
              <a:t>• R. H. Arpaci-Dusseau, A. C. Arpaci-Dusseau, Operating Systems: Three Easy Pieces, ch. 28 “Locks”</a:t>
            </a:r>
          </a:p>
          <a:p>
            <a:pPr>
              <a:spcAft>
                <a:spcPts val="800"/>
              </a:spcAft>
            </a:pPr>
            <a:r>
              <a:rPr sz="1800"/>
              <a:t>• CPE 333 Lecture 8: Locks Mechanism</a:t>
            </a:r>
          </a:p>
          <a:p>
            <a:pPr>
              <a:spcAft>
                <a:spcPts val="800"/>
              </a:spcAft>
            </a:pPr>
            <a:r>
              <a:rPr sz="1800"/>
              <a:t>• G. L. Peterson, “Myths About the Mutual Exclusion Problem”, Information Processing Letters 12(3), 1981</a:t>
            </a:r>
          </a:p>
          <a:p>
            <a:pPr>
              <a:spcAft>
                <a:spcPts val="800"/>
              </a:spcAft>
            </a:pPr>
            <a:r>
              <a:rPr sz="1800"/>
              <a:t>• L. Lamport, “A New Solution of Dijkstra's Concurrent Programming Problem”, CACM 17(8), 1974</a:t>
            </a:r>
          </a:p>
          <a:p>
            <a:pPr>
              <a:spcAft>
                <a:spcPts val="800"/>
              </a:spcAft>
            </a:pPr>
            <a:r>
              <a:rPr sz="1800"/>
              <a:t>• Arm Architecture Reference Manual for A-profile architecture: LDAXR, STXR</a:t>
            </a:r>
          </a:p>
          <a:p>
            <a:pPr>
              <a:spcAft>
                <a:spcPts val="800"/>
              </a:spcAft>
            </a:pPr>
            <a:r>
              <a:rPr sz="1800"/>
              <a:t>• Code and raw results: PS08/src, PS08/results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TotalTime>
  <Words>511</Words>
  <Application>Microsoft Office PowerPoint</Application>
  <PresentationFormat>Widescreen</PresentationFormat>
  <Paragraphs>65</Paragraphs>
  <Slides>6</Slides>
  <Notes>2</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Office Theme</vt:lpstr>
      <vt:lpstr>Problem Session 08 Lock Mechanisms</vt:lpstr>
      <vt:lpstr>Group: OS InW</vt:lpstr>
      <vt:lpstr>Test and Set Algorithm</vt:lpstr>
      <vt:lpstr>Software Test and Set</vt:lpstr>
      <vt:lpstr>What about Correctness</vt:lpstr>
      <vt:lpstr>What about Performance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กลุ่ม โอเอส เทพ</dc:title>
  <dc:creator>liveGas MSN</dc:creator>
  <cp:lastModifiedBy>Wiwat Asawalertsak</cp:lastModifiedBy>
  <cp:revision>15</cp:revision>
  <dcterms:created xsi:type="dcterms:W3CDTF">2018-10-30T07:30:55Z</dcterms:created>
  <dcterms:modified xsi:type="dcterms:W3CDTF">2026-09-30T07:21:15Z</dcterms:modified>
</cp:coreProperties>
</file>